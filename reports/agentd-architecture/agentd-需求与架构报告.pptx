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theme/theme1.xml" ContentType="application/vnd.openxmlformats-officedocument.theme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Master"/>
  </p:sldMasterIdLst>
  <p:notesMasterIdLst>
    <p:notesMasterId r:id="rNotes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4630400" cy="8229600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Master" Type="http://schemas.openxmlformats.org/officeDocument/2006/relationships/slideMaster" Target="slideMasters/slideMaster1.xml"/><Relationship Id="rNotes" Type="http://schemas.openxmlformats.org/officeDocument/2006/relationships/notesMaster" Target="notesMasters/notes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让模型并行，让结果可信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这份报告回答三个问题：agentd 要满足什么需求，系统如何组织，以及为什么选择这样的架构。当前项目是从零重写的需求与候选设计资料包，包含可执行接口契约，但没有新业务服务的实现。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建议用法：时间有限时看第 1–6 页，约 3–5 分钟；需要评审时继续第 7–30 页；需求追踪、参数候选、历史教训和文件索引在第 31–36 页。PowerPoint 每页包含讲解备注，离线网页版按 N 可展开同一讲解。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报告中的产品要求、待评审机制、待验证假设和待选择参数保持原文状态；界面图、任务故事和统计数据算例明确标为示意。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docs/PRODUCT_REQUIREMENTS_BASELINE.md:19 — 需求 §1–2</a:t>
            </a:r>
          </a:p>
          <a:p>
            <a:r>
              <a:rPr lang="zh-CN" sz="1400">
                <a:ea typeface="Microsoft YaHei"/>
              </a:rPr>
              <a:t xml:space="preserve">docs/SOFTWARE_ARCHITECTURE_PROPOSAL.md:1 — 架构总览</a:t>
            </a:r>
          </a:p>
          <a:p>
            <a:r>
              <a:rPr lang="zh-CN" sz="1400">
                <a:ea typeface="Microsoft YaHei"/>
              </a:rPr>
              <a:t xml:space="preserve">specs/agentd_v1/README.md:1 — 契约状态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60 秒：这个项目要交付什么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目标有三个：提高并行吞吐，让合适的任务使用能力或成本较低的模型，并逐步积累按难度分配模型的依据。主线 Codex 负责拆任务、写验收、预先评难度；agentd 从用户配置的固定 worker 池选择执行者；Claude Code 保留原生工具循环；独立 Codex reviewer 给出有效判决。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业务终点很明确：PASS 就成功，累计三个有效 REJECT 就审核失败。主线是否采用或合并成果在这一闭环之外。系统同时保存可恢复进度和不可变成果，避免把客户端关闭或进程中断当作成果消失。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三个目标目前仍是目标。已有文档和契约检查可以证明设计资料具有可核对结构，不能证明实际提速、省钱或学习策略优于随机。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docs/PRODUCT_REQUIREMENTS_BASELINE.md:19 — 需求 §1–2</a:t>
            </a:r>
          </a:p>
          <a:p>
            <a:r>
              <a:rPr lang="zh-CN" sz="1400">
                <a:ea typeface="Microsoft YaHei"/>
              </a:rPr>
              <a:t xml:space="preserve">specs/agentd_v1/README.md:57 — 契约证明边界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并行开工容易，可靠交付需要规则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用一个忙碌开发者的视角理解需求：主线把几项工作交给模型后，会继续做别的事情。回来时，最需要的不是一屏输出，而是知道谁完成了、依据是什么、哪个任务需要介入，以及已有进度是否还能继续。此页三个任务只用于说明，未声称发生过对应实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如果把执行退出、任务通过和通知到达混在一起，系统会出现三个误判：进程退出零被当作合格成果；内存不足消耗模型审核机会；审核客户端离线被算成失败。共享文件或端口还可能让本来独立的任务互相干扰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agentd 的价值是把这些事实分开记录，在确定的业务合同和运行边界内推进，给主线一个可追溯的结果和可行动的等待原因。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docs/PRODUCT_REQUIREMENTS_BASELINE.md:85 — 需求 F01–F17</a:t>
            </a:r>
          </a:p>
          <a:p>
            <a:r>
              <a:rPr lang="zh-CN" sz="1400">
                <a:ea typeface="Microsoft YaHei"/>
              </a:rPr>
              <a:t xml:space="preserve">docs/design/DECISIONS_AND_EVIDENCE.md:22 — 历史教训 §1.2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六条规则，定义产品的性格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第一，主线给任务和难度，模型由 agentd 自动选择。第二，独立评审 PASS 立即成功，主线之后不用成果也不改这个事实。第三，最多三个被独立评审拒绝的有效候选；第三次拒绝就结束，没有第四次自动尝试。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第四，网络、工具、资源和审核环境故障都不是有效 REJECT；有限自动恢复耗尽后保留任务并等待显式处置。第五，worker 保留原生 Claude Code 的工具、MCP、subagent、网络和会话能力，前提是原模型、账号和主机本来支持。第六，任务终态不可覆写，后续改变目标或发现缺陷时建立关联新任务。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任务合同两阶段冻结、五个状态名称和具体租约算法是为这些边界服务的候选设计，见后面的 D 页面。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docs/PRODUCT_REQUIREMENTS_BASELINE.md:27 — 需求 §2</a:t>
            </a:r>
          </a:p>
          <a:p>
            <a:r>
              <a:rPr lang="zh-CN" sz="1400">
                <a:ea typeface="Microsoft YaHei"/>
              </a:rPr>
              <a:t xml:space="preserve">docs/PRODUCT_REQUIREMENTS_BASELINE.md:65 — 任务终点 §4</a:t>
            </a:r>
          </a:p>
          <a:p>
            <a:r>
              <a:rPr lang="zh-CN" sz="1400">
                <a:ea typeface="Microsoft YaHei"/>
              </a:rPr>
              <a:t xml:space="preserve">docs/PRODUCT_REQUIREMENTS_BASELINE.md:260 — 不可降低的边界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一张图：谁思考，谁执行，谁保证过程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从上到下读：Dashboard 给用户配置和管理；主线和独立 reviewer 使用同一 bridge 的两个固定角色连接，经 HTTP 访问同一个后端。后端认证身份并执行业务用例，任务、调度、审核、通知和统计都在一个 daemon 中。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daemon 与宿主监督器协作派发受控 worker。每次执行有独立工作区、会话和本地后代资源组。SQLite 保存合同、状态、判决和索引；Git 与文件保存代码、报告和证据正文。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U 是按需运行的生命周期执行器，位于服务 S 的停止边界之外，负责安装、升级和卸载；日常启停由服务管理器处理。主线和 reviewer 是外部客户端，不由 agentd 托管其账号或推理循环，也不在 worker 的资源预算内。图是职责视图，连线不代表一律是父子进程关系。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docs/SOFTWARE_ARCHITECTURE_PROPOSAL.md:37 — 系统组成与模块</a:t>
            </a:r>
          </a:p>
          <a:p>
            <a:r>
              <a:rPr lang="zh-CN" sz="1400">
                <a:ea typeface="Microsoft YaHei"/>
              </a:rPr>
              <a:t xml:space="preserve">docs/design/RUNTIME_LIFECYCLE.md:5 — 统一运行拓扑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交付路线：先跑通真实闭环，再补齐正式能力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当前仓库已有产品基线、架构总览、六个专题和契约源码。本次复核：29 个操作、153 个注册模型、8 个正例、19 个反例及 3 组拆分回归通过，生成物一致；新服务、模型和主机验收未运行。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V0 建议限制为单用户、单主机、单项目和独立任务。要求三个真实 worker 重叠执行、至少两种模型、完整独审终态、保留进度与显式继续。模型仅随机分配，reviewer 主动领取，自动恢复可以为 0；安装由最小 U 完成，升级和卸载尚未交付。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V1 再加入固定依赖 DAG、已验证的客户端提示、有限自动恢复、成熟样本下的能力偏好，以及受支持升级和保留数据卸载。不能把这些候选限制当作已经获得批准，也不能因有契约源码就认定 V0 合同已冻结。推进顺序是探针、合同、真实任务、故障与并行，再到 V1。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docs/PRODUCT_REQUIREMENTS_BASELINE.md:243 — V0 / V1 范围</a:t>
            </a:r>
          </a:p>
          <a:p>
            <a:r>
              <a:rPr lang="zh-CN" sz="1400">
                <a:ea typeface="Microsoft YaHei"/>
              </a:rPr>
              <a:t xml:space="preserve">docs/design/VALIDATION_PLAN.md:25 — 工作包 A–E</a:t>
            </a:r>
          </a:p>
          <a:p>
            <a:r>
              <a:rPr lang="zh-CN" sz="1400">
                <a:ea typeface="Microsoft YaHei"/>
              </a:rPr>
              <a:t xml:space="preserve">specs/agentd_v1/README.md:22 — 离线契约检查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跟随一条任务：从“请修复”到可读取成果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这是一个贯穿报告的虚构任务，用于理解流程，没有假设当前系统已经执行。用户提出导出接口需要更稳健，主线把目标、范围、验收和难度写成任务，通过 submit_task 交给 agentd。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agentd 排队并在首次派发时固定输入、模型和配置。worker 在原生 Claude Code 中修改、自检，再通过约定交付通道提交候选；服务核验执行闭合和材料完整后开放审核。外部 reviewer 领取精确候选，在自己的副本中检查，提交绑定该候选的证据与判决。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PASS 立即结束并通知主线读取成果。如果第一或第二次拒绝，worker 沿用原合同、模型和已有成果返修；第三次拒绝结束，主线重新拆包或调整难度后创建关联新任务。实际采用、合并或发布由主线另行完成。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docs/PRODUCT_REQUIREMENTS_BASELINE.md:49 — 角色责任</a:t>
            </a:r>
          </a:p>
          <a:p>
            <a:r>
              <a:rPr lang="zh-CN" sz="1400">
                <a:ea typeface="Microsoft YaHei"/>
              </a:rPr>
              <a:t xml:space="preserve">docs/design/TASK_AND_REVIEW_PROTOCOL.md:21 — 角色泳道</a:t>
            </a:r>
          </a:p>
          <a:p>
            <a:r>
              <a:rPr lang="zh-CN" sz="1400">
                <a:ea typeface="Microsoft YaHei"/>
              </a:rPr>
              <a:t xml:space="preserve">docs/design/INTERFACE_GUIDE.md:57 — 典型调用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17 项核心需求，组成六块交付责任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此页把需求表压缩为六个便于评审的工作域，编号完整覆盖 F01–F17。任务域负责持久创建、调度与依赖；原生工作域确保实际工具可用、工作区独立并可复用明确版本的工具；运行保护域确保本地后代受预算约束，控制面和 U 的资源归属清楚。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交付与独审域让代码或报告可取得、证据完整、三个有效拒绝闭环正确；故障与通知域让任务在客户端退出、执行中断和发送不确定时仍能被找到和接续；配置与运维域提供三个主要页面、固定 worker 池和有限生命周期保障。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需求范围贯穿完整产品；V0/V1 的候选分期在第 6 页说明。附录第 32–33 页把每个编号进一步对应到机制和验收。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docs/PRODUCT_REQUIREMENTS_BASELINE.md:85 — 核心需求 F01–F17</a:t>
            </a:r>
          </a:p>
          <a:p>
            <a:r>
              <a:rPr lang="zh-CN" sz="1400">
                <a:ea typeface="Microsoft YaHei"/>
              </a:rPr>
              <a:t xml:space="preserve">docs/PRODUCT_REQUIREMENTS_BASELINE.md:113 — 交付链补充验收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五个业务阶段，配合真实执行观察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候选状态表示只有 queued、running、reviewing、finished、canceled。queued 等输入和容量；派发预留后进入 running；执行闭合且候选发布通过校验后进入 reviewing；PASS 或第三次有效 REJECT 进入 finished，分别记录 passed 或 review_failed。第一、第二次拒绝回到 queued。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运行中断保留 running，并用观察字段显示 interrupted、等待原因和可用动作，所以 running 并不等于还有活动 PID。审核离线或无法进行保留 reviewing，不增加 REJECT。取消先保存意图、撤销审核权限并阻止新执行，所有所属执行闭合后才进入 canceled。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取消与判决在同一事务顺序中裁决：终态先提交则保留终态；取消意图先提交则拒绝迟到判决。finished 和 canceled 均不可重开。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docs/design/TASK_AND_REVIEW_PROTOCOL.md:5 — 五阶段</a:t>
            </a:r>
          </a:p>
          <a:p>
            <a:r>
              <a:rPr lang="zh-CN" sz="1400">
                <a:ea typeface="Microsoft YaHei"/>
              </a:rPr>
              <a:t xml:space="preserve">docs/design/RELIABILITY_AND_STORAGE.md:5 — 状态组合与不变量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四种记录，避免把“重跑”误当成“又失败一次”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Task 是一份不可变业务合同与最终结果。Execution 是一次可追踪的运行，有 launch_id、执行代次、进程身份、资源和闭合证据。Candidate 是一次不可变交付，包含代码 commit 或报告，以及完整证据和摘要。Review 是独立 reviewer 对精确候选作出的有效判决。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示例：E1 因资源问题中断，没有候选；确认停止后 E2 接续，交付 C1，被有效拒绝；E3 返修交付 C2，审核通过。这里有 3 次执行、2 个候选、1 次有效拒绝、1 个最终成功任务。它只贡献一个 benchmark 任务样本。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数据库约束保护每个 Task 和 worker 槽最多一个未闭合 Execution、每个 Candidate 最多一个生效 Review。执行身份未知时也算占位，不能仅因为看不到 PID 就启动第二份。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docs/design/TASK_AND_REVIEW_PROTOCOL.md:147 — 核心对象</a:t>
            </a:r>
          </a:p>
          <a:p>
            <a:r>
              <a:rPr lang="zh-CN" sz="1400">
                <a:ea typeface="Microsoft YaHei"/>
              </a:rPr>
              <a:t xml:space="preserve">docs/design/RELIABILITY_AND_STORAGE.md:39 — 事务与唯一性约束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两次冻结：先锁定题目，再锁定具体材料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提交成功时固定 TaskSpec：项目、目标、范围、成果、验收、难度、明确输入引用和依赖选择规则。主线不选模型；服务展开当时的项目默认值并固定版本。即使任务仍在 queued，也不能改合同。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首次派发前再固定 ResolvedInputs：实际 base commit、上游最终通过 candidate_id、artifact 内容摘要、路径映射和保留引用；同时固定 Assignment 的模型与配置。输入准备可能较慢，完成后仍要重核暂停、取消、授权和资源容量。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返修和恢复沿用这些精确输入，不重新解析 latest。上游失败使下游等待并说明原因，不能计作下游模型失败。上游 PASS 只说明候选通过审核，主线若要合并多个候选，应在流程外准备确定的 base 或另建整合任务。V0 仅独立任务且输入在提交时可取得，依赖 DAG 属 V1。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docs/design/TASK_AND_REVIEW_PROTOCOL.md:167 — 输入冻结与依赖</a:t>
            </a:r>
          </a:p>
          <a:p>
            <a:r>
              <a:rPr lang="zh-CN" sz="1400">
                <a:ea typeface="Microsoft YaHei"/>
              </a:rPr>
              <a:t xml:space="preserve">docs/PRODUCT_REQUIREMENTS_BASELINE.md:65 — 任务合同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模型分配从公平探索开始，再用足够证据形成偏好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调度先过滤不可用、忙碌、禁用或不满足任务条件的槽位。冷启动不预设模型品牌强弱，建议先在拥有合格空闲 worker 的不同模型间等概率选择，再在该模型的合格 worker 内随机选槽，避免把槽位多误解为能力强。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模型与难度组具有足够成熟、可比样本且差异达到预定门槛后，才启用能力偏好；样本不足继续随机，并保留随机探索与对照。难度量表、样本量、观察窗口、差异阈值、探索比例以及强模型忙时如何处理都仍待选择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首次绑定后，返修和恢复使用同一 worker_id、模型和固定配置。新统计影响后续未绑定的新任务。准入同时取得 worker 槽、预算和声明共享资源；没有合格容量就排队，每个 worker 同时最多一个未闭合执行。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docs/PRODUCT_REQUIREMENTS_BASELINE.md:173 — 随机到能力偏好</a:t>
            </a:r>
          </a:p>
          <a:p>
            <a:r>
              <a:rPr lang="zh-CN" sz="1400">
                <a:ea typeface="Microsoft YaHei"/>
              </a:rPr>
              <a:t xml:space="preserve">docs/PRODUCT_REQUIREMENTS_BASELINE.md:198 — 成熟队列门槛</a:t>
            </a:r>
          </a:p>
          <a:p>
            <a:r>
              <a:rPr lang="zh-CN" sz="1400">
                <a:ea typeface="Microsoft YaHei"/>
              </a:rPr>
              <a:t xml:space="preserve">docs/design/TASK_AND_REVIEW_PROTOCOL.md:190 — 固定 worker 选择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完成率可能好看，等待中的任务必须留在视野里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审核结果完成率定义为 S/(S+R)，S 是最终通过的任务数，R 是三个有效拒绝后的失败任务数。取消和未结束单列；一个任务的三轮候选不能算三个样本。这个公式回答已经得到最终审核结果的任务表现如何。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算例假设两个模型同难度、同观察窗口 H，且各有 10 个已走满窗口的首次分配任务。A 有 2 个在 H 内通过、0 个三轮失败、8 个在 H 时仍未结束；B 有 7 个在 H 内通过、3 个三轮失败。A 的结果完成率为 100%，但按期通过率只有 20%；B 两个值都是 70%。这说明仅按已结束比例排名可能奖励长期积压。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成熟队列的按期通过率是 S_H/N，取消和未完成仍在分母，H 后通过不改写按期历史。产品层还要从提交时点建立队列纳入排队。算例不能证明 B 必然更强，真实启用偏好仍需样本、差异、故障比例和随机对照等门槛。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docs/PRODUCT_REQUIREMENTS_BASELINE.md:160 — 审核结果完成率</a:t>
            </a:r>
          </a:p>
          <a:p>
            <a:r>
              <a:rPr lang="zh-CN" sz="1400">
                <a:ea typeface="Microsoft YaHei"/>
              </a:rPr>
              <a:t xml:space="preserve">docs/PRODUCT_REQUIREMENTS_BASELINE.md:198 — 固定窗口队列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一个 daemon，按“谁拥有事实”拆成深模块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单 daemon 是本机部署与事务一致性的候选选择，不等于把所有代码塞进一个类。任务服务拥有 TaskSpec、阶段、首次分配、拒绝计数和终态；调度执行拥有选择、预留和运行观察；候选审核拥有冻结候选、租约与判决绑定；成果存储拥有摘要、引用、保留和回收；接入配置拥有项目、固定配置与身份；通知查询拥有队列、投影和可重建统计；平台适配拥有资源组、worktree 与服务接口。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应用用例持有 UnitOfWork，各模块通过受限接口参与同一事务，不各自 commit，也不经 HTTP 调另一个本机模块完成原子动作。审核判决必须连同拒绝计数、任务阶段、成果引用、事件和 outbox 一起提交。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Git、文件复制、hash 和进程调用属于慢外部操作，在写事务外做有界准备，提交前重新核验相关状态；因此单服务仍然需要明确的恢复与对账协议。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docs/SOFTWARE_ARCHITECTURE_PROPOSAL.md:54 — 模块所有权</a:t>
            </a:r>
          </a:p>
          <a:p>
            <a:r>
              <a:rPr lang="zh-CN" sz="1400">
                <a:ea typeface="Microsoft YaHei"/>
              </a:rPr>
              <a:t xml:space="preserve">docs/design/RELIABILITY_AND_STORAGE.md:39 — 跨模块事务所有者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契约先行：三个入口使用同一种业务语言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现有可执行设计契约分工清晰：models.py 定义严格请求响应类型、跨字段约束和候选参数；operations.py 定义方法路径、角色、错误、幂等与 CLI/MCP 映射；generate.py 导出 OpenAPI、JSON Schema 和 API_REFERENCE；check.py 检查生成物、引用、样例和反例。生成文件不手工改。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本次复核 29 个操作，其中 B01–B16 为业务及适配操作，M01–M13 为管理、会话和健康操作；B16 续租只供适配器，不是模型工具。153 个注册模型不等于 153 个 API。协议 /v1 表示拟定 HTTP 主版本，目前具体化的是产品 V0。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写操作使用 request_key 幂等，配置使用 expected_version 检测竞争；202 表示意图被持久接受，任务结果另查。角色、权限、进程和事务仍必须由真实后端验证。合同代码没有生成服务 handler、数据库模型或前端业务实现。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specs/agentd_v1/README.md:7 — 契约文件分工</a:t>
            </a:r>
          </a:p>
          <a:p>
            <a:r>
              <a:rPr lang="zh-CN" sz="1400">
                <a:ea typeface="Microsoft YaHei"/>
              </a:rPr>
              <a:t xml:space="preserve">docs/design/INTERFACE_GUIDE.md:177 — API 合同规则</a:t>
            </a:r>
          </a:p>
          <a:p>
            <a:r>
              <a:rPr lang="zh-CN" sz="1400">
                <a:ea typeface="Microsoft YaHei"/>
              </a:rPr>
              <a:t xml:space="preserve">specs/agentd_v1/operations.py:93 — 操作注册表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三个主页面，让忙碌用户先看到“下一步”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用户主要需要三个视角。总览与任务展示阶段、实际执行、审核轮次、等待原因和下一动作，详情及简单统计作为面板。Worker 配置管理数量、relay、模型参数、凭据来源、资源和固定配置版本，并明确配置变化影响新任务还是后续执行。服务管理展示版本、维护状态和本地操作记录。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V0 服务管理仅提供状态和本地维护说明，升级和保留数据卸载按钮属于 V1。本页 UI 只是一种说明布局，未代表前端已开发或固定视觉要求。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前端不自行推断任务结果或权限。后端返回动作和禁止原因，点击时再次检查。断线、无权、过期快照和空结果必须区别；保存后丢响应使用原 request_key 查回，不能盲重放。暂停新增派发不会停止活动 worker，取消也不是暂停。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docs/design/INTERFACE_GUIDE.md:137 — 三个主页面</a:t>
            </a:r>
          </a:p>
          <a:p>
            <a:r>
              <a:rPr lang="zh-CN" sz="1400">
                <a:ea typeface="Microsoft YaHei"/>
              </a:rPr>
              <a:t xml:space="preserve">docs/design/INTERFACE_GUIDE.md:154 — 交互合同</a:t>
            </a:r>
          </a:p>
          <a:p>
            <a:r>
              <a:rPr lang="zh-CN" sz="1400">
                <a:ea typeface="Microsoft YaHei"/>
              </a:rPr>
              <a:t xml:space="preserve">docs/design/RUNTIME_LIFECYCLE.md:172 — 配置生效范围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同一个用户，也需要清楚的角色边界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同一个人既是业务负责人，也可能是平台管理员，但主线任务权限不自动等于管理权限。Dashboard 管理身份配置 worker 和角色；主线提交、查询、继续和取消项目任务；reviewer 领取候选、保存自己的证据和提交独立判决；worker 通过专属交付通道产出候选。管理员也不能用 admin 凭据提交独审判决。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同一 MCP bridge 实现提供 agentd_lead 和 agentd_reviewer 两个固定连接，连接层从私有来源自动附带凭据，模型不需要填写 token，也没有业务工具切换角色。服务端根据凭据得到受信身份，拒绝请求自报 role。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权限和租约在关键提交时重核，撤销或根重绑使旧代次失效。可信本机定位优先防误操作与身份混用，不承诺抵御恶意同 UID 管理员；线程和凭据分离也不能证明模型推理语义绝对独立。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docs/design/INTERFACE_GUIDE.md:17 — 两个固定 MCP 连接</a:t>
            </a:r>
          </a:p>
          <a:p>
            <a:r>
              <a:rPr lang="zh-CN" sz="1400">
                <a:ea typeface="Microsoft YaHei"/>
              </a:rPr>
              <a:t xml:space="preserve">docs/design/INTERFACE_GUIDE.md:77 — 权限矩阵</a:t>
            </a:r>
          </a:p>
          <a:p>
            <a:r>
              <a:rPr lang="zh-CN" sz="1400">
                <a:ea typeface="Microsoft YaHei"/>
              </a:rPr>
              <a:t xml:space="preserve">docs/design/INTERFACE_GUIDE.md:110 — 凭据生命周期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原生工具循环保留，交付出口必须明确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适配器只负责准备环境、启动原生 Claude Code、传递输入、观察运行、停止和收集交付。MCP、subagent、shell、网络与会话仍由原生 harness 负责，具体版本、relay 与私有配置能否兼容属于目标环境验证。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每次执行得到 ExecutionInput/1，绑定精确任务、输入和配置。V0 建议唯一权威出口为执行专属 delivery.json，worker 先写临时文件再原子改名。执行闭合后，适配器核验 schema、路径、成员、大小、hash 和代码对象，再形成受信封装。退出 0、日志里的 success 或 worker 自报 hash 都不能替代这些检查。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代码交付需要合法 commit 与固定 base 的关系；报告交付无需 commit，但必需报告和证据必须齐全。无效交付保存原件与进度，补交属于同任务的有界运行恢复，不消耗 REJECT。worker 自检与 reviewer 的独立验证分别记录。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docs/design/TASK_AND_REVIEW_PROTOCOL.md:204 — Worker 输入与交付</a:t>
            </a:r>
          </a:p>
          <a:p>
            <a:r>
              <a:rPr lang="zh-CN" sz="1400">
                <a:ea typeface="Microsoft YaHei"/>
              </a:rPr>
              <a:t xml:space="preserve">docs/design/RUNTIME_LIFECYCLE.md:146 — 原生能力</a:t>
            </a:r>
          </a:p>
          <a:p>
            <a:r>
              <a:rPr lang="zh-CN" sz="1400">
                <a:ea typeface="Microsoft YaHei"/>
              </a:rPr>
              <a:t xml:space="preserve">specs/agentd_v1/models.py:1002 — WorkerDelivery 类型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独审的关键：材料独立、候选精确、判决有效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服务向 reviewer 提供冻结任务合同、候选和完整证据索引。代码材料使用限定授权范围、可核验自足性的 Git bundle；报告使用不可变成员清单。reviewer 在自己的 checkout 或文件副本运行检查，避免测试修改候选原件或 worker 接续目录。必需的 LFS、submodule 或外部材料也必须明确可取。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判决须覆盖冻结验收项，并区分 worker 自检记录与 reviewer 自己产生的证据。PASS 不能包含未满足或无法验证项；REJECT 至少有真实不满足项；环境条件不足使用 defer。服务保证候选绑定与材料检查，外部测试过程仍是 reviewer 声明，不冒充 daemon 监督执行。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领取有 TTL 和绝对总期。自然材料读取或证据上传可让连接层另发 POST renew，普通 GET、ping 或 bridge 存活本身不续租。过期后用新领取重领同候选、重新核验摘要与权限，再复用仍然适用的证据；不能把旧报告直接换 handle 提交。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docs/design/TASK_AND_REVIEW_PROTOCOL.md:240 — 独立材料与租约</a:t>
            </a:r>
          </a:p>
          <a:p>
            <a:r>
              <a:rPr lang="zh-CN" sz="1400">
                <a:ea typeface="Microsoft YaHei"/>
              </a:rPr>
              <a:t xml:space="preserve">docs/design/INTERFACE_GUIDE.md:39 — reviewer 行为</a:t>
            </a:r>
          </a:p>
          <a:p>
            <a:r>
              <a:rPr lang="zh-CN" sz="1400">
                <a:ea typeface="Microsoft YaHei"/>
              </a:rPr>
              <a:t xml:space="preserve">docs/design/INTERFACE_GUIDE.md:217 — 判决覆盖与绑定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发生 OOM 后，系统应保住这一任务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设想任务已经被有效拒绝一次，返修时内存超限。先用真实资源观察确认故障，不仅凭 SIGKILL 推断 OOM。系统保存工作区、未提交修改、原生会话引用、日志和已用审核次数。运行故障不增加 REJECT，自动额度耗尽也不自动判定任务失败。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恢复前核对旧执行与本地后代已闭合，并处理不明外部副作用。管理员可以为该任务建立完整资源覆盖，例如把后续 Execution 的预算从 4 GiB 提升至 8 GiB；这是文档中的示例，不是默认配置。旧模型和执行配置保持绑定。当前运行的资源组不会被热改。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主线读取后端当前 action_ref，再显式请求继续。原会话可用就接续，否则新会话接手已有进度；如果输入和工作区无法恢复，可以明确选择同合同重做或取消。副作用不明时仅点击继续不能越过核对，不提供 force 或 reset_rejections。取消是终态，不能作为调资源后恢复的手段。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docs/design/RELIABILITY_AND_STORAGE.md:156 — 恢复故障窗口</a:t>
            </a:r>
          </a:p>
          <a:p>
            <a:r>
              <a:rPr lang="zh-CN" sz="1400">
                <a:ea typeface="Microsoft YaHei"/>
              </a:rPr>
              <a:t xml:space="preserve">docs/design/RELIABILITY_AND_STORAGE.md:171 — 恢复动作</a:t>
            </a:r>
          </a:p>
          <a:p>
            <a:r>
              <a:rPr lang="zh-CN" sz="1400">
                <a:ea typeface="Microsoft YaHei"/>
              </a:rPr>
              <a:t xml:space="preserve">docs/design/RUNTIME_LIFECYCLE.md:172 — 任务资源覆盖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可靠性集中在五个“刚好出故障”的窗口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SQLite 的事务不包含文件系统、进程或远端副作用，所以关键不是写一个万能 success，而是保存操作意图、精确身份和已确认步骤，并在重启后对账。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启动窗口使用 launch_id、generation、门控监督器和运行许可，在绑定可核验身份前不让子进程执行业务。候选发布先完成不可变内容与摘要，再提交 DB 引用；文件已发布但事务失败时按原 publish operation 对账。判决、计数、任务结果和 outbox 在一笔事务内提交；响应丢失用原 key 读取结果。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取消只有在所属执行闭合后才释放容量；恢复也只有在旧执行和副作用核清后才能建新执行。同 key 同内容返回原结果，不同内容冲突；当前授权检查优先于历史回执。五类路径是固定业务协议，不引入可编程通用工作流引擎。各机制仍要通过实际主机故障注入。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docs/design/RELIABILITY_AND_STORAGE.md:100 — 五条关键路径</a:t>
            </a:r>
          </a:p>
          <a:p>
            <a:r>
              <a:rPr lang="zh-CN" sz="1400">
                <a:ea typeface="Microsoft YaHei"/>
              </a:rPr>
              <a:t xml:space="preserve">docs/design/RELIABILITY_AND_STORAGE.md:77 — 幂等与操作结果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运行拓扑：把控制余量与执行预算分开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候选拓扑是一个 S 服务，内部有 C 控制组和逐执行 worker 资源组，服务外有按需 U。C 中放监督器和业务 daemon；worker 的 shell、本地 MCP 和 subagent 后代共享该次执行的 CPU、内存和 pids 总预算。一个 worker 的普通故障应被遏制在该执行边界。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S 的准入总账必须为 C 和辅助开销保留余量，只给 C 一个最大值并不能证明有保底资源。U 也有自己的资源预算，S 和 U 同时运行时仍需要主机余量。外部主线、reviewer、已存在的共享服务和远端 MCP 不纳入 worker 预算。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新方案默认不新增旧设计中的专用父池 P，因此没有等同于 P 的跨服务原子总预算保证；如确有需求应重新评审。Linux/WSL2 只是候选平台，必须实测委派、后代归属、worker 超限而控制面可用、杀 daemon 与停 S 的差别，以及 U 在 S 停止后继续。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docs/design/RUNTIME_LIFECYCLE.md:83 — P / S / C 的关系</a:t>
            </a:r>
          </a:p>
          <a:p>
            <a:r>
              <a:rPr lang="zh-CN" sz="1400">
                <a:ea typeface="Microsoft YaHei"/>
              </a:rPr>
              <a:t xml:space="preserve">docs/design/RUNTIME_LIFECYCLE.md:91 — 进程资源所有权</a:t>
            </a:r>
          </a:p>
          <a:p>
            <a:r>
              <a:rPr lang="zh-CN" sz="1400">
                <a:ea typeface="Microsoft YaHei"/>
              </a:rPr>
              <a:t xml:space="preserve">docs/design/VALIDATION_PLAN.md:41 — 目标主机探针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并行安全还取决于共享写入与配置生效范围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共享资源优先使用任务独立命名空间或专用实例，必须共享写入时才采用明确协调。项目登记规范 resource_id 以及读写需求，调度在一笔事务中取得完整资源集合、worker 槽与总预算；任一项不足就全不取得，避免部分占有后互等。共享副作用只能在取得 claim 后开始。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进程闭合且远端副作用核清后才能释放 claim；超时、缺心跳或重启不会自动释放未知持有。内部协调只覆盖遵守同一声明的参与者，不自动发现任意原生 shell 的未声明写入，外部 reviewer 必须使用独立资源或遵守同一外部协调合同。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WorkerSlot 管理可变准入状态，ExecutionConfig 是不可变执行内容，TaskResourceOverride 只影响下次执行。enabled 接新任务；draining 拒绝新绑定但保留旧任务返修接续；disabled 让旧任务明确等待，不隐式取消。减少槽位不强杀，也不静默换模型。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docs/design/RUNTIME_LIFECYCLE.md:172 — 固定配置 / 槽位 / 覆盖</a:t>
            </a:r>
          </a:p>
          <a:p>
            <a:r>
              <a:rPr lang="zh-CN" sz="1400">
                <a:ea typeface="Microsoft YaHei"/>
              </a:rPr>
              <a:t xml:space="preserve">docs/design/RUNTIME_LIFECYCLE.md:200 — 共享资源准入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通知是提醒，持久队列才是工作来源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业务链路在候选发布、终态或重要中断时保存事实及必要 outbox，主线和 reviewer 随时可经 CLI/MCP 查队列。唤醒链路只向已登记的既有根发送短提示，引导读取当前 inbox 和领取；提示不携带完整证据，也不授权任务结果。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旧实现已有 codex queue 适配源码路径，但它只证明旧版本存在此方式，不能证明目标客户端能收到、唤醒空闲根并实际领取。V0 可由用户打开客户端主动查队列；V1 至少验证一种真实消息传输。客户端关闭时不承诺自动启动，根忙碌时依客户端支持方式排队。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发送回执丢失意味着消息可能已经入队，必须保存 uncertain 并核对，不能不断启动新的发送。领取和最终判决使用自己的幂等与租约规则，重复提示不产生重复计分。合并提示减少打扰，但不能抹掉未解决事项或压制新工作。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docs/design/TASK_AND_REVIEW_PROTOCOL.md:293 — 两条通知链路</a:t>
            </a:r>
          </a:p>
          <a:p>
            <a:r>
              <a:rPr lang="zh-CN" sz="1400">
                <a:ea typeface="Microsoft YaHei"/>
              </a:rPr>
              <a:t xml:space="preserve">docs/PRODUCT_REQUIREMENTS_BASELINE.md:243 — V0 / V1 通知范围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成果能交付，依靠“内容 + 引用 + 保留义务”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SQLite 保存任务、分配、执行、判决、通知以及成果归属和引用；Git 与文件保存代码、报告、证据、日志和可恢复工作区。先在私有暂存核验内容并持久发布，再以短事务登记 Candidate、Artifact、阶段和 outbox；目录存在本身不表示候选已经生效。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历史索引长期保留不等于正文永久保留。active_task、dependent_task、delivery、explicit_keep 和未完成发布/备份的 pin 保护需要保留的内容，ReadGuard 保护一次实际读取不被并发删除。回收必须与新引用申请互斥；到期回收留下 expired 元数据，损坏或丢失是另外的完整性事件。未选择期限时默认 retain，不自动到期。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备份需要同时包含一致 DB 快照、承诺保留的 Git/文件和清单；必须在新目录恢复并实际取出成果。恢复旧快照创建新的 store_epoch 与授权代次，使旧游标、凭据、handle、动作和未确认客户端写入失效，避免把旧请求自动重放到更早的历史。恢复备份不能被当作随意覆盖新成果的回退按钮。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docs/design/RUNTIME_LIFECYCLE.md:5 — 存储分工</a:t>
            </a:r>
          </a:p>
          <a:p>
            <a:r>
              <a:rPr lang="zh-CN" sz="1400">
                <a:ea typeface="Microsoft YaHei"/>
              </a:rPr>
              <a:t xml:space="preserve">docs/design/RELIABILITY_AND_STORAGE.md:121 — 候选发布</a:t>
            </a:r>
          </a:p>
          <a:p>
            <a:r>
              <a:rPr lang="zh-CN" sz="1400">
                <a:ea typeface="Microsoft YaHei"/>
              </a:rPr>
              <a:t xml:space="preserve">docs/design/RELIABILITY_AND_STORAGE.md:196 — 保留与备份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升级时，负责升级的人必须留在服务之外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已确认责任是 U 在 S 的停止边界外，按需执行安装、升级和卸载；U 自身程序与 journal 位于不会被此次切换删除的固定环境。首次安装不依赖 daemon，关闭发起终端或停止 S 后仍能按原 operation_id 查询与接续。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候选升级方案在独立最终目录准备新版本，旧服务继续运行；然后建立维护 hold、停止新增工作并排空在途执行和写入。确认整个 S 及后代闭合后，U 取得离线 state lock，一致备份、检查兼容并切换。新版先维护态启动、核任务与引用，通过后只释放此次 hold，保留用户原暂停。lifecycle lock 串行主机变更，state lock 保证业务单写；持久 fence 保护锁交接间隙。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该方案有 API 停机窗口，不承诺 worker 不停的热升级。新版失败时先保全当前数据，只有旧程序兼容当前数据库才可回退代码，不能自动恢复旧备份覆盖切换后写入。V0 只实现最小 U 安装；完整升级与保留数据卸载在 V1。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docs/PRODUCT_REQUIREMENTS_BASELINE.md:221 — 生命周期要求</a:t>
            </a:r>
          </a:p>
          <a:p>
            <a:r>
              <a:rPr lang="zh-CN" sz="1400">
                <a:ea typeface="Microsoft YaHei"/>
              </a:rPr>
              <a:t xml:space="preserve">docs/design/RUNTIME_LIFECYCLE.md:229 — 升级与锁交接</a:t>
            </a:r>
          </a:p>
          <a:p>
            <a:r>
              <a:rPr lang="zh-CN" sz="1400">
                <a:ea typeface="Microsoft YaHei"/>
              </a:rPr>
              <a:t xml:space="preserve">docs/design/RUNTIME_LIFECYCLE.md:247 — 故障与回退边界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为什么这样做：每个选择都有明确收益与代价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这些选择是当前候选设计，不是宣称某种技术普遍最好。单 daemon 加 SQLite 简化本机部署并支持必要原子事务，代价是单机容量与控制面瓶颈需要量化；原生 harness 薄适配保留成熟工具能力，代价是配置、版本和资源归属需要支持矩阵。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外部 reviewer 避免再托管一套账号和推理生命周期，代价是客户端离线时等待，唤醒能力要实测；不可变任务和候选带来明确评审与统计口径，代价是需求变化时要建立关联新任务。阶段与运行观察分层避免故障误计分，但组合约束仍然复杂，需要系统验收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独立 U 让 daemon 停止后还有明确的执行与恢复责任，代价是锁交接、资源余量和停机窗口。固定窗口统计减少未完成样本被丢弃造成的偏差，但要等待样本成熟，仍无法完全消除同难度任务差异。选择是否合适，要靠针对这些代价的实验与验收判断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docs/design/DECISIONS_AND_EVIDENCE.md:7 — 设计选择独立论证</a:t>
            </a:r>
          </a:p>
          <a:p>
            <a:r>
              <a:rPr lang="zh-CN" sz="1400">
                <a:ea typeface="Microsoft YaHei"/>
              </a:rPr>
              <a:t xml:space="preserve">docs/SOFTWARE_ARCHITECTURE_PROPOSAL.md:54 — 模块与事务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验收的单位：同一条真实用户旅程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首要旅程是使用真实发布目录和最小 U 完成安装，经 Dashboard 配置，主线提交真实任务，worker 交付代码或报告，外部 reviewer 独立审核，主线实际读出成果。服务健康、页面展示或 CLI 可启动都只是局部证据。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进一步必须验证第一轮和第三轮 PASS、第三次 REJECT、重复请求和迟到判决，证明唯一终态和计数；三个真实 worker 至少两种模型重叠工作，其中一个超限时另两个仍可交付；保留进度并在 daemon 重启后显式接续；独立副本与自有审核证据；原始字节和长中文目标不截断；完整备份在新目录实际恢复。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每条结果标记源码版本、实际程序路径、主机、客户端、模型配置和证据。目标故障必须先被证明成功注入，才能声称隔离通过。离线合同、真实模型、真实客户端和目标主机分开记录；缺一层就保留 NOT RUN。V1 的通知、学习和升级按其阶段验收。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docs/design/VALIDATION_PLAN.md:5 — 验收顺序</a:t>
            </a:r>
          </a:p>
          <a:p>
            <a:r>
              <a:rPr lang="zh-CN" sz="1400">
                <a:ea typeface="Microsoft YaHei"/>
              </a:rPr>
              <a:t xml:space="preserve">docs/design/VALIDATION_PLAN.md:25 — 工作包</a:t>
            </a:r>
          </a:p>
          <a:p>
            <a:r>
              <a:rPr lang="zh-CN" sz="1400">
                <a:ea typeface="Microsoft YaHei"/>
              </a:rPr>
              <a:t xml:space="preserve">docs/design/VALIDATION_PLAN.md:79 — C01–C16 补充验收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证明收益，需要同时看速度、等待、用量和对照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吞吐比较同一预定任务集的串行与并行墙钟时间，以及固定观察时段内 PASS 数；如果并行增加资源要注明，任务集未全部结束不能宣称整体加速。交付时延从提交到最终审核，包含排队、审核和中断等待，成功和三轮失败分列，未结束展示年龄，取消单列。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usage 记录原生可得的 input、output、cache、reasoning 字段及来源，避免累计值、增量或 subagent 汇总重复计算；缺失为 null 并给覆盖率。只掌握 worker 数据时只能叫 worker tokens。每个 PASS 的已知 token 消耗需包含该批失败、取消和中断任务的消耗；没有可靠价格和完整用量时不能称省钱。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学习策略与随机基线比较同难度、同观察窗口的按期 PASS、时延和用量覆盖率，记录初始策略分组，保留未完成和取消。共享池会互相影响，无有效对照只能说分配改变，不能说优于随机。此页没有项目测量值。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docs/PRODUCT_REQUIREMENTS_BASELINE.md:184 — 最小效果指标</a:t>
            </a:r>
          </a:p>
          <a:p>
            <a:r>
              <a:rPr lang="zh-CN" sz="1400">
                <a:ea typeface="Microsoft YaHei"/>
              </a:rPr>
              <a:t xml:space="preserve">docs/PRODUCT_REQUIREMENTS_BASELINE.md:198 — 队列与对照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下一步：把关键未知逐个变成可验收的承诺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首先由产品负责人选择首发环境和是否接受 V0 的明确限制：单项目独立任务、随机择模、主动领取、自动恢复可以为零、最小 U 安装。然后用准确 OS、内核、资源委派、原生 CLI、模型 relay 和客户端版本做关键探针。主机假设失败时重审方案，而不是继续把未经验证能力扩成更多平台。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接着评审并冻结 V0 精确合同与限额，前后端可分别开发但尽早接通同一真实任务链。随后完成三轮、取消竞争、幂等、故障窗口、资源隔离和实际成果读取。V1 的通知、依赖、自动恢复、学习与生命周期按范围补齐。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需要选择的参数包括难度量表、观察窗口、最小样本、差异/探索比例、租约与恢复预算、资源/磁盘限额、保留期限及升级支持窗口。候选初值不能在实现中被悄悄当作批准值。当前最值得投入的下一产物，是关键探针证据与一条真实闭环，而不是更多并列架构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docs/design/DECISIONS_AND_EVIDENCE.md:71 — 待定决策</a:t>
            </a:r>
          </a:p>
          <a:p>
            <a:r>
              <a:rPr lang="zh-CN" sz="1400">
                <a:ea typeface="Microsoft YaHei"/>
              </a:rPr>
              <a:t xml:space="preserve">docs/design/VALIDATION_PLAN.md:25 — A–E 工作包</a:t>
            </a:r>
          </a:p>
          <a:p>
            <a:r>
              <a:rPr lang="zh-CN" sz="1400">
                <a:ea typeface="Microsoft YaHei"/>
              </a:rPr>
              <a:t xml:space="preserve">docs/PRODUCT_REQUIREMENTS_BASELINE.md:308 — 决定清单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附录：当前到底有什么，哪些仍然未知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本次在 /home/cying/agentd-new 使用文档指定的已有解释器运行 python -m specs.agentd_v1.check，结果 PASS。报告值为 29 operations/routes、153 registered_models、154 schema_definitions、8 valid_examples、7 structural_rejections、7 semantic_rejections、5 json_policy_rejections、3 split_contract_regression_checks，三份生成物一致。runtime_model_host_validation 明确为 NOT_RUN。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同时执行 sha256sum -c audit/SHA256SUMS，原始快照清单的 32 个受覆盖文件均 OK。本次只新增 reports/agentd-architecture 下的报告与生成源码，原审计描述的是既有快照，不把新增报告伪称为原来已审计内容。运行 Python 检查可能生成可删除的 __pycache__，不属于设计变更。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R 是用户已确认要求；D 是候选设计；H 是需要实际主机、模型或客户端验证的假设；P 是尚未选定参数；F 是有版本和范围的事实。离线 PASS 不能将 D/H/P 升级为已支持能力。报告内标为示例的任务、界面与统计数字不属于项目实测。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docs/PRODUCT_REQUIREMENTS_BASELINE.md:5 — 决定状态</a:t>
            </a:r>
          </a:p>
          <a:p>
            <a:r>
              <a:rPr lang="zh-CN" sz="1400">
                <a:ea typeface="Microsoft YaHei"/>
              </a:rPr>
              <a:t xml:space="preserve">specs/agentd_v1/README.md:22 — 校验方法与边界</a:t>
            </a:r>
          </a:p>
          <a:p>
            <a:r>
              <a:rPr lang="zh-CN" sz="1400">
                <a:ea typeface="Microsoft YaHei"/>
              </a:rPr>
              <a:t xml:space="preserve">audit/VALIDATION.md:1 — 快照审计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附录：需求追踪 F01–F09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F01 验证主线退出后任务仍存在，以及创建丢响应后原 key 返回同一任务。F02 验证固定池自动择模、容量排队、同任务和同槽唯一未闭合执行。F03 在真实执行环境验证 read/edit/shell/MCP/subagent，而不只是单独 CLI 探针。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F04 验证任务写入不改变模板和其他 worker 状态；F05 真正注入资源故障，核后代归属与其他任务继续；F06 工作区回收后仍能取得保留候选和报告；F07 reviewer 独立副本、自有证据与租约绑定；F08 三个有效拒绝原子结束，重启和重发不重计；F09 持久事项和通知传输分离。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这些是完整需求的追踪，交付按已接受的版本范围进行。V0 主动领取，V1 才承诺经验证的客户端提示路径；V0 独立任务，依赖 DAG 在 V1。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docs/PRODUCT_REQUIREMENTS_BASELINE.md:85 — 核心需求</a:t>
            </a:r>
          </a:p>
          <a:p>
            <a:r>
              <a:rPr lang="zh-CN" sz="1400">
                <a:ea typeface="Microsoft YaHei"/>
              </a:rPr>
              <a:t xml:space="preserve">docs/design/TASK_AND_REVIEW_PROTOCOL.md:147 — 对象与交付</a:t>
            </a:r>
          </a:p>
          <a:p>
            <a:r>
              <a:rPr lang="zh-CN" sz="1400">
                <a:ea typeface="Microsoft YaHei"/>
              </a:rPr>
              <a:t xml:space="preserve">docs/design/VALIDATION_PLAN.md:79 — 补充验收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附录：需求追踪 F10–F17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F10 固定 worker 池要把配置请求值、生效观察和未知分开，更新产生新版本而不热改绑定任务；F11 明确故障类别、自动预算、停止核对、副作用处置和显式继续；F12 三个页面和薄客户端使用同一后台事实。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F13 让原生工具可用，工具代码作为普通成果审阅后由主线选择共享版本，基础阶段无需自动推广平台。F14 固定上游 Task ID 和精确产物，失败使下游等待，PASS 不代表已合并。F15 同时说明控制面、worker 后代、外部 Codex 和 U 的资源所有权。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F16 安装、升级和卸载统一交 U，记录原 operation_id，在停 daemon 或终端后仍可接续；F17 支持窗口先明确，失败保全当前数据，回退要看实际数据兼容和切换后写入。V0 最小 U 安装和本地备份恢复，V1 完整生命周期流程。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docs/PRODUCT_REQUIREMENTS_BASELINE.md:85 — 核心需求</a:t>
            </a:r>
          </a:p>
          <a:p>
            <a:r>
              <a:rPr lang="zh-CN" sz="1400">
                <a:ea typeface="Microsoft YaHei"/>
              </a:rPr>
              <a:t xml:space="preserve">docs/design/RUNTIME_LIFECYCLE.md:172 — 配置与运行机制</a:t>
            </a:r>
          </a:p>
          <a:p>
            <a:r>
              <a:rPr lang="zh-CN" sz="1400">
                <a:ea typeface="Microsoft YaHei"/>
              </a:rPr>
              <a:t xml:space="preserve">docs/design/VALIDATION_PLAN.md:25 — 交付与验收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附录：这些数值仍是候选，不能静默变成承诺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此页选取会影响实现与运营的候选值，便于评审，不表示推荐值已经获准或真实测量通过。契约给出的审核 TTL 为 1800 秒、单次持有绝对上限 28800 秒；候选成果成员总量 1 GiB、bundle 2 GiB；审核证据段 256 KiB、总量 16 MiB；执行自动恢复候选为 V0 零次、V1 两次，仍受整体时间与副作用核验约束。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存储候选最终成果和必要独审证据保留 90 天，但未选择策略时使用 retain，不得隐式按 90 天删除。参考主机是 8 逻辑 CPU、32 GiB 内存，仅用于校准而非最低配置。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控制面查询 p95 ≤ 1 秒、p99 ≤ 3 秒的候选测量条件是：已认证 loopback、标准 50 条摘要页、10,000 终态与 100 未结束任务、5 并发只读客户端、3 worker 施压并有候选复制，持续 10 分钟且至少 1,000 请求，错误和超时不能排除。成熟窗口 H、样本门槛、差异及探索比例尚无定值，未定时保持随机。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specs/agentd_v1/models.py:44 — DRAFT_PARAMETERS</a:t>
            </a:r>
          </a:p>
          <a:p>
            <a:r>
              <a:rPr lang="zh-CN" sz="1400">
                <a:ea typeface="Microsoft YaHei"/>
              </a:rPr>
              <a:t xml:space="preserve">docs/design/RELIABILITY_AND_STORAGE.md:196 — 保留策略候选</a:t>
            </a:r>
          </a:p>
          <a:p>
            <a:r>
              <a:rPr lang="zh-CN" sz="1400">
                <a:ea typeface="Microsoft YaHei"/>
              </a:rPr>
              <a:t xml:space="preserve">docs/design/VALIDATION_PLAN.md:41 — 参考 profile 与负载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附录：历史问题给出风险线索，验证仍要重新做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历史资料的价值是解释为什么这些边界值得投入，不能拿旧修复或旧测试结果充当新方案验收。旧 reviewer 视图曾把目标裁至 4096 字节，启示是完整性包含验收目标，不只是附件。候选准备期间出现过 task/list 30 秒超时和静态页超过 3 秒无响应；缺现场栈，不能把某一函数认定为全部根因，但必须验控制面在重负载下可用。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Claude Code 2.1.289 的合成探针显示部分原生工具能运行，不代表项目 skills、hooks、agents、MCP 与授权链齐全。另有实际安装入口和生成配置失败，说明必须从独立发布目录跑同一真实任务，避免开发路径掩盖缺依赖。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旧文档与程序对数据库迁移能力的描述不一致，说明需要唯一权威来源和支持窗口。历史机械 Git 操作、证据字节、配置生效、磁盘容量等更多教训在来源专题中；本报告用第 21、23、25、28 页的机制与验收承接。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docs/design/DECISIONS_AND_EVIDENCE.md:22 — 旧问题与版本范围</a:t>
            </a:r>
          </a:p>
          <a:p>
            <a:r>
              <a:rPr lang="zh-CN" sz="1400">
                <a:ea typeface="Microsoft YaHei"/>
              </a:rPr>
              <a:t xml:space="preserve">docs/design/DECISIONS_AND_EVIDENCE.md:39 — P0 / P1 复查教训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9144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400">
                <a:ea typeface="Microsoft YaHei"/>
              </a:rPr>
              <a:t xml:space="preserve">按问题返回文件，继续评审与实施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本报告根据当前工作区现有资料形成，没有修改产品基线、行为专题或契约源码。阅读路径可以按问题跳转：先产品基线，再架构总览，再相关专题；字段、错误、权限映射和示例查可执行契约及生成 API 参考。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资料权威分工：需求基线拥有目标、角色、终点和范围；架构总览拥有系统边界和模块职责；六个专题拥有行为与恢复约束；models.py / operations.py 拥有结构与传输映射，生成物不手工修改。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报告交付包含可编辑 PPTX、嵌入字体的矢量 PDF、带目录和讲解备注的离线 HTML、逐页讲解与依据 HTML，以及可复现的生成源码。浏览器方向键翻页，N 展开备注，G 打开目录，F 全屏。需要转发时优先 PDF；需要修改内容使用 PPTX 或生成源码；离线 HTML 自身可放映，来源链接则需要保留与项目 docs/specs 的相对目录。</a:t>
            </a:r>
          </a:p>
          <a:p>
            <a:r>
              <a:rPr lang="zh-CN" sz="1400">
                <a:ea typeface="Microsoft YaHei"/>
              </a:rPr>
              <a:t xml:space="preserve"/>
            </a:r>
          </a:p>
          <a:p>
            <a:r>
              <a:rPr lang="zh-CN" sz="1400">
                <a:ea typeface="Microsoft YaHei"/>
              </a:rPr>
              <a:t xml:space="preserve">文件依据：</a:t>
            </a:r>
          </a:p>
          <a:p>
            <a:r>
              <a:rPr lang="zh-CN" sz="1400">
                <a:ea typeface="Microsoft YaHei"/>
              </a:rPr>
              <a:t xml:space="preserve">docs/PRODUCT_REQUIREMENTS_BASELINE.md:1 — 需求基线</a:t>
            </a:r>
          </a:p>
          <a:p>
            <a:r>
              <a:rPr lang="zh-CN" sz="1400">
                <a:ea typeface="Microsoft YaHei"/>
              </a:rPr>
              <a:t xml:space="preserve">docs/SOFTWARE_ARCHITECTURE_PROPOSAL.md:1 — 架构总览</a:t>
            </a:r>
          </a:p>
          <a:p>
            <a:r>
              <a:rPr lang="zh-CN" sz="1400">
                <a:ea typeface="Microsoft YaHei"/>
              </a:rPr>
              <a:t xml:space="preserve">docs/design/TASK_AND_REVIEW_PROTOCOL.md:1 — 任务与独审</a:t>
            </a:r>
          </a:p>
          <a:p>
            <a:r>
              <a:rPr lang="zh-CN" sz="1400">
                <a:ea typeface="Microsoft YaHei"/>
              </a:rPr>
              <a:t xml:space="preserve">docs/design/RUNTIME_LIFECYCLE.md:1 — 运行与生命周期</a:t>
            </a:r>
          </a:p>
          <a:p>
            <a:r>
              <a:rPr lang="zh-CN" sz="1400">
                <a:ea typeface="Microsoft YaHei"/>
              </a:rPr>
              <a:t xml:space="preserve">docs/design/RELIABILITY_AND_STORAGE.md:1 — 事务与存储</a:t>
            </a:r>
          </a:p>
          <a:p>
            <a:r>
              <a:rPr lang="zh-CN" sz="1400">
                <a:ea typeface="Microsoft YaHei"/>
              </a:rPr>
              <a:t xml:space="preserve">docs/design/INTERFACE_GUIDE.md:1 — 接入与接口</a:t>
            </a:r>
          </a:p>
          <a:p>
            <a:r>
              <a:rPr lang="zh-CN" sz="1400">
                <a:ea typeface="Microsoft YaHei"/>
              </a:rPr>
              <a:t xml:space="preserve">docs/design/VALIDATION_PLAN.md:1 — 验收计划</a:t>
            </a:r>
          </a:p>
          <a:p>
            <a:r>
              <a:rPr lang="zh-CN" sz="1400">
                <a:ea typeface="Microsoft YaHei"/>
              </a:rPr>
              <a:t xml:space="preserve">docs/design/DECISIONS_AND_EVIDENCE.md:1 — 决策与证据</a:t>
            </a:r>
          </a:p>
          <a:p>
            <a:r>
              <a:rPr lang="zh-CN" sz="1400">
                <a:ea typeface="Microsoft YaHei"/>
              </a:rPr>
              <a:t xml:space="preserve">specs/agentd_v1/README.md:1 — 可执行契约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ent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让模型并行，让结果可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2F32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1207008"/>
            <a:ext cx="3172968" cy="320040"/>
          </a:xfrm>
          <a:prstGeom prst="roundRect">
            <a:avLst>
              <a:gd name="adj" fmla="val 48571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1271016"/>
            <a:ext cx="2990088" cy="297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12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可信用户 · 本机 · 多模型开发协作</a:t>
            </a:r>
            <a:endParaRPr lang="zh-CN" sz="1512"/>
          </a:p>
        </p:txBody>
      </p:sp>
      <p:sp>
        <p:nvSpPr>
          <p:cNvPr id="5" name="text 5"/>
          <p:cNvSpPr txBox="1"/>
          <p:nvPr/>
        </p:nvSpPr>
        <p:spPr>
          <a:xfrm>
            <a:off x="731520" y="2130552"/>
            <a:ext cx="4389120" cy="11055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561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让模型并行，</a:t>
            </a:r>
            <a:endParaRPr lang="zh-CN" sz="5616"/>
          </a:p>
        </p:txBody>
      </p:sp>
      <p:sp>
        <p:nvSpPr>
          <p:cNvPr id="6" name="text 6"/>
          <p:cNvSpPr txBox="1"/>
          <p:nvPr/>
        </p:nvSpPr>
        <p:spPr>
          <a:xfrm>
            <a:off x="731520" y="3090672"/>
            <a:ext cx="4389120" cy="11055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5616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让结果可信。</a:t>
            </a:r>
            <a:endParaRPr lang="zh-CN" sz="5616"/>
          </a:p>
        </p:txBody>
      </p:sp>
      <p:sp>
        <p:nvSpPr>
          <p:cNvPr id="7" name="text 7"/>
          <p:cNvSpPr txBox="1"/>
          <p:nvPr/>
        </p:nvSpPr>
        <p:spPr>
          <a:xfrm>
            <a:off x="768096" y="4315968"/>
            <a:ext cx="541324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agentd 从零重写：需求、架构与设计取舍</a:t>
            </a:r>
            <a:endParaRPr lang="zh-CN" sz="2232"/>
          </a:p>
        </p:txBody>
      </p:sp>
      <p:sp>
        <p:nvSpPr>
          <p:cNvPr id="8" name="text 8"/>
          <p:cNvSpPr txBox="1"/>
          <p:nvPr/>
        </p:nvSpPr>
        <p:spPr>
          <a:xfrm>
            <a:off x="768096" y="4956048"/>
            <a:ext cx="492861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把任务交出去，把判决和进度留得住。</a:t>
            </a:r>
            <a:endParaRPr lang="zh-CN" sz="2232"/>
          </a:p>
        </p:txBody>
      </p:sp>
      <p:sp>
        <p:nvSpPr>
          <p:cNvPr id="9" name="rect 9"/>
          <p:cNvSpPr/>
          <p:nvPr/>
        </p:nvSpPr>
        <p:spPr>
          <a:xfrm>
            <a:off x="9601200" y="2048256"/>
            <a:ext cx="2011680" cy="1051560"/>
          </a:xfrm>
          <a:prstGeom prst="roundRect">
            <a:avLst>
              <a:gd name="adj" fmla="val 1565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29800" y="2231136"/>
            <a:ext cx="731520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主线</a:t>
            </a:r>
            <a:endParaRPr lang="zh-CN" sz="2448"/>
          </a:p>
        </p:txBody>
      </p:sp>
      <p:sp>
        <p:nvSpPr>
          <p:cNvPr id="11" name="text 11"/>
          <p:cNvSpPr txBox="1"/>
          <p:nvPr/>
        </p:nvSpPr>
        <p:spPr>
          <a:xfrm>
            <a:off x="9829800" y="268833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定义目标</a:t>
            </a:r>
            <a:endParaRPr lang="zh-CN" sz="1656"/>
          </a:p>
        </p:txBody>
      </p:sp>
      <p:sp>
        <p:nvSpPr>
          <p:cNvPr id="12" name="rect 12"/>
          <p:cNvSpPr/>
          <p:nvPr/>
        </p:nvSpPr>
        <p:spPr>
          <a:xfrm>
            <a:off x="11567160" y="3328416"/>
            <a:ext cx="2011680" cy="1051560"/>
          </a:xfrm>
          <a:prstGeom prst="roundRect">
            <a:avLst>
              <a:gd name="adj" fmla="val 1565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1795760" y="3511296"/>
            <a:ext cx="1197864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worker</a:t>
            </a:r>
            <a:endParaRPr lang="zh-CN" sz="2448"/>
          </a:p>
        </p:txBody>
      </p:sp>
      <p:sp>
        <p:nvSpPr>
          <p:cNvPr id="14" name="text 14"/>
          <p:cNvSpPr txBox="1"/>
          <p:nvPr/>
        </p:nvSpPr>
        <p:spPr>
          <a:xfrm>
            <a:off x="11795760" y="396849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并行执行</a:t>
            </a:r>
            <a:endParaRPr lang="zh-CN" sz="1656"/>
          </a:p>
        </p:txBody>
      </p:sp>
      <p:sp>
        <p:nvSpPr>
          <p:cNvPr id="15" name="rect 15"/>
          <p:cNvSpPr/>
          <p:nvPr/>
        </p:nvSpPr>
        <p:spPr>
          <a:xfrm>
            <a:off x="9601200" y="4608576"/>
            <a:ext cx="2011680" cy="1051560"/>
          </a:xfrm>
          <a:prstGeom prst="roundRect">
            <a:avLst>
              <a:gd name="adj" fmla="val 1565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829800" y="4791456"/>
            <a:ext cx="731520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独审</a:t>
            </a:r>
            <a:endParaRPr lang="zh-CN" sz="2448"/>
          </a:p>
        </p:txBody>
      </p:sp>
      <p:sp>
        <p:nvSpPr>
          <p:cNvPr id="17" name="text 17"/>
          <p:cNvSpPr txBox="1"/>
          <p:nvPr/>
        </p:nvSpPr>
        <p:spPr>
          <a:xfrm>
            <a:off x="9829800" y="524865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判断成果</a:t>
            </a:r>
            <a:endParaRPr lang="zh-CN" sz="1656"/>
          </a:p>
        </p:txBody>
      </p:sp>
      <p:sp>
        <p:nvSpPr>
          <p:cNvPr id="18" name="line 18"/>
          <p:cNvSpPr/>
          <p:nvPr/>
        </p:nvSpPr>
        <p:spPr>
          <a:xfrm>
            <a:off x="10607040" y="3108960"/>
            <a:ext cx="1645920" cy="182880"/>
          </a:xfrm>
          <a:prstGeom prst="line">
            <a:avLst/>
          </a:prstGeom>
          <a:noFill/>
          <a:ln w="27432">
            <a:solidFill>
              <a:srgbClr val="F1C887"/>
            </a:solidFill>
          </a:ln>
        </p:spPr>
      </p:sp>
      <p:sp>
        <p:nvSpPr>
          <p:cNvPr id="19" name="poly 19"/>
          <p:cNvSpPr/>
          <p:nvPr/>
        </p:nvSpPr>
        <p:spPr>
          <a:xfrm>
            <a:off x="12149489" y="3233493"/>
            <a:ext cx="103471" cy="94872"/>
          </a:xfrm>
          <a:custGeom>
            <a:avLst/>
            <a:gdLst/>
            <a:ahLst/>
            <a:cxnLst/>
            <a:rect l="0" t="0" r="r" b="b"/>
            <a:pathLst>
              <a:path w="103471" h="94872">
                <a:moveTo>
                  <a:pt x="103471" y="58347"/>
                </a:moveTo>
                <a:lnTo>
                  <a:pt x="0" y="94872"/>
                </a:lnTo>
                <a:lnTo>
                  <a:pt x="10541" y="0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 flipH="1">
            <a:off x="10607040" y="4389120"/>
            <a:ext cx="1645920" cy="182880"/>
          </a:xfrm>
          <a:prstGeom prst="line">
            <a:avLst/>
          </a:prstGeom>
          <a:noFill/>
          <a:ln w="27432">
            <a:solidFill>
              <a:srgbClr val="F1C887"/>
            </a:solidFill>
          </a:ln>
        </p:spPr>
      </p:sp>
      <p:sp>
        <p:nvSpPr>
          <p:cNvPr id="21" name="poly 21"/>
          <p:cNvSpPr/>
          <p:nvPr/>
        </p:nvSpPr>
        <p:spPr>
          <a:xfrm>
            <a:off x="10607040" y="4513653"/>
            <a:ext cx="103471" cy="94872"/>
          </a:xfrm>
          <a:custGeom>
            <a:avLst/>
            <a:gdLst/>
            <a:ahLst/>
            <a:cxnLst/>
            <a:rect l="0" t="0" r="r" b="b"/>
            <a:pathLst>
              <a:path w="103471" h="94872">
                <a:moveTo>
                  <a:pt x="0" y="58347"/>
                </a:moveTo>
                <a:lnTo>
                  <a:pt x="92929" y="0"/>
                </a:lnTo>
                <a:lnTo>
                  <a:pt x="103471" y="94872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 flipH="1">
            <a:off x="8961120" y="5102352"/>
            <a:ext cx="457200" cy="1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23" name="line 23"/>
          <p:cNvSpPr/>
          <p:nvPr/>
        </p:nvSpPr>
        <p:spPr>
          <a:xfrm flipV="1">
            <a:off x="8961120" y="2560320"/>
            <a:ext cx="1" cy="2542032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24" name="line 24"/>
          <p:cNvSpPr/>
          <p:nvPr/>
        </p:nvSpPr>
        <p:spPr>
          <a:xfrm>
            <a:off x="8961120" y="2560320"/>
            <a:ext cx="530352" cy="1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25" name="poly 25"/>
          <p:cNvSpPr/>
          <p:nvPr/>
        </p:nvSpPr>
        <p:spPr>
          <a:xfrm>
            <a:off x="9392668" y="251259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ABC8BE"/>
          </a:solidFill>
          <a:ln>
            <a:noFill/>
          </a:ln>
        </p:spPr>
      </p:sp>
      <p:sp>
        <p:nvSpPr>
          <p:cNvPr id="26" name="rect 26"/>
          <p:cNvSpPr/>
          <p:nvPr/>
        </p:nvSpPr>
        <p:spPr>
          <a:xfrm>
            <a:off x="731520" y="6245352"/>
            <a:ext cx="13167360" cy="1024128"/>
          </a:xfrm>
          <a:prstGeom prst="roundRect">
            <a:avLst>
              <a:gd name="adj" fmla="val 14286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969264" y="6473952"/>
            <a:ext cx="192024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01–06  快速概览</a:t>
            </a:r>
            <a:endParaRPr lang="zh-CN" sz="1872"/>
          </a:p>
        </p:txBody>
      </p:sp>
      <p:sp>
        <p:nvSpPr>
          <p:cNvPr id="28" name="text 28"/>
          <p:cNvSpPr txBox="1"/>
          <p:nvPr/>
        </p:nvSpPr>
        <p:spPr>
          <a:xfrm>
            <a:off x="5358384" y="6473952"/>
            <a:ext cx="215798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07–30  需求与架构</a:t>
            </a:r>
            <a:endParaRPr lang="zh-CN" sz="1872"/>
          </a:p>
        </p:txBody>
      </p:sp>
      <p:sp>
        <p:nvSpPr>
          <p:cNvPr id="29" name="text 29"/>
          <p:cNvSpPr txBox="1"/>
          <p:nvPr/>
        </p:nvSpPr>
        <p:spPr>
          <a:xfrm>
            <a:off x="10113264" y="6473952"/>
            <a:ext cx="192024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31–36  证据附录</a:t>
            </a:r>
            <a:endParaRPr lang="zh-CN" sz="1872"/>
          </a:p>
        </p:txBody>
      </p:sp>
      <p:sp>
        <p:nvSpPr>
          <p:cNvPr id="30" name="text 30"/>
          <p:cNvSpPr txBox="1"/>
          <p:nvPr/>
        </p:nvSpPr>
        <p:spPr>
          <a:xfrm>
            <a:off x="969264" y="6885432"/>
            <a:ext cx="6547104" cy="311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84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先抓住结论，再按问题深入。当前：候选设计与契约；新服务尚未实施。</a:t>
            </a:r>
            <a:endParaRPr lang="zh-CN" sz="1584"/>
          </a:p>
        </p:txBody>
      </p:sp>
      <p:sp>
        <p:nvSpPr>
          <p:cNvPr id="31" name="text 31"/>
          <p:cNvSpPr txBox="1"/>
          <p:nvPr/>
        </p:nvSpPr>
        <p:spPr>
          <a:xfrm>
            <a:off x="731520" y="384048"/>
            <a:ext cx="2240280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AGENTD  /  需求与架构报告</a:t>
            </a:r>
            <a:endParaRPr lang="zh-CN" sz="1296"/>
          </a:p>
        </p:txBody>
      </p:sp>
      <p:sp>
        <p:nvSpPr>
          <p:cNvPr id="32" name="rect 32"/>
          <p:cNvSpPr/>
          <p:nvPr/>
        </p:nvSpPr>
        <p:spPr>
          <a:xfrm>
            <a:off x="12079224" y="320040"/>
            <a:ext cx="1819656" cy="301752"/>
          </a:xfrm>
          <a:prstGeom prst="roundRect">
            <a:avLst>
              <a:gd name="adj" fmla="val 2424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12188952" y="384048"/>
            <a:ext cx="170992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设计快照 · 2026-10-28</a:t>
            </a:r>
            <a:endParaRPr lang="zh-CN" sz="1152"/>
          </a:p>
        </p:txBody>
      </p:sp>
      <p:sp>
        <p:nvSpPr>
          <p:cNvPr id="34" name="line 34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1D4244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731520" y="7808976"/>
            <a:ext cx="235000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依据：需求 §1–2；架构总览；契约状态</a:t>
            </a:r>
            <a:endParaRPr lang="zh-CN" sz="1008"/>
          </a:p>
        </p:txBody>
      </p:sp>
      <p:sp>
        <p:nvSpPr>
          <p:cNvPr id="36" name="text 36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01 / 36</a:t>
            </a:r>
            <a:endParaRPr lang="zh-CN" sz="136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60 秒：这个项目要交付什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240280"/>
            <a:ext cx="424281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50976" y="2395728"/>
            <a:ext cx="841248" cy="92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68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lang="zh-CN" sz="4680"/>
          </a:p>
        </p:txBody>
      </p:sp>
      <p:sp>
        <p:nvSpPr>
          <p:cNvPr id="5" name="text 5"/>
          <p:cNvSpPr txBox="1"/>
          <p:nvPr/>
        </p:nvSpPr>
        <p:spPr>
          <a:xfrm>
            <a:off x="950976" y="3163824"/>
            <a:ext cx="124358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并行吞吐</a:t>
            </a:r>
            <a:endParaRPr lang="zh-CN" sz="2232"/>
          </a:p>
        </p:txBody>
      </p:sp>
      <p:sp>
        <p:nvSpPr>
          <p:cNvPr id="6" name="text 6"/>
          <p:cNvSpPr txBox="1"/>
          <p:nvPr/>
        </p:nvSpPr>
        <p:spPr>
          <a:xfrm>
            <a:off x="950976" y="3657600"/>
            <a:ext cx="3767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让多个独立任务同时推进，减少串行</a:t>
            </a:r>
            <a:endParaRPr lang="zh-CN" sz="1800"/>
          </a:p>
        </p:txBody>
      </p:sp>
      <p:sp>
        <p:nvSpPr>
          <p:cNvPr id="7" name="text 7"/>
          <p:cNvSpPr txBox="1"/>
          <p:nvPr/>
        </p:nvSpPr>
        <p:spPr>
          <a:xfrm>
            <a:off x="950976" y="3973068"/>
            <a:ext cx="795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等待。</a:t>
            </a:r>
            <a:endParaRPr lang="zh-CN" sz="1800"/>
          </a:p>
        </p:txBody>
      </p:sp>
      <p:sp>
        <p:nvSpPr>
          <p:cNvPr id="8" name="rect 8"/>
          <p:cNvSpPr/>
          <p:nvPr/>
        </p:nvSpPr>
        <p:spPr>
          <a:xfrm>
            <a:off x="5193792" y="2240280"/>
            <a:ext cx="424281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413248" y="2395728"/>
            <a:ext cx="841248" cy="92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680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02</a:t>
            </a:r>
            <a:endParaRPr lang="zh-CN" sz="4680"/>
          </a:p>
        </p:txBody>
      </p:sp>
      <p:sp>
        <p:nvSpPr>
          <p:cNvPr id="10" name="text 10"/>
          <p:cNvSpPr txBox="1"/>
          <p:nvPr/>
        </p:nvSpPr>
        <p:spPr>
          <a:xfrm>
            <a:off x="5413248" y="3163824"/>
            <a:ext cx="124358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合理用模</a:t>
            </a:r>
            <a:endParaRPr lang="zh-CN" sz="2232"/>
          </a:p>
        </p:txBody>
      </p:sp>
      <p:sp>
        <p:nvSpPr>
          <p:cNvPr id="11" name="text 11"/>
          <p:cNvSpPr txBox="1"/>
          <p:nvPr/>
        </p:nvSpPr>
        <p:spPr>
          <a:xfrm>
            <a:off x="5413248" y="3657600"/>
            <a:ext cx="391363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主线给难度，agentd 在固定池中选择</a:t>
            </a:r>
            <a:endParaRPr lang="zh-CN" sz="1800"/>
          </a:p>
        </p:txBody>
      </p:sp>
      <p:sp>
        <p:nvSpPr>
          <p:cNvPr id="12" name="text 12"/>
          <p:cNvSpPr txBox="1"/>
          <p:nvPr/>
        </p:nvSpPr>
        <p:spPr>
          <a:xfrm>
            <a:off x="5413248" y="3973068"/>
            <a:ext cx="1252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执行模型。</a:t>
            </a:r>
            <a:endParaRPr lang="zh-CN" sz="1800"/>
          </a:p>
        </p:txBody>
      </p:sp>
      <p:sp>
        <p:nvSpPr>
          <p:cNvPr id="13" name="rect 13"/>
          <p:cNvSpPr/>
          <p:nvPr/>
        </p:nvSpPr>
        <p:spPr>
          <a:xfrm>
            <a:off x="9656064" y="2240280"/>
            <a:ext cx="424281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875520" y="2395728"/>
            <a:ext cx="841248" cy="92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680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03</a:t>
            </a:r>
            <a:endParaRPr lang="zh-CN" sz="4680"/>
          </a:p>
        </p:txBody>
      </p:sp>
      <p:sp>
        <p:nvSpPr>
          <p:cNvPr id="15" name="text 15"/>
          <p:cNvSpPr txBox="1"/>
          <p:nvPr/>
        </p:nvSpPr>
        <p:spPr>
          <a:xfrm>
            <a:off x="9875520" y="3163824"/>
            <a:ext cx="124358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持续学习</a:t>
            </a:r>
            <a:endParaRPr lang="zh-CN" sz="2232"/>
          </a:p>
        </p:txBody>
      </p:sp>
      <p:sp>
        <p:nvSpPr>
          <p:cNvPr id="16" name="text 16"/>
          <p:cNvSpPr txBox="1"/>
          <p:nvPr/>
        </p:nvSpPr>
        <p:spPr>
          <a:xfrm>
            <a:off x="9875520" y="3657600"/>
            <a:ext cx="384048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按模型 × 难度积累结果，逐步形成分</a:t>
            </a:r>
            <a:endParaRPr lang="zh-CN" sz="1800"/>
          </a:p>
        </p:txBody>
      </p:sp>
      <p:sp>
        <p:nvSpPr>
          <p:cNvPr id="17" name="text 17"/>
          <p:cNvSpPr txBox="1"/>
          <p:nvPr/>
        </p:nvSpPr>
        <p:spPr>
          <a:xfrm>
            <a:off x="9875520" y="3973068"/>
            <a:ext cx="1024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配偏好。</a:t>
            </a:r>
            <a:endParaRPr lang="zh-CN" sz="1800"/>
          </a:p>
        </p:txBody>
      </p:sp>
      <p:sp>
        <p:nvSpPr>
          <p:cNvPr id="18" name="rect 18"/>
          <p:cNvSpPr/>
          <p:nvPr/>
        </p:nvSpPr>
        <p:spPr>
          <a:xfrm>
            <a:off x="731520" y="4617720"/>
            <a:ext cx="13167360" cy="1682496"/>
          </a:xfrm>
          <a:prstGeom prst="roundRect">
            <a:avLst>
              <a:gd name="adj" fmla="val 9783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024128" y="4855464"/>
            <a:ext cx="8833104" cy="496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20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主线定义任务  →  原生 worker 执行  →  独立 reviewer 判决</a:t>
            </a:r>
            <a:endParaRPr lang="zh-CN" sz="2520"/>
          </a:p>
        </p:txBody>
      </p:sp>
      <p:sp>
        <p:nvSpPr>
          <p:cNvPr id="20" name="text 20"/>
          <p:cNvSpPr txBox="1"/>
          <p:nvPr/>
        </p:nvSpPr>
        <p:spPr>
          <a:xfrm>
            <a:off x="1024128" y="5504688"/>
            <a:ext cx="74432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agentd 贯穿全程：保存、调度、监督、重试边界、通知、统计。</a:t>
            </a:r>
            <a:endParaRPr lang="zh-CN" sz="2016"/>
          </a:p>
        </p:txBody>
      </p:sp>
      <p:sp>
        <p:nvSpPr>
          <p:cNvPr id="21" name="rect 21"/>
          <p:cNvSpPr/>
          <p:nvPr/>
        </p:nvSpPr>
        <p:spPr>
          <a:xfrm>
            <a:off x="731520" y="6675120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50976" y="6821424"/>
            <a:ext cx="751636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当前可确认：需求与候选契约已整理；产品收益仍需真实任务实验。</a:t>
            </a:r>
            <a:endParaRPr lang="zh-CN" sz="1944"/>
          </a:p>
        </p:txBody>
      </p:sp>
      <p:sp>
        <p:nvSpPr>
          <p:cNvPr id="23" name="text 23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快速概览</a:t>
            </a:r>
            <a:endParaRPr lang="zh-CN" sz="1296"/>
          </a:p>
        </p:txBody>
      </p:sp>
      <p:sp>
        <p:nvSpPr>
          <p:cNvPr id="24" name="text 24"/>
          <p:cNvSpPr txBox="1"/>
          <p:nvPr/>
        </p:nvSpPr>
        <p:spPr>
          <a:xfrm>
            <a:off x="731520" y="850392"/>
            <a:ext cx="5614416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60 秒：这个项目要交付什么</a:t>
            </a:r>
            <a:endParaRPr lang="zh-CN" sz="3456"/>
          </a:p>
        </p:txBody>
      </p:sp>
      <p:sp>
        <p:nvSpPr>
          <p:cNvPr id="25" name="text 25"/>
          <p:cNvSpPr txBox="1"/>
          <p:nvPr/>
        </p:nvSpPr>
        <p:spPr>
          <a:xfrm>
            <a:off x="749808" y="1536192"/>
            <a:ext cx="7196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一套可信本机上的任务协作系统，让模型团队持续交付可独审的成果。</a:t>
            </a:r>
            <a:endParaRPr lang="zh-CN" sz="1800"/>
          </a:p>
        </p:txBody>
      </p:sp>
      <p:sp>
        <p:nvSpPr>
          <p:cNvPr id="26" name="rect 26"/>
          <p:cNvSpPr/>
          <p:nvPr/>
        </p:nvSpPr>
        <p:spPr>
          <a:xfrm>
            <a:off x="11850624" y="320040"/>
            <a:ext cx="204825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1960352" y="384048"/>
            <a:ext cx="193852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产品目标 / F · 当前状态</a:t>
            </a:r>
            <a:endParaRPr lang="zh-CN" sz="1152"/>
          </a:p>
        </p:txBody>
      </p:sp>
      <p:sp>
        <p:nvSpPr>
          <p:cNvPr id="28" name="line 28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31520" y="7808976"/>
            <a:ext cx="196596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依据：需求 §1–2；契约证明边界</a:t>
            </a:r>
            <a:endParaRPr lang="zh-CN" sz="1008"/>
          </a:p>
        </p:txBody>
      </p:sp>
      <p:sp>
        <p:nvSpPr>
          <p:cNvPr id="30" name="text 30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02 / 36</a:t>
            </a:r>
            <a:endParaRPr lang="zh-CN" sz="136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并行开工容易，可靠交付需要规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76272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86000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并行任务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3026664" y="2286000"/>
            <a:ext cx="17922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回来时看到的现象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6912864" y="2286000"/>
            <a:ext cx="242316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系统需要给出的确定答案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60904"/>
            <a:ext cx="1316736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98064"/>
            <a:ext cx="85953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任务 A</a:t>
            </a:r>
            <a:endParaRPr lang="zh-CN" sz="1944"/>
          </a:p>
        </p:txBody>
      </p:sp>
      <p:sp>
        <p:nvSpPr>
          <p:cNvPr id="9" name="text 9"/>
          <p:cNvSpPr txBox="1"/>
          <p:nvPr/>
        </p:nvSpPr>
        <p:spPr>
          <a:xfrm>
            <a:off x="3026664" y="2798064"/>
            <a:ext cx="172821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worker 已退出</a:t>
            </a:r>
            <a:endParaRPr lang="zh-CN" sz="1944"/>
          </a:p>
        </p:txBody>
      </p:sp>
      <p:sp>
        <p:nvSpPr>
          <p:cNvPr id="10" name="text 10"/>
          <p:cNvSpPr txBox="1"/>
          <p:nvPr/>
        </p:nvSpPr>
        <p:spPr>
          <a:xfrm>
            <a:off x="6912864" y="2798064"/>
            <a:ext cx="405993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候选是否完整？独立审核是否通过？</a:t>
            </a:r>
            <a:endParaRPr lang="zh-CN" sz="1944"/>
          </a:p>
        </p:txBody>
      </p:sp>
      <p:sp>
        <p:nvSpPr>
          <p:cNvPr id="11" name="rect 11"/>
          <p:cNvSpPr/>
          <p:nvPr/>
        </p:nvSpPr>
        <p:spPr>
          <a:xfrm>
            <a:off x="731520" y="3593592"/>
            <a:ext cx="13167360" cy="93268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77824" y="3730752"/>
            <a:ext cx="84124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任务 B</a:t>
            </a:r>
            <a:endParaRPr lang="zh-CN" sz="1944"/>
          </a:p>
        </p:txBody>
      </p:sp>
      <p:sp>
        <p:nvSpPr>
          <p:cNvPr id="13" name="text 13"/>
          <p:cNvSpPr txBox="1"/>
          <p:nvPr/>
        </p:nvSpPr>
        <p:spPr>
          <a:xfrm>
            <a:off x="3026664" y="3730752"/>
            <a:ext cx="233172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资源超限，运行中断</a:t>
            </a:r>
            <a:endParaRPr lang="zh-CN" sz="1944"/>
          </a:p>
        </p:txBody>
      </p:sp>
      <p:sp>
        <p:nvSpPr>
          <p:cNvPr id="14" name="text 14"/>
          <p:cNvSpPr txBox="1"/>
          <p:nvPr/>
        </p:nvSpPr>
        <p:spPr>
          <a:xfrm>
            <a:off x="6912864" y="3730752"/>
            <a:ext cx="504748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进度保存在哪里？旧进程停了吗？如何继续？</a:t>
            </a:r>
            <a:endParaRPr lang="zh-CN" sz="1944"/>
          </a:p>
        </p:txBody>
      </p:sp>
      <p:sp>
        <p:nvSpPr>
          <p:cNvPr id="15" name="rect 15"/>
          <p:cNvSpPr/>
          <p:nvPr/>
        </p:nvSpPr>
        <p:spPr>
          <a:xfrm>
            <a:off x="731520" y="4526280"/>
            <a:ext cx="1316736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4663440"/>
            <a:ext cx="84124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任务 C</a:t>
            </a:r>
            <a:endParaRPr lang="zh-CN" sz="1944"/>
          </a:p>
        </p:txBody>
      </p:sp>
      <p:sp>
        <p:nvSpPr>
          <p:cNvPr id="17" name="text 17"/>
          <p:cNvSpPr txBox="1"/>
          <p:nvPr/>
        </p:nvSpPr>
        <p:spPr>
          <a:xfrm>
            <a:off x="3026664" y="4663440"/>
            <a:ext cx="288950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成果已交，reviewer 离线</a:t>
            </a:r>
            <a:endParaRPr lang="zh-CN" sz="1944"/>
          </a:p>
        </p:txBody>
      </p:sp>
      <p:sp>
        <p:nvSpPr>
          <p:cNvPr id="18" name="text 18"/>
          <p:cNvSpPr txBox="1"/>
          <p:nvPr/>
        </p:nvSpPr>
        <p:spPr>
          <a:xfrm>
            <a:off x="6912864" y="4663440"/>
            <a:ext cx="554126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原候选是否仍在队列？谁来领取？是否误计拒绝？</a:t>
            </a:r>
            <a:endParaRPr lang="zh-CN" sz="1944"/>
          </a:p>
        </p:txBody>
      </p:sp>
      <p:sp>
        <p:nvSpPr>
          <p:cNvPr id="19" name="rect 19"/>
          <p:cNvSpPr/>
          <p:nvPr/>
        </p:nvSpPr>
        <p:spPr>
          <a:xfrm>
            <a:off x="731520" y="5715000"/>
            <a:ext cx="6400800" cy="1472184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rect 20"/>
          <p:cNvSpPr/>
          <p:nvPr/>
        </p:nvSpPr>
        <p:spPr>
          <a:xfrm>
            <a:off x="731520" y="592531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60120" y="5952744"/>
            <a:ext cx="152704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可见的价值</a:t>
            </a:r>
            <a:endParaRPr lang="zh-CN" sz="2232"/>
          </a:p>
        </p:txBody>
      </p:sp>
      <p:sp>
        <p:nvSpPr>
          <p:cNvPr id="22" name="text 22"/>
          <p:cNvSpPr txBox="1"/>
          <p:nvPr/>
        </p:nvSpPr>
        <p:spPr>
          <a:xfrm>
            <a:off x="960120" y="6528816"/>
            <a:ext cx="462686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主线接回任务时，能直接作出下一步决定。</a:t>
            </a:r>
            <a:endParaRPr lang="zh-CN" sz="1872"/>
          </a:p>
        </p:txBody>
      </p:sp>
      <p:sp>
        <p:nvSpPr>
          <p:cNvPr id="23" name="rect 23"/>
          <p:cNvSpPr/>
          <p:nvPr/>
        </p:nvSpPr>
        <p:spPr>
          <a:xfrm>
            <a:off x="7351776" y="5715000"/>
            <a:ext cx="6547104" cy="1472184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rect 24"/>
          <p:cNvSpPr/>
          <p:nvPr/>
        </p:nvSpPr>
        <p:spPr>
          <a:xfrm>
            <a:off x="7351776" y="592531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7580376" y="5952744"/>
            <a:ext cx="209397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隐含的工程责任</a:t>
            </a:r>
            <a:endParaRPr lang="zh-CN" sz="2232"/>
          </a:p>
        </p:txBody>
      </p:sp>
      <p:sp>
        <p:nvSpPr>
          <p:cNvPr id="26" name="text 26"/>
          <p:cNvSpPr txBox="1"/>
          <p:nvPr/>
        </p:nvSpPr>
        <p:spPr>
          <a:xfrm>
            <a:off x="7580376" y="6528816"/>
            <a:ext cx="5340096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每次重启、重发和清理，都保持同一份业务事实。</a:t>
            </a:r>
            <a:endParaRPr lang="zh-CN" sz="1872"/>
          </a:p>
        </p:txBody>
      </p:sp>
      <p:sp>
        <p:nvSpPr>
          <p:cNvPr id="27" name="text 27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快速概览</a:t>
            </a:r>
            <a:endParaRPr lang="zh-CN" sz="1296"/>
          </a:p>
        </p:txBody>
      </p:sp>
      <p:sp>
        <p:nvSpPr>
          <p:cNvPr id="28" name="text 28"/>
          <p:cNvSpPr txBox="1"/>
          <p:nvPr/>
        </p:nvSpPr>
        <p:spPr>
          <a:xfrm>
            <a:off x="731520" y="850392"/>
            <a:ext cx="669340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并行开工容易，可靠交付需要规则</a:t>
            </a:r>
            <a:endParaRPr lang="zh-CN" sz="3456"/>
          </a:p>
        </p:txBody>
      </p:sp>
      <p:sp>
        <p:nvSpPr>
          <p:cNvPr id="29" name="text 29"/>
          <p:cNvSpPr txBox="1"/>
          <p:nvPr/>
        </p:nvSpPr>
        <p:spPr>
          <a:xfrm>
            <a:off x="749808" y="1536192"/>
            <a:ext cx="6281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情境示意：三个任务同时开始，主线一段时间后再回来查看。</a:t>
            </a:r>
            <a:endParaRPr lang="zh-CN" sz="1800"/>
          </a:p>
        </p:txBody>
      </p:sp>
      <p:sp>
        <p:nvSpPr>
          <p:cNvPr id="30" name="rect 30"/>
          <p:cNvSpPr/>
          <p:nvPr/>
        </p:nvSpPr>
        <p:spPr>
          <a:xfrm>
            <a:off x="12088368" y="320040"/>
            <a:ext cx="181051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12198096" y="384048"/>
            <a:ext cx="170078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需求动机 / 情境示意</a:t>
            </a:r>
            <a:endParaRPr lang="zh-CN" sz="1152"/>
          </a:p>
        </p:txBody>
      </p:sp>
      <p:sp>
        <p:nvSpPr>
          <p:cNvPr id="32" name="line 32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731520" y="7808976"/>
            <a:ext cx="219456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依据：需求 F01–F17；历史教训 §1.2</a:t>
            </a:r>
            <a:endParaRPr lang="zh-CN" sz="1008"/>
          </a:p>
        </p:txBody>
      </p:sp>
      <p:sp>
        <p:nvSpPr>
          <p:cNvPr id="34" name="text 34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03 / 36</a:t>
            </a:r>
            <a:endParaRPr lang="zh-CN" sz="136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六条规则，定义产品的性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76272"/>
            <a:ext cx="4242816" cy="2313432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38658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14016"/>
            <a:ext cx="148132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主线给难度</a:t>
            </a:r>
            <a:endParaRPr lang="zh-CN" sz="2160"/>
          </a:p>
        </p:txBody>
      </p:sp>
      <p:sp>
        <p:nvSpPr>
          <p:cNvPr id="6" name="text 6"/>
          <p:cNvSpPr txBox="1"/>
          <p:nvPr/>
        </p:nvSpPr>
        <p:spPr>
          <a:xfrm>
            <a:off x="960120" y="2990088"/>
            <a:ext cx="316382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模型选择由 agentd 完成。</a:t>
            </a:r>
            <a:endParaRPr lang="zh-CN" sz="2016"/>
          </a:p>
        </p:txBody>
      </p:sp>
      <p:sp>
        <p:nvSpPr>
          <p:cNvPr id="7" name="rect 7"/>
          <p:cNvSpPr/>
          <p:nvPr/>
        </p:nvSpPr>
        <p:spPr>
          <a:xfrm>
            <a:off x="5193792" y="2176272"/>
            <a:ext cx="4242816" cy="2313432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rect 8"/>
          <p:cNvSpPr/>
          <p:nvPr/>
        </p:nvSpPr>
        <p:spPr>
          <a:xfrm>
            <a:off x="5193792" y="238658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422392" y="2414016"/>
            <a:ext cx="1737360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PASS 即成功</a:t>
            </a:r>
            <a:endParaRPr lang="zh-CN" sz="2160"/>
          </a:p>
        </p:txBody>
      </p:sp>
      <p:sp>
        <p:nvSpPr>
          <p:cNvPr id="10" name="text 10"/>
          <p:cNvSpPr txBox="1"/>
          <p:nvPr/>
        </p:nvSpPr>
        <p:spPr>
          <a:xfrm>
            <a:off x="5422392" y="2990088"/>
            <a:ext cx="318211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无需追加采纳或合并关卡。</a:t>
            </a:r>
            <a:endParaRPr lang="zh-CN" sz="2016"/>
          </a:p>
        </p:txBody>
      </p:sp>
      <p:sp>
        <p:nvSpPr>
          <p:cNvPr id="11" name="rect 11"/>
          <p:cNvSpPr/>
          <p:nvPr/>
        </p:nvSpPr>
        <p:spPr>
          <a:xfrm>
            <a:off x="9656064" y="2176272"/>
            <a:ext cx="4242816" cy="2313432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9656064" y="238658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884664" y="2414016"/>
            <a:ext cx="230428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三次有效拒绝结束</a:t>
            </a:r>
            <a:endParaRPr lang="zh-CN" sz="2160"/>
          </a:p>
        </p:txBody>
      </p:sp>
      <p:sp>
        <p:nvSpPr>
          <p:cNvPr id="14" name="text 14"/>
          <p:cNvSpPr txBox="1"/>
          <p:nvPr/>
        </p:nvSpPr>
        <p:spPr>
          <a:xfrm>
            <a:off x="9884664" y="2990088"/>
            <a:ext cx="318211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三拒绝后由主线重新规划。</a:t>
            </a:r>
            <a:endParaRPr lang="zh-CN" sz="2016"/>
          </a:p>
        </p:txBody>
      </p:sp>
      <p:sp>
        <p:nvSpPr>
          <p:cNvPr id="15" name="rect 15"/>
          <p:cNvSpPr/>
          <p:nvPr/>
        </p:nvSpPr>
        <p:spPr>
          <a:xfrm>
            <a:off x="731520" y="4745736"/>
            <a:ext cx="4242816" cy="2313432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rect 16"/>
          <p:cNvSpPr/>
          <p:nvPr/>
        </p:nvSpPr>
        <p:spPr>
          <a:xfrm>
            <a:off x="731520" y="495604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60120" y="4983480"/>
            <a:ext cx="230428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故障保留接续能力</a:t>
            </a:r>
            <a:endParaRPr lang="zh-CN" sz="2160"/>
          </a:p>
        </p:txBody>
      </p:sp>
      <p:sp>
        <p:nvSpPr>
          <p:cNvPr id="18" name="text 18"/>
          <p:cNvSpPr txBox="1"/>
          <p:nvPr/>
        </p:nvSpPr>
        <p:spPr>
          <a:xfrm>
            <a:off x="960120" y="5559552"/>
            <a:ext cx="369417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故障次数与审核拒绝分开记录。</a:t>
            </a:r>
            <a:endParaRPr lang="zh-CN" sz="2016"/>
          </a:p>
        </p:txBody>
      </p:sp>
      <p:sp>
        <p:nvSpPr>
          <p:cNvPr id="19" name="rect 19"/>
          <p:cNvSpPr/>
          <p:nvPr/>
        </p:nvSpPr>
        <p:spPr>
          <a:xfrm>
            <a:off x="5193792" y="4745736"/>
            <a:ext cx="4242816" cy="2313432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rect 20"/>
          <p:cNvSpPr/>
          <p:nvPr/>
        </p:nvSpPr>
        <p:spPr>
          <a:xfrm>
            <a:off x="5193792" y="495604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422392" y="4983480"/>
            <a:ext cx="175564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保留原生能力</a:t>
            </a:r>
            <a:endParaRPr lang="zh-CN" sz="2160"/>
          </a:p>
        </p:txBody>
      </p:sp>
      <p:sp>
        <p:nvSpPr>
          <p:cNvPr id="22" name="text 22"/>
          <p:cNvSpPr txBox="1"/>
          <p:nvPr/>
        </p:nvSpPr>
        <p:spPr>
          <a:xfrm>
            <a:off x="5422392" y="5559552"/>
            <a:ext cx="372160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MCP、subagent、shell 与会话</a:t>
            </a:r>
            <a:endParaRPr lang="zh-CN" sz="2016"/>
          </a:p>
        </p:txBody>
      </p:sp>
      <p:sp>
        <p:nvSpPr>
          <p:cNvPr id="23" name="text 23"/>
          <p:cNvSpPr txBox="1"/>
          <p:nvPr/>
        </p:nvSpPr>
        <p:spPr>
          <a:xfrm>
            <a:off x="5422392" y="5933359"/>
            <a:ext cx="138988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继续可用。</a:t>
            </a:r>
            <a:endParaRPr lang="zh-CN" sz="2016"/>
          </a:p>
        </p:txBody>
      </p:sp>
      <p:sp>
        <p:nvSpPr>
          <p:cNvPr id="24" name="rect 24"/>
          <p:cNvSpPr/>
          <p:nvPr/>
        </p:nvSpPr>
        <p:spPr>
          <a:xfrm>
            <a:off x="9656064" y="4745736"/>
            <a:ext cx="4242816" cy="2313432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rect 25"/>
          <p:cNvSpPr/>
          <p:nvPr/>
        </p:nvSpPr>
        <p:spPr>
          <a:xfrm>
            <a:off x="9656064" y="495604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884664" y="4983480"/>
            <a:ext cx="230428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终态留作历史事实</a:t>
            </a:r>
            <a:endParaRPr lang="zh-CN" sz="2160"/>
          </a:p>
        </p:txBody>
      </p:sp>
      <p:sp>
        <p:nvSpPr>
          <p:cNvPr id="27" name="text 27"/>
          <p:cNvSpPr txBox="1"/>
          <p:nvPr/>
        </p:nvSpPr>
        <p:spPr>
          <a:xfrm>
            <a:off x="9884664" y="5559552"/>
            <a:ext cx="369417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修改目标或发现缺陷，建立关联</a:t>
            </a:r>
            <a:endParaRPr lang="zh-CN" sz="2016"/>
          </a:p>
        </p:txBody>
      </p:sp>
      <p:sp>
        <p:nvSpPr>
          <p:cNvPr id="28" name="text 28"/>
          <p:cNvSpPr txBox="1"/>
          <p:nvPr/>
        </p:nvSpPr>
        <p:spPr>
          <a:xfrm>
            <a:off x="9884664" y="5933359"/>
            <a:ext cx="113385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新任务。</a:t>
            </a:r>
            <a:endParaRPr lang="zh-CN" sz="2016"/>
          </a:p>
        </p:txBody>
      </p:sp>
      <p:sp>
        <p:nvSpPr>
          <p:cNvPr id="29" name="text 29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快速概览</a:t>
            </a:r>
            <a:endParaRPr lang="zh-CN" sz="1296"/>
          </a:p>
        </p:txBody>
      </p:sp>
      <p:sp>
        <p:nvSpPr>
          <p:cNvPr id="30" name="text 30"/>
          <p:cNvSpPr txBox="1"/>
          <p:nvPr/>
        </p:nvSpPr>
        <p:spPr>
          <a:xfrm>
            <a:off x="731520" y="850392"/>
            <a:ext cx="537667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六条规则，定义产品的性格</a:t>
            </a:r>
            <a:endParaRPr lang="zh-CN" sz="3456"/>
          </a:p>
        </p:txBody>
      </p:sp>
      <p:sp>
        <p:nvSpPr>
          <p:cNvPr id="31" name="text 31"/>
          <p:cNvSpPr txBox="1"/>
          <p:nvPr/>
        </p:nvSpPr>
        <p:spPr>
          <a:xfrm>
            <a:off x="749808" y="1536192"/>
            <a:ext cx="3995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后续架构都要服务于这些已确认边界。</a:t>
            </a:r>
            <a:endParaRPr lang="zh-CN" sz="1800"/>
          </a:p>
        </p:txBody>
      </p:sp>
      <p:sp>
        <p:nvSpPr>
          <p:cNvPr id="32" name="rect 32"/>
          <p:cNvSpPr/>
          <p:nvPr/>
        </p:nvSpPr>
        <p:spPr>
          <a:xfrm>
            <a:off x="12691872" y="320040"/>
            <a:ext cx="1207008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12801600" y="384048"/>
            <a:ext cx="1097280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已确认要求</a:t>
            </a:r>
            <a:endParaRPr lang="zh-CN" sz="1152"/>
          </a:p>
        </p:txBody>
      </p:sp>
      <p:sp>
        <p:nvSpPr>
          <p:cNvPr id="34" name="line 34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731520" y="7808976"/>
            <a:ext cx="276148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依据：需求 §2；任务终点 §4；不可降低的边界</a:t>
            </a:r>
            <a:endParaRPr lang="zh-CN" sz="1008"/>
          </a:p>
        </p:txBody>
      </p:sp>
      <p:sp>
        <p:nvSpPr>
          <p:cNvPr id="36" name="text 36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04 / 36</a:t>
            </a:r>
            <a:endParaRPr lang="zh-CN" sz="136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一张图：谁思考，谁执行，谁保证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2F32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67128"/>
            <a:ext cx="4297680" cy="914400"/>
          </a:xfrm>
          <a:prstGeom prst="roundRect">
            <a:avLst>
              <a:gd name="adj" fmla="val 14000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350008"/>
            <a:ext cx="151790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Dashboard</a:t>
            </a:r>
            <a:endParaRPr lang="zh-CN" sz="2016"/>
          </a:p>
        </p:txBody>
      </p:sp>
      <p:sp>
        <p:nvSpPr>
          <p:cNvPr id="5" name="text 5"/>
          <p:cNvSpPr txBox="1"/>
          <p:nvPr/>
        </p:nvSpPr>
        <p:spPr>
          <a:xfrm>
            <a:off x="932688" y="2670048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用户配置与管理</a:t>
            </a:r>
            <a:endParaRPr lang="zh-CN" sz="1656"/>
          </a:p>
        </p:txBody>
      </p:sp>
      <p:sp>
        <p:nvSpPr>
          <p:cNvPr id="6" name="line 6"/>
          <p:cNvSpPr/>
          <p:nvPr/>
        </p:nvSpPr>
        <p:spPr>
          <a:xfrm>
            <a:off x="2880360" y="3099816"/>
            <a:ext cx="1" cy="393192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7" name="poly 7"/>
          <p:cNvSpPr/>
          <p:nvPr/>
        </p:nvSpPr>
        <p:spPr>
          <a:xfrm>
            <a:off x="2832632" y="3394204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98804"/>
                </a:moveTo>
                <a:lnTo>
                  <a:pt x="0" y="0"/>
                </a:lnTo>
                <a:lnTo>
                  <a:pt x="95456" y="0"/>
                </a:lnTo>
                <a:close/>
              </a:path>
            </a:pathLst>
          </a:custGeom>
          <a:solidFill>
            <a:srgbClr val="ABC8BE"/>
          </a:solidFill>
          <a:ln>
            <a:noFill/>
          </a:ln>
        </p:spPr>
      </p:sp>
      <p:sp>
        <p:nvSpPr>
          <p:cNvPr id="8" name="rect 8"/>
          <p:cNvSpPr/>
          <p:nvPr/>
        </p:nvSpPr>
        <p:spPr>
          <a:xfrm>
            <a:off x="5166360" y="2167128"/>
            <a:ext cx="4297680" cy="914400"/>
          </a:xfrm>
          <a:prstGeom prst="roundRect">
            <a:avLst>
              <a:gd name="adj" fmla="val 14000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367528" y="2350008"/>
            <a:ext cx="14996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主线 Codex</a:t>
            </a:r>
            <a:endParaRPr lang="zh-CN" sz="2016"/>
          </a:p>
        </p:txBody>
      </p:sp>
      <p:sp>
        <p:nvSpPr>
          <p:cNvPr id="10" name="text 10"/>
          <p:cNvSpPr txBox="1"/>
          <p:nvPr/>
        </p:nvSpPr>
        <p:spPr>
          <a:xfrm>
            <a:off x="5367528" y="2670048"/>
            <a:ext cx="18105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任务 / 验收 / 难度</a:t>
            </a:r>
            <a:endParaRPr lang="zh-CN" sz="1656"/>
          </a:p>
        </p:txBody>
      </p:sp>
      <p:sp>
        <p:nvSpPr>
          <p:cNvPr id="11" name="line 11"/>
          <p:cNvSpPr/>
          <p:nvPr/>
        </p:nvSpPr>
        <p:spPr>
          <a:xfrm>
            <a:off x="7315200" y="3099816"/>
            <a:ext cx="1" cy="393192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12" name="poly 12"/>
          <p:cNvSpPr/>
          <p:nvPr/>
        </p:nvSpPr>
        <p:spPr>
          <a:xfrm>
            <a:off x="7267472" y="3394204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98804"/>
                </a:moveTo>
                <a:lnTo>
                  <a:pt x="0" y="0"/>
                </a:lnTo>
                <a:lnTo>
                  <a:pt x="95456" y="0"/>
                </a:lnTo>
                <a:close/>
              </a:path>
            </a:pathLst>
          </a:custGeom>
          <a:solidFill>
            <a:srgbClr val="ABC8BE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9601200" y="2167128"/>
            <a:ext cx="4297680" cy="914400"/>
          </a:xfrm>
          <a:prstGeom prst="roundRect">
            <a:avLst>
              <a:gd name="adj" fmla="val 14000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802368" y="2350008"/>
            <a:ext cx="179222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独立 reviewer</a:t>
            </a:r>
            <a:endParaRPr lang="zh-CN" sz="2016"/>
          </a:p>
        </p:txBody>
      </p:sp>
      <p:sp>
        <p:nvSpPr>
          <p:cNvPr id="15" name="text 15"/>
          <p:cNvSpPr txBox="1"/>
          <p:nvPr/>
        </p:nvSpPr>
        <p:spPr>
          <a:xfrm>
            <a:off x="9802368" y="2670048"/>
            <a:ext cx="18105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领取 / 验证 / 判决</a:t>
            </a:r>
            <a:endParaRPr lang="zh-CN" sz="1656"/>
          </a:p>
        </p:txBody>
      </p:sp>
      <p:sp>
        <p:nvSpPr>
          <p:cNvPr id="16" name="line 16"/>
          <p:cNvSpPr/>
          <p:nvPr/>
        </p:nvSpPr>
        <p:spPr>
          <a:xfrm>
            <a:off x="11750040" y="3099816"/>
            <a:ext cx="1" cy="393192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17" name="poly 17"/>
          <p:cNvSpPr/>
          <p:nvPr/>
        </p:nvSpPr>
        <p:spPr>
          <a:xfrm>
            <a:off x="11702312" y="3394204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98804"/>
                </a:moveTo>
                <a:lnTo>
                  <a:pt x="0" y="0"/>
                </a:lnTo>
                <a:lnTo>
                  <a:pt x="95456" y="0"/>
                </a:lnTo>
                <a:close/>
              </a:path>
            </a:pathLst>
          </a:custGeom>
          <a:solidFill>
            <a:srgbClr val="ABC8BE"/>
          </a:solidFill>
          <a:ln>
            <a:noFill/>
          </a:ln>
        </p:spPr>
      </p:sp>
      <p:sp>
        <p:nvSpPr>
          <p:cNvPr id="18" name="rect 18"/>
          <p:cNvSpPr/>
          <p:nvPr/>
        </p:nvSpPr>
        <p:spPr>
          <a:xfrm>
            <a:off x="731520" y="3520440"/>
            <a:ext cx="13167360" cy="1060704"/>
          </a:xfrm>
          <a:prstGeom prst="roundRect">
            <a:avLst>
              <a:gd name="adj" fmla="val 13793"/>
            </a:avLst>
          </a:prstGeom>
          <a:solidFill>
            <a:srgbClr val="1D4244"/>
          </a:solidFill>
          <a:ln w="13716">
            <a:solidFill>
              <a:srgbClr val="4C7D71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1005840" y="3721608"/>
            <a:ext cx="403250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统一 HTTP 接入 · 内部认证与授权</a:t>
            </a:r>
            <a:endParaRPr lang="zh-CN" sz="2016"/>
          </a:p>
        </p:txBody>
      </p:sp>
      <p:sp>
        <p:nvSpPr>
          <p:cNvPr id="20" name="text 20"/>
          <p:cNvSpPr txBox="1"/>
          <p:nvPr/>
        </p:nvSpPr>
        <p:spPr>
          <a:xfrm>
            <a:off x="1005840" y="4160520"/>
            <a:ext cx="792784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业务 daemon：任务  /  调度与执行  /  候选与审核  /  通知与查询  /  配置</a:t>
            </a:r>
            <a:endParaRPr lang="zh-CN" sz="1872"/>
          </a:p>
        </p:txBody>
      </p:sp>
      <p:sp>
        <p:nvSpPr>
          <p:cNvPr id="21" name="line 21"/>
          <p:cNvSpPr/>
          <p:nvPr/>
        </p:nvSpPr>
        <p:spPr>
          <a:xfrm>
            <a:off x="2880360" y="4599432"/>
            <a:ext cx="1" cy="429768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22" name="poly 22"/>
          <p:cNvSpPr/>
          <p:nvPr/>
        </p:nvSpPr>
        <p:spPr>
          <a:xfrm>
            <a:off x="2832632" y="4930396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98804"/>
                </a:moveTo>
                <a:lnTo>
                  <a:pt x="0" y="0"/>
                </a:lnTo>
                <a:lnTo>
                  <a:pt x="95456" y="0"/>
                </a:lnTo>
                <a:close/>
              </a:path>
            </a:pathLst>
          </a:custGeom>
          <a:solidFill>
            <a:srgbClr val="ABC8BE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315200" y="4599432"/>
            <a:ext cx="1" cy="429768"/>
          </a:xfrm>
          <a:prstGeom prst="line">
            <a:avLst/>
          </a:prstGeom>
          <a:noFill/>
          <a:ln w="18288">
            <a:solidFill>
              <a:srgbClr val="ABC8BE"/>
            </a:solidFill>
          </a:ln>
        </p:spPr>
      </p:sp>
      <p:sp>
        <p:nvSpPr>
          <p:cNvPr id="24" name="poly 24"/>
          <p:cNvSpPr/>
          <p:nvPr/>
        </p:nvSpPr>
        <p:spPr>
          <a:xfrm>
            <a:off x="7267472" y="4930396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98804"/>
                </a:moveTo>
                <a:lnTo>
                  <a:pt x="0" y="0"/>
                </a:lnTo>
                <a:lnTo>
                  <a:pt x="95456" y="0"/>
                </a:lnTo>
                <a:close/>
              </a:path>
            </a:pathLst>
          </a:custGeom>
          <a:solidFill>
            <a:srgbClr val="ABC8BE"/>
          </a:solidFill>
          <a:ln>
            <a:noFill/>
          </a:ln>
        </p:spPr>
      </p:sp>
      <p:sp>
        <p:nvSpPr>
          <p:cNvPr id="25" name="rect 25"/>
          <p:cNvSpPr/>
          <p:nvPr/>
        </p:nvSpPr>
        <p:spPr>
          <a:xfrm>
            <a:off x="731520" y="5056632"/>
            <a:ext cx="4297680" cy="1261872"/>
          </a:xfrm>
          <a:prstGeom prst="roundRect">
            <a:avLst>
              <a:gd name="adj" fmla="val 10145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32688" y="5239512"/>
            <a:ext cx="331012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原生 Claude Code workers</a:t>
            </a:r>
            <a:endParaRPr lang="zh-CN" sz="1944"/>
          </a:p>
        </p:txBody>
      </p:sp>
      <p:sp>
        <p:nvSpPr>
          <p:cNvPr id="27" name="text 27"/>
          <p:cNvSpPr txBox="1"/>
          <p:nvPr/>
        </p:nvSpPr>
        <p:spPr>
          <a:xfrm>
            <a:off x="932688" y="5678424"/>
            <a:ext cx="259689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宿主监督器 + 私有工作区</a:t>
            </a:r>
            <a:endParaRPr lang="zh-CN" sz="1728"/>
          </a:p>
        </p:txBody>
      </p:sp>
      <p:sp>
        <p:nvSpPr>
          <p:cNvPr id="28" name="text 28"/>
          <p:cNvSpPr txBox="1"/>
          <p:nvPr/>
        </p:nvSpPr>
        <p:spPr>
          <a:xfrm>
            <a:off x="932688" y="5985662"/>
            <a:ext cx="274320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本地后代共享该次执行预算</a:t>
            </a:r>
            <a:endParaRPr lang="zh-CN" sz="1728"/>
          </a:p>
        </p:txBody>
      </p:sp>
      <p:sp>
        <p:nvSpPr>
          <p:cNvPr id="29" name="rect 29"/>
          <p:cNvSpPr/>
          <p:nvPr/>
        </p:nvSpPr>
        <p:spPr>
          <a:xfrm>
            <a:off x="5257800" y="5056632"/>
            <a:ext cx="4297680" cy="1261872"/>
          </a:xfrm>
          <a:prstGeom prst="roundRect">
            <a:avLst>
              <a:gd name="adj" fmla="val 10145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5458968" y="5239512"/>
            <a:ext cx="237744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SQLite + Git / 文件</a:t>
            </a:r>
            <a:endParaRPr lang="zh-CN" sz="1944"/>
          </a:p>
        </p:txBody>
      </p:sp>
      <p:sp>
        <p:nvSpPr>
          <p:cNvPr id="31" name="text 31"/>
          <p:cNvSpPr txBox="1"/>
          <p:nvPr/>
        </p:nvSpPr>
        <p:spPr>
          <a:xfrm>
            <a:off x="5458968" y="5678424"/>
            <a:ext cx="296265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事务事实与成果正文分开保存</a:t>
            </a:r>
            <a:endParaRPr lang="zh-CN" sz="1728"/>
          </a:p>
        </p:txBody>
      </p:sp>
      <p:sp>
        <p:nvSpPr>
          <p:cNvPr id="32" name="text 32"/>
          <p:cNvSpPr txBox="1"/>
          <p:nvPr/>
        </p:nvSpPr>
        <p:spPr>
          <a:xfrm>
            <a:off x="5458968" y="5985662"/>
            <a:ext cx="274320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共同组成可恢复的数据资产</a:t>
            </a:r>
            <a:endParaRPr lang="zh-CN" sz="1728"/>
          </a:p>
        </p:txBody>
      </p:sp>
      <p:sp>
        <p:nvSpPr>
          <p:cNvPr id="33" name="rect 33"/>
          <p:cNvSpPr/>
          <p:nvPr/>
        </p:nvSpPr>
        <p:spPr>
          <a:xfrm>
            <a:off x="9784080" y="5056632"/>
            <a:ext cx="4114800" cy="1261872"/>
          </a:xfrm>
          <a:prstGeom prst="roundRect">
            <a:avLst>
              <a:gd name="adj" fmla="val 10145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9985248" y="5239512"/>
            <a:ext cx="210312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生命周期执行器 U</a:t>
            </a:r>
            <a:endParaRPr lang="zh-CN" sz="1944"/>
          </a:p>
        </p:txBody>
      </p:sp>
      <p:sp>
        <p:nvSpPr>
          <p:cNvPr id="35" name="text 35"/>
          <p:cNvSpPr txBox="1"/>
          <p:nvPr/>
        </p:nvSpPr>
        <p:spPr>
          <a:xfrm>
            <a:off x="9985248" y="5678424"/>
            <a:ext cx="315468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S 停止后继续安装 / 升级 / 卸载</a:t>
            </a:r>
            <a:endParaRPr lang="zh-CN" sz="1728"/>
          </a:p>
        </p:txBody>
      </p:sp>
      <p:sp>
        <p:nvSpPr>
          <p:cNvPr id="36" name="text 36"/>
          <p:cNvSpPr txBox="1"/>
          <p:nvPr/>
        </p:nvSpPr>
        <p:spPr>
          <a:xfrm>
            <a:off x="9985248" y="5985662"/>
            <a:ext cx="252374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独立操作记录与资源预算</a:t>
            </a:r>
            <a:endParaRPr lang="zh-CN" sz="1728"/>
          </a:p>
        </p:txBody>
      </p:sp>
      <p:sp>
        <p:nvSpPr>
          <p:cNvPr id="37" name="line 37"/>
          <p:cNvSpPr/>
          <p:nvPr/>
        </p:nvSpPr>
        <p:spPr>
          <a:xfrm>
            <a:off x="11841480" y="4599432"/>
            <a:ext cx="1" cy="429768"/>
          </a:xfrm>
          <a:prstGeom prst="line">
            <a:avLst/>
          </a:prstGeom>
          <a:noFill/>
          <a:ln w="18288">
            <a:solidFill>
              <a:srgbClr val="F1C887"/>
            </a:solidFill>
            <a:prstDash val="dash"/>
          </a:ln>
        </p:spPr>
      </p:sp>
      <p:sp>
        <p:nvSpPr>
          <p:cNvPr id="38" name="poly 38"/>
          <p:cNvSpPr/>
          <p:nvPr/>
        </p:nvSpPr>
        <p:spPr>
          <a:xfrm>
            <a:off x="11793752" y="4930396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98804"/>
                </a:moveTo>
                <a:lnTo>
                  <a:pt x="0" y="0"/>
                </a:lnTo>
                <a:lnTo>
                  <a:pt x="95456" y="0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749808" y="6821424"/>
            <a:ext cx="1023213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主线负责业务选择   ·   worker 负责产出   ·   reviewer 负责判决   ·   agentd 负责可靠推进</a:t>
            </a:r>
            <a:endParaRPr lang="zh-CN" sz="1944"/>
          </a:p>
        </p:txBody>
      </p:sp>
      <p:sp>
        <p:nvSpPr>
          <p:cNvPr id="40" name="text 40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AGENTD  /  快速概览</a:t>
            </a:r>
            <a:endParaRPr lang="zh-CN" sz="1296"/>
          </a:p>
        </p:txBody>
      </p:sp>
      <p:sp>
        <p:nvSpPr>
          <p:cNvPr id="41" name="text 41"/>
          <p:cNvSpPr txBox="1"/>
          <p:nvPr/>
        </p:nvSpPr>
        <p:spPr>
          <a:xfrm>
            <a:off x="731520" y="850392"/>
            <a:ext cx="757123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一张图：谁思考，谁执行，谁保证过程</a:t>
            </a:r>
            <a:endParaRPr lang="zh-CN" sz="3456"/>
          </a:p>
        </p:txBody>
      </p:sp>
      <p:sp>
        <p:nvSpPr>
          <p:cNvPr id="42" name="text 42"/>
          <p:cNvSpPr txBox="1"/>
          <p:nvPr/>
        </p:nvSpPr>
        <p:spPr>
          <a:xfrm>
            <a:off x="749808" y="1536192"/>
            <a:ext cx="793699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所有入口共享同一业务 daemon、同一权威状态；U 独立承担生命周期操作。</a:t>
            </a:r>
            <a:endParaRPr lang="zh-CN" sz="1800"/>
          </a:p>
        </p:txBody>
      </p:sp>
      <p:sp>
        <p:nvSpPr>
          <p:cNvPr id="43" name="rect 43"/>
          <p:cNvSpPr/>
          <p:nvPr/>
        </p:nvSpPr>
        <p:spPr>
          <a:xfrm>
            <a:off x="11814048" y="320040"/>
            <a:ext cx="2084832" cy="301752"/>
          </a:xfrm>
          <a:prstGeom prst="roundRect">
            <a:avLst>
              <a:gd name="adj" fmla="val 2424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1923776" y="384048"/>
            <a:ext cx="197510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R · 角色边界 / D · 结构方案</a:t>
            </a:r>
            <a:endParaRPr lang="zh-CN" sz="1152"/>
          </a:p>
        </p:txBody>
      </p:sp>
      <p:sp>
        <p:nvSpPr>
          <p:cNvPr id="45" name="line 45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1D4244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731520" y="7808976"/>
            <a:ext cx="228600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依据：系统组成与模块；统一运行拓扑</a:t>
            </a:r>
            <a:endParaRPr lang="zh-CN" sz="1008"/>
          </a:p>
        </p:txBody>
      </p:sp>
      <p:sp>
        <p:nvSpPr>
          <p:cNvPr id="47" name="text 47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05 / 36</a:t>
            </a:r>
            <a:endParaRPr lang="zh-CN" sz="136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交付路线：先跑通真实闭环，再补齐正式能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76272"/>
            <a:ext cx="402336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38658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14016"/>
            <a:ext cx="266090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现在：可审阅的设计</a:t>
            </a:r>
            <a:endParaRPr lang="zh-CN" sz="2232"/>
          </a:p>
        </p:txBody>
      </p:sp>
      <p:sp>
        <p:nvSpPr>
          <p:cNvPr id="6" name="text 6"/>
          <p:cNvSpPr txBox="1"/>
          <p:nvPr/>
        </p:nvSpPr>
        <p:spPr>
          <a:xfrm>
            <a:off x="960120" y="2990088"/>
            <a:ext cx="19019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需求与专题协议</a:t>
            </a:r>
            <a:endParaRPr lang="zh-CN" sz="2016"/>
          </a:p>
        </p:txBody>
      </p:sp>
      <p:sp>
        <p:nvSpPr>
          <p:cNvPr id="7" name="text 7"/>
          <p:cNvSpPr txBox="1"/>
          <p:nvPr/>
        </p:nvSpPr>
        <p:spPr>
          <a:xfrm>
            <a:off x="960120" y="3363895"/>
            <a:ext cx="25237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29 个操作的候选契约</a:t>
            </a:r>
            <a:endParaRPr lang="zh-CN" sz="2016"/>
          </a:p>
        </p:txBody>
      </p:sp>
      <p:sp>
        <p:nvSpPr>
          <p:cNvPr id="8" name="text 8"/>
          <p:cNvSpPr txBox="1"/>
          <p:nvPr/>
        </p:nvSpPr>
        <p:spPr>
          <a:xfrm>
            <a:off x="960120" y="3737701"/>
            <a:ext cx="19019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153 个注册模型</a:t>
            </a:r>
            <a:endParaRPr lang="zh-CN" sz="2016"/>
          </a:p>
        </p:txBody>
      </p:sp>
      <p:sp>
        <p:nvSpPr>
          <p:cNvPr id="9" name="text 9"/>
          <p:cNvSpPr txBox="1"/>
          <p:nvPr/>
        </p:nvSpPr>
        <p:spPr>
          <a:xfrm>
            <a:off x="960120" y="4111508"/>
            <a:ext cx="164592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离线检查通过</a:t>
            </a:r>
            <a:endParaRPr lang="zh-CN" sz="2016"/>
          </a:p>
        </p:txBody>
      </p:sp>
      <p:sp>
        <p:nvSpPr>
          <p:cNvPr id="10" name="rect 10"/>
          <p:cNvSpPr/>
          <p:nvPr/>
        </p:nvSpPr>
        <p:spPr>
          <a:xfrm>
            <a:off x="960120" y="5358384"/>
            <a:ext cx="2139696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106424" y="5422392"/>
            <a:ext cx="1956816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真实运行验收：NOT RUN</a:t>
            </a:r>
            <a:endParaRPr lang="zh-CN" sz="1224"/>
          </a:p>
        </p:txBody>
      </p:sp>
      <p:sp>
        <p:nvSpPr>
          <p:cNvPr id="12" name="rect 12"/>
          <p:cNvSpPr/>
          <p:nvPr/>
        </p:nvSpPr>
        <p:spPr>
          <a:xfrm>
            <a:off x="5074920" y="2176272"/>
            <a:ext cx="425196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5074920" y="238658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303520" y="2414016"/>
            <a:ext cx="246888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V0：内部可用闭环</a:t>
            </a:r>
            <a:endParaRPr lang="zh-CN" sz="2232"/>
          </a:p>
        </p:txBody>
      </p:sp>
      <p:sp>
        <p:nvSpPr>
          <p:cNvPr id="15" name="text 15"/>
          <p:cNvSpPr txBox="1"/>
          <p:nvPr/>
        </p:nvSpPr>
        <p:spPr>
          <a:xfrm>
            <a:off x="5303520" y="2990088"/>
            <a:ext cx="215798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单项目、独立任务</a:t>
            </a:r>
            <a:endParaRPr lang="zh-CN" sz="2016"/>
          </a:p>
        </p:txBody>
      </p:sp>
      <p:sp>
        <p:nvSpPr>
          <p:cNvPr id="16" name="text 16"/>
          <p:cNvSpPr txBox="1"/>
          <p:nvPr/>
        </p:nvSpPr>
        <p:spPr>
          <a:xfrm>
            <a:off x="5303520" y="3363895"/>
            <a:ext cx="27523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 worker / 至少 2 模型</a:t>
            </a:r>
            <a:endParaRPr lang="zh-CN" sz="2016"/>
          </a:p>
        </p:txBody>
      </p:sp>
      <p:sp>
        <p:nvSpPr>
          <p:cNvPr id="17" name="text 17"/>
          <p:cNvSpPr txBox="1"/>
          <p:nvPr/>
        </p:nvSpPr>
        <p:spPr>
          <a:xfrm>
            <a:off x="5303520" y="3737701"/>
            <a:ext cx="24140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随机择模、主动领取</a:t>
            </a:r>
            <a:endParaRPr lang="zh-CN" sz="2016"/>
          </a:p>
        </p:txBody>
      </p:sp>
      <p:sp>
        <p:nvSpPr>
          <p:cNvPr id="18" name="text 18"/>
          <p:cNvSpPr txBox="1"/>
          <p:nvPr/>
        </p:nvSpPr>
        <p:spPr>
          <a:xfrm>
            <a:off x="5303520" y="4111508"/>
            <a:ext cx="27523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显式恢复、最小 U 安装</a:t>
            </a:r>
            <a:endParaRPr lang="zh-CN" sz="2016"/>
          </a:p>
        </p:txBody>
      </p:sp>
      <p:sp>
        <p:nvSpPr>
          <p:cNvPr id="19" name="rect 19"/>
          <p:cNvSpPr/>
          <p:nvPr/>
        </p:nvSpPr>
        <p:spPr>
          <a:xfrm>
            <a:off x="5303520" y="5358384"/>
            <a:ext cx="1380744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449824" y="5422392"/>
            <a:ext cx="1197864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分期限制待接受</a:t>
            </a:r>
            <a:endParaRPr lang="zh-CN" sz="1224"/>
          </a:p>
        </p:txBody>
      </p:sp>
      <p:sp>
        <p:nvSpPr>
          <p:cNvPr id="21" name="rect 21"/>
          <p:cNvSpPr/>
          <p:nvPr/>
        </p:nvSpPr>
        <p:spPr>
          <a:xfrm>
            <a:off x="9646920" y="2176272"/>
            <a:ext cx="425196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rect 22"/>
          <p:cNvSpPr/>
          <p:nvPr/>
        </p:nvSpPr>
        <p:spPr>
          <a:xfrm>
            <a:off x="9646920" y="238658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875520" y="2414016"/>
            <a:ext cx="246888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V1：正式支持能力</a:t>
            </a:r>
            <a:endParaRPr lang="zh-CN" sz="2232"/>
          </a:p>
        </p:txBody>
      </p:sp>
      <p:sp>
        <p:nvSpPr>
          <p:cNvPr id="24" name="text 24"/>
          <p:cNvSpPr txBox="1"/>
          <p:nvPr/>
        </p:nvSpPr>
        <p:spPr>
          <a:xfrm>
            <a:off x="9875520" y="2990088"/>
            <a:ext cx="177393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固定依赖 DAG</a:t>
            </a:r>
            <a:endParaRPr lang="zh-CN" sz="2016"/>
          </a:p>
        </p:txBody>
      </p:sp>
      <p:sp>
        <p:nvSpPr>
          <p:cNvPr id="25" name="text 25"/>
          <p:cNvSpPr txBox="1"/>
          <p:nvPr/>
        </p:nvSpPr>
        <p:spPr>
          <a:xfrm>
            <a:off x="9875520" y="3363895"/>
            <a:ext cx="24140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通知与有限自动恢复</a:t>
            </a:r>
            <a:endParaRPr lang="zh-CN" sz="2016"/>
          </a:p>
        </p:txBody>
      </p:sp>
      <p:sp>
        <p:nvSpPr>
          <p:cNvPr id="26" name="text 26"/>
          <p:cNvSpPr txBox="1"/>
          <p:nvPr/>
        </p:nvSpPr>
        <p:spPr>
          <a:xfrm>
            <a:off x="9875520" y="3737701"/>
            <a:ext cx="215798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有证据的能力偏好</a:t>
            </a:r>
            <a:endParaRPr lang="zh-CN" sz="2016"/>
          </a:p>
        </p:txBody>
      </p:sp>
      <p:sp>
        <p:nvSpPr>
          <p:cNvPr id="27" name="text 27"/>
          <p:cNvSpPr txBox="1"/>
          <p:nvPr/>
        </p:nvSpPr>
        <p:spPr>
          <a:xfrm>
            <a:off x="9875520" y="4111508"/>
            <a:ext cx="267919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U 升级与保留数据卸载</a:t>
            </a:r>
            <a:endParaRPr lang="zh-CN" sz="2016"/>
          </a:p>
        </p:txBody>
      </p:sp>
      <p:sp>
        <p:nvSpPr>
          <p:cNvPr id="28" name="rect 28"/>
          <p:cNvSpPr/>
          <p:nvPr/>
        </p:nvSpPr>
        <p:spPr>
          <a:xfrm>
            <a:off x="9875520" y="5358384"/>
            <a:ext cx="1536192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10021824" y="5422392"/>
            <a:ext cx="1353312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支持环境逐项验收</a:t>
            </a:r>
            <a:endParaRPr lang="zh-CN" sz="1224"/>
          </a:p>
        </p:txBody>
      </p:sp>
      <p:sp>
        <p:nvSpPr>
          <p:cNvPr id="30" name="text 30"/>
          <p:cNvSpPr txBox="1"/>
          <p:nvPr/>
        </p:nvSpPr>
        <p:spPr>
          <a:xfrm>
            <a:off x="731520" y="6208776"/>
            <a:ext cx="640080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探针</a:t>
            </a:r>
            <a:endParaRPr lang="zh-CN" sz="2088"/>
          </a:p>
        </p:txBody>
      </p:sp>
      <p:sp>
        <p:nvSpPr>
          <p:cNvPr id="31" name="line 31"/>
          <p:cNvSpPr/>
          <p:nvPr/>
        </p:nvSpPr>
        <p:spPr>
          <a:xfrm>
            <a:off x="1572768" y="6391656"/>
            <a:ext cx="768096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32" name="poly 32"/>
          <p:cNvSpPr/>
          <p:nvPr/>
        </p:nvSpPr>
        <p:spPr>
          <a:xfrm>
            <a:off x="2242060" y="634392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2560320" y="6208776"/>
            <a:ext cx="117043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合同冻结</a:t>
            </a:r>
            <a:endParaRPr lang="zh-CN" sz="2088"/>
          </a:p>
        </p:txBody>
      </p:sp>
      <p:sp>
        <p:nvSpPr>
          <p:cNvPr id="34" name="line 34"/>
          <p:cNvSpPr/>
          <p:nvPr/>
        </p:nvSpPr>
        <p:spPr>
          <a:xfrm>
            <a:off x="3858768" y="6391656"/>
            <a:ext cx="859536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35" name="poly 35"/>
          <p:cNvSpPr/>
          <p:nvPr/>
        </p:nvSpPr>
        <p:spPr>
          <a:xfrm>
            <a:off x="4619500" y="634392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4937760" y="6208776"/>
            <a:ext cx="117043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真实任务</a:t>
            </a:r>
            <a:endParaRPr lang="zh-CN" sz="2088"/>
          </a:p>
        </p:txBody>
      </p:sp>
      <p:sp>
        <p:nvSpPr>
          <p:cNvPr id="37" name="line 37"/>
          <p:cNvSpPr/>
          <p:nvPr/>
        </p:nvSpPr>
        <p:spPr>
          <a:xfrm>
            <a:off x="6263640" y="6391656"/>
            <a:ext cx="859536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38" name="poly 38"/>
          <p:cNvSpPr/>
          <p:nvPr/>
        </p:nvSpPr>
        <p:spPr>
          <a:xfrm>
            <a:off x="7024372" y="634392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7342632" y="6208776"/>
            <a:ext cx="14356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故障与并行</a:t>
            </a:r>
            <a:endParaRPr lang="zh-CN" sz="2088"/>
          </a:p>
        </p:txBody>
      </p:sp>
      <p:sp>
        <p:nvSpPr>
          <p:cNvPr id="40" name="line 40"/>
          <p:cNvSpPr/>
          <p:nvPr/>
        </p:nvSpPr>
        <p:spPr>
          <a:xfrm>
            <a:off x="8933688" y="6391656"/>
            <a:ext cx="859536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41" name="poly 41"/>
          <p:cNvSpPr/>
          <p:nvPr/>
        </p:nvSpPr>
        <p:spPr>
          <a:xfrm>
            <a:off x="9694420" y="634392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10012680" y="6208776"/>
            <a:ext cx="107899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V1 扩展</a:t>
            </a:r>
            <a:endParaRPr lang="zh-CN" sz="2088"/>
          </a:p>
        </p:txBody>
      </p:sp>
      <p:sp>
        <p:nvSpPr>
          <p:cNvPr id="43" name="rect 43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950976" y="6967728"/>
            <a:ext cx="801014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首个交付里程碑：在实际安装产物中，跑通一条可取回成果的真实任务。</a:t>
            </a:r>
            <a:endParaRPr lang="zh-CN" sz="1944"/>
          </a:p>
        </p:txBody>
      </p:sp>
      <p:sp>
        <p:nvSpPr>
          <p:cNvPr id="45" name="text 45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快速概览</a:t>
            </a:r>
            <a:endParaRPr lang="zh-CN" sz="1296"/>
          </a:p>
        </p:txBody>
      </p:sp>
      <p:sp>
        <p:nvSpPr>
          <p:cNvPr id="46" name="text 46"/>
          <p:cNvSpPr txBox="1"/>
          <p:nvPr/>
        </p:nvSpPr>
        <p:spPr>
          <a:xfrm>
            <a:off x="731520" y="850392"/>
            <a:ext cx="888796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交付路线：先跑通真实闭环，再补齐正式能力</a:t>
            </a:r>
            <a:endParaRPr lang="zh-CN" sz="3456"/>
          </a:p>
        </p:txBody>
      </p:sp>
      <p:sp>
        <p:nvSpPr>
          <p:cNvPr id="47" name="text 47"/>
          <p:cNvSpPr txBox="1"/>
          <p:nvPr/>
        </p:nvSpPr>
        <p:spPr>
          <a:xfrm>
            <a:off x="749808" y="1536192"/>
            <a:ext cx="693115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V0 / V1 是候选交付范围；阶段限制须接受后定案，没有工期承诺。</a:t>
            </a:r>
            <a:endParaRPr lang="zh-CN" sz="1800"/>
          </a:p>
        </p:txBody>
      </p:sp>
      <p:sp>
        <p:nvSpPr>
          <p:cNvPr id="48" name="rect 48"/>
          <p:cNvSpPr/>
          <p:nvPr/>
        </p:nvSpPr>
        <p:spPr>
          <a:xfrm>
            <a:off x="12124944" y="320040"/>
            <a:ext cx="177393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12234672" y="384048"/>
            <a:ext cx="166420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F · 资料事实 / D · 分期</a:t>
            </a:r>
            <a:endParaRPr lang="zh-CN" sz="1152"/>
          </a:p>
        </p:txBody>
      </p:sp>
      <p:sp>
        <p:nvSpPr>
          <p:cNvPr id="50" name="line 50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731520" y="7808976"/>
            <a:ext cx="2907792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依据：V0 / V1 范围；工作包 A–E；离线契约检查</a:t>
            </a:r>
            <a:endParaRPr lang="zh-CN" sz="1008"/>
          </a:p>
        </p:txBody>
      </p:sp>
      <p:sp>
        <p:nvSpPr>
          <p:cNvPr id="52" name="text 52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06 / 36</a:t>
            </a:r>
            <a:endParaRPr lang="zh-CN" sz="136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跟随一条任务：从“请修复”到可读取成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377440"/>
            <a:ext cx="713232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441448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主线</a:t>
            </a:r>
            <a:endParaRPr lang="zh-CN" sz="1656"/>
          </a:p>
        </p:txBody>
      </p:sp>
      <p:sp>
        <p:nvSpPr>
          <p:cNvPr id="5" name="line 5"/>
          <p:cNvSpPr/>
          <p:nvPr/>
        </p:nvSpPr>
        <p:spPr>
          <a:xfrm>
            <a:off x="2194560" y="2916936"/>
            <a:ext cx="1" cy="3602736"/>
          </a:xfrm>
          <a:prstGeom prst="line">
            <a:avLst/>
          </a:prstGeom>
          <a:noFill/>
          <a:ln w="18288">
            <a:solidFill>
              <a:srgbClr val="D6DED6"/>
            </a:solidFill>
            <a:prstDash val="dash"/>
          </a:ln>
        </p:spPr>
      </p:sp>
      <p:sp>
        <p:nvSpPr>
          <p:cNvPr id="6" name="rect 6"/>
          <p:cNvSpPr/>
          <p:nvPr/>
        </p:nvSpPr>
        <p:spPr>
          <a:xfrm>
            <a:off x="4023360" y="2377440"/>
            <a:ext cx="1033272" cy="320040"/>
          </a:xfrm>
          <a:prstGeom prst="roundRect">
            <a:avLst>
              <a:gd name="adj" fmla="val 48571"/>
            </a:avLst>
          </a:prstGeom>
          <a:solidFill>
            <a:srgbClr val="E0EA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169664" y="2441448"/>
            <a:ext cx="85039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agentd</a:t>
            </a:r>
            <a:endParaRPr lang="zh-CN" sz="1656"/>
          </a:p>
        </p:txBody>
      </p:sp>
      <p:sp>
        <p:nvSpPr>
          <p:cNvPr id="8" name="line 8"/>
          <p:cNvSpPr/>
          <p:nvPr/>
        </p:nvSpPr>
        <p:spPr>
          <a:xfrm>
            <a:off x="5486400" y="2916936"/>
            <a:ext cx="1" cy="3602736"/>
          </a:xfrm>
          <a:prstGeom prst="line">
            <a:avLst/>
          </a:prstGeom>
          <a:noFill/>
          <a:ln w="18288">
            <a:solidFill>
              <a:srgbClr val="D6DED6"/>
            </a:solidFill>
            <a:prstDash val="dash"/>
          </a:ln>
        </p:spPr>
      </p:sp>
      <p:sp>
        <p:nvSpPr>
          <p:cNvPr id="9" name="rect 9"/>
          <p:cNvSpPr/>
          <p:nvPr/>
        </p:nvSpPr>
        <p:spPr>
          <a:xfrm>
            <a:off x="7315200" y="2377440"/>
            <a:ext cx="1042416" cy="320040"/>
          </a:xfrm>
          <a:prstGeom prst="roundRect">
            <a:avLst>
              <a:gd name="adj" fmla="val 48571"/>
            </a:avLst>
          </a:prstGeom>
          <a:solidFill>
            <a:srgbClr val="F4DEB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461504" y="2441448"/>
            <a:ext cx="8595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worker</a:t>
            </a:r>
            <a:endParaRPr lang="zh-CN" sz="1656"/>
          </a:p>
        </p:txBody>
      </p:sp>
      <p:sp>
        <p:nvSpPr>
          <p:cNvPr id="11" name="line 11"/>
          <p:cNvSpPr/>
          <p:nvPr/>
        </p:nvSpPr>
        <p:spPr>
          <a:xfrm>
            <a:off x="8778240" y="2916936"/>
            <a:ext cx="1" cy="3602736"/>
          </a:xfrm>
          <a:prstGeom prst="line">
            <a:avLst/>
          </a:prstGeom>
          <a:noFill/>
          <a:ln w="18288">
            <a:solidFill>
              <a:srgbClr val="D6DED6"/>
            </a:solidFill>
            <a:prstDash val="dash"/>
          </a:ln>
        </p:spPr>
      </p:sp>
      <p:sp>
        <p:nvSpPr>
          <p:cNvPr id="12" name="rect 12"/>
          <p:cNvSpPr/>
          <p:nvPr/>
        </p:nvSpPr>
        <p:spPr>
          <a:xfrm>
            <a:off x="10607040" y="2377440"/>
            <a:ext cx="1682496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753344" y="2441448"/>
            <a:ext cx="149961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独立 reviewer</a:t>
            </a:r>
            <a:endParaRPr lang="zh-CN" sz="1656"/>
          </a:p>
        </p:txBody>
      </p:sp>
      <p:sp>
        <p:nvSpPr>
          <p:cNvPr id="14" name="line 14"/>
          <p:cNvSpPr/>
          <p:nvPr/>
        </p:nvSpPr>
        <p:spPr>
          <a:xfrm>
            <a:off x="12070080" y="2916936"/>
            <a:ext cx="1" cy="3602736"/>
          </a:xfrm>
          <a:prstGeom prst="line">
            <a:avLst/>
          </a:prstGeom>
          <a:noFill/>
          <a:ln w="18288">
            <a:solidFill>
              <a:srgbClr val="D6DED6"/>
            </a:solidFill>
            <a:prstDash val="dash"/>
          </a:ln>
        </p:spPr>
      </p:sp>
      <p:sp>
        <p:nvSpPr>
          <p:cNvPr id="15" name="rect 15"/>
          <p:cNvSpPr/>
          <p:nvPr/>
        </p:nvSpPr>
        <p:spPr>
          <a:xfrm>
            <a:off x="731520" y="3136392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32688" y="3319272"/>
            <a:ext cx="151790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① 定义任务</a:t>
            </a:r>
            <a:endParaRPr lang="zh-CN" sz="2088"/>
          </a:p>
        </p:txBody>
      </p:sp>
      <p:sp>
        <p:nvSpPr>
          <p:cNvPr id="17" name="text 17"/>
          <p:cNvSpPr txBox="1"/>
          <p:nvPr/>
        </p:nvSpPr>
        <p:spPr>
          <a:xfrm>
            <a:off x="932688" y="3758184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目标、验收、难度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932688" y="4065422"/>
            <a:ext cx="134416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submit_task</a:t>
            </a:r>
            <a:endParaRPr lang="zh-CN" sz="1728"/>
          </a:p>
        </p:txBody>
      </p:sp>
      <p:sp>
        <p:nvSpPr>
          <p:cNvPr id="19" name="rect 19"/>
          <p:cNvSpPr/>
          <p:nvPr/>
        </p:nvSpPr>
        <p:spPr>
          <a:xfrm>
            <a:off x="4023360" y="3136392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224528" y="3319272"/>
            <a:ext cx="1783080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② 分配与冻结</a:t>
            </a:r>
            <a:endParaRPr lang="zh-CN" sz="2088"/>
          </a:p>
        </p:txBody>
      </p:sp>
      <p:sp>
        <p:nvSpPr>
          <p:cNvPr id="21" name="text 21"/>
          <p:cNvSpPr txBox="1"/>
          <p:nvPr/>
        </p:nvSpPr>
        <p:spPr>
          <a:xfrm>
            <a:off x="4224528" y="3758184"/>
            <a:ext cx="230428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输入、模型、固定配置</a:t>
            </a:r>
            <a:endParaRPr lang="zh-CN" sz="1728"/>
          </a:p>
        </p:txBody>
      </p:sp>
      <p:sp>
        <p:nvSpPr>
          <p:cNvPr id="22" name="text 22"/>
          <p:cNvSpPr txBox="1"/>
          <p:nvPr/>
        </p:nvSpPr>
        <p:spPr>
          <a:xfrm>
            <a:off x="4224528" y="4065422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保存执行意图</a:t>
            </a:r>
            <a:endParaRPr lang="zh-CN" sz="1728"/>
          </a:p>
        </p:txBody>
      </p:sp>
      <p:sp>
        <p:nvSpPr>
          <p:cNvPr id="23" name="rect 23"/>
          <p:cNvSpPr/>
          <p:nvPr/>
        </p:nvSpPr>
        <p:spPr>
          <a:xfrm>
            <a:off x="7315200" y="4151376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516368" y="4334256"/>
            <a:ext cx="1783080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③ 执行与交付</a:t>
            </a:r>
            <a:endParaRPr lang="zh-CN" sz="2088"/>
          </a:p>
        </p:txBody>
      </p:sp>
      <p:sp>
        <p:nvSpPr>
          <p:cNvPr id="25" name="text 25"/>
          <p:cNvSpPr txBox="1"/>
          <p:nvPr/>
        </p:nvSpPr>
        <p:spPr>
          <a:xfrm>
            <a:off x="7516368" y="4773168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开发、自检、候选</a:t>
            </a:r>
            <a:endParaRPr lang="zh-CN" sz="1728"/>
          </a:p>
        </p:txBody>
      </p:sp>
      <p:sp>
        <p:nvSpPr>
          <p:cNvPr id="26" name="text 26"/>
          <p:cNvSpPr txBox="1"/>
          <p:nvPr/>
        </p:nvSpPr>
        <p:spPr>
          <a:xfrm>
            <a:off x="7516368" y="5080406"/>
            <a:ext cx="14173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delivery.json</a:t>
            </a:r>
            <a:endParaRPr lang="zh-CN" sz="1728"/>
          </a:p>
        </p:txBody>
      </p:sp>
      <p:sp>
        <p:nvSpPr>
          <p:cNvPr id="27" name="rect 27"/>
          <p:cNvSpPr/>
          <p:nvPr/>
        </p:nvSpPr>
        <p:spPr>
          <a:xfrm>
            <a:off x="10607040" y="5166360"/>
            <a:ext cx="32918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10808208" y="5349240"/>
            <a:ext cx="151790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④ 独立判决</a:t>
            </a:r>
            <a:endParaRPr lang="zh-CN" sz="2088"/>
          </a:p>
        </p:txBody>
      </p:sp>
      <p:sp>
        <p:nvSpPr>
          <p:cNvPr id="29" name="text 29"/>
          <p:cNvSpPr txBox="1"/>
          <p:nvPr/>
        </p:nvSpPr>
        <p:spPr>
          <a:xfrm>
            <a:off x="10808208" y="5788152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精确候选与自有证据</a:t>
            </a:r>
            <a:endParaRPr lang="zh-CN" sz="1728"/>
          </a:p>
        </p:txBody>
      </p:sp>
      <p:sp>
        <p:nvSpPr>
          <p:cNvPr id="30" name="text 30"/>
          <p:cNvSpPr txBox="1"/>
          <p:nvPr/>
        </p:nvSpPr>
        <p:spPr>
          <a:xfrm>
            <a:off x="10808208" y="6095390"/>
            <a:ext cx="16276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PASS / REJECT</a:t>
            </a:r>
            <a:endParaRPr lang="zh-CN" sz="1728"/>
          </a:p>
        </p:txBody>
      </p:sp>
      <p:sp>
        <p:nvSpPr>
          <p:cNvPr id="31" name="line 31"/>
          <p:cNvSpPr/>
          <p:nvPr/>
        </p:nvSpPr>
        <p:spPr>
          <a:xfrm>
            <a:off x="3675888" y="3767328"/>
            <a:ext cx="265176" cy="1"/>
          </a:xfrm>
          <a:prstGeom prst="line">
            <a:avLst/>
          </a:prstGeom>
          <a:noFill/>
          <a:ln w="27432">
            <a:solidFill>
              <a:srgbClr val="127C72"/>
            </a:solidFill>
          </a:ln>
        </p:spPr>
      </p:sp>
      <p:sp>
        <p:nvSpPr>
          <p:cNvPr id="32" name="poly 32"/>
          <p:cNvSpPr/>
          <p:nvPr/>
        </p:nvSpPr>
        <p:spPr>
          <a:xfrm>
            <a:off x="3842260" y="371960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6967728" y="3767328"/>
            <a:ext cx="219456" cy="1"/>
          </a:xfrm>
          <a:prstGeom prst="line">
            <a:avLst/>
          </a:prstGeom>
          <a:noFill/>
          <a:ln w="27432">
            <a:solidFill>
              <a:srgbClr val="3C7398"/>
            </a:solidFill>
          </a:ln>
        </p:spPr>
      </p:sp>
      <p:sp>
        <p:nvSpPr>
          <p:cNvPr id="34" name="line 34"/>
          <p:cNvSpPr/>
          <p:nvPr/>
        </p:nvSpPr>
        <p:spPr>
          <a:xfrm>
            <a:off x="7187184" y="3767328"/>
            <a:ext cx="1" cy="987552"/>
          </a:xfrm>
          <a:prstGeom prst="line">
            <a:avLst/>
          </a:prstGeom>
          <a:noFill/>
          <a:ln w="27432">
            <a:solidFill>
              <a:srgbClr val="3C7398"/>
            </a:solidFill>
          </a:ln>
        </p:spPr>
      </p:sp>
      <p:sp>
        <p:nvSpPr>
          <p:cNvPr id="35" name="line 35"/>
          <p:cNvSpPr/>
          <p:nvPr/>
        </p:nvSpPr>
        <p:spPr>
          <a:xfrm>
            <a:off x="7187184" y="4754880"/>
            <a:ext cx="109728" cy="1"/>
          </a:xfrm>
          <a:prstGeom prst="line">
            <a:avLst/>
          </a:prstGeom>
          <a:noFill/>
          <a:ln w="27432">
            <a:solidFill>
              <a:srgbClr val="3C7398"/>
            </a:solidFill>
          </a:ln>
        </p:spPr>
      </p:sp>
      <p:sp>
        <p:nvSpPr>
          <p:cNvPr id="36" name="poly 36"/>
          <p:cNvSpPr/>
          <p:nvPr/>
        </p:nvSpPr>
        <p:spPr>
          <a:xfrm>
            <a:off x="7198108" y="470715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3C7398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10259568" y="4754880"/>
            <a:ext cx="201168" cy="1"/>
          </a:xfrm>
          <a:prstGeom prst="line">
            <a:avLst/>
          </a:prstGeom>
          <a:noFill/>
          <a:ln w="27432">
            <a:solidFill>
              <a:srgbClr val="E76A3B"/>
            </a:solidFill>
          </a:ln>
        </p:spPr>
      </p:sp>
      <p:sp>
        <p:nvSpPr>
          <p:cNvPr id="38" name="line 38"/>
          <p:cNvSpPr/>
          <p:nvPr/>
        </p:nvSpPr>
        <p:spPr>
          <a:xfrm>
            <a:off x="10460736" y="4754880"/>
            <a:ext cx="1" cy="1024128"/>
          </a:xfrm>
          <a:prstGeom prst="line">
            <a:avLst/>
          </a:prstGeom>
          <a:noFill/>
          <a:ln w="27432">
            <a:solidFill>
              <a:srgbClr val="E76A3B"/>
            </a:solidFill>
          </a:ln>
        </p:spPr>
      </p:sp>
      <p:sp>
        <p:nvSpPr>
          <p:cNvPr id="39" name="line 39"/>
          <p:cNvSpPr/>
          <p:nvPr/>
        </p:nvSpPr>
        <p:spPr>
          <a:xfrm>
            <a:off x="10460736" y="5779008"/>
            <a:ext cx="128016" cy="1"/>
          </a:xfrm>
          <a:prstGeom prst="line">
            <a:avLst/>
          </a:prstGeom>
          <a:noFill/>
          <a:ln w="27432">
            <a:solidFill>
              <a:srgbClr val="E76A3B"/>
            </a:solidFill>
          </a:ln>
        </p:spPr>
      </p:sp>
      <p:sp>
        <p:nvSpPr>
          <p:cNvPr id="40" name="poly 40"/>
          <p:cNvSpPr/>
          <p:nvPr/>
        </p:nvSpPr>
        <p:spPr>
          <a:xfrm>
            <a:off x="10489948" y="573128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E76A3B"/>
          </a:solidFill>
          <a:ln>
            <a:noFill/>
          </a:ln>
        </p:spPr>
      </p:sp>
      <p:sp>
        <p:nvSpPr>
          <p:cNvPr id="41" name="rect 41"/>
          <p:cNvSpPr/>
          <p:nvPr/>
        </p:nvSpPr>
        <p:spPr>
          <a:xfrm>
            <a:off x="731520" y="5175504"/>
            <a:ext cx="6035040" cy="1271016"/>
          </a:xfrm>
          <a:prstGeom prst="roundRect">
            <a:avLst>
              <a:gd name="adj" fmla="val 1151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69264" y="5376672"/>
            <a:ext cx="2112264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⑤ 主线接回结果</a:t>
            </a:r>
            <a:endParaRPr lang="zh-CN" sz="2160"/>
          </a:p>
        </p:txBody>
      </p:sp>
      <p:sp>
        <p:nvSpPr>
          <p:cNvPr id="43" name="text 43"/>
          <p:cNvSpPr txBox="1"/>
          <p:nvPr/>
        </p:nvSpPr>
        <p:spPr>
          <a:xfrm>
            <a:off x="969264" y="5843016"/>
            <a:ext cx="471830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成功就取用；三次拒绝则调整并新建关联任务。</a:t>
            </a:r>
            <a:endParaRPr lang="zh-CN" sz="1728"/>
          </a:p>
        </p:txBody>
      </p:sp>
      <p:sp>
        <p:nvSpPr>
          <p:cNvPr id="44" name="line 44"/>
          <p:cNvSpPr/>
          <p:nvPr/>
        </p:nvSpPr>
        <p:spPr>
          <a:xfrm flipH="1">
            <a:off x="3749040" y="6711696"/>
            <a:ext cx="6839712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45" name="poly 45"/>
          <p:cNvSpPr/>
          <p:nvPr/>
        </p:nvSpPr>
        <p:spPr>
          <a:xfrm>
            <a:off x="3749040" y="666396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0" y="47728"/>
                </a:moveTo>
                <a:lnTo>
                  <a:pt x="98804" y="0"/>
                </a:lnTo>
                <a:lnTo>
                  <a:pt x="98804" y="95456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12252960" y="6464808"/>
            <a:ext cx="1" cy="246888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47" name="line 47"/>
          <p:cNvSpPr/>
          <p:nvPr/>
        </p:nvSpPr>
        <p:spPr>
          <a:xfrm flipH="1">
            <a:off x="10588752" y="6711696"/>
            <a:ext cx="1664208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6903720" y="6940296"/>
            <a:ext cx="306324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反馈与终态由 agentd 持久记录</a:t>
            </a:r>
            <a:endParaRPr lang="zh-CN" sz="1656"/>
          </a:p>
        </p:txBody>
      </p:sp>
      <p:sp>
        <p:nvSpPr>
          <p:cNvPr id="49" name="text 49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业务闭环</a:t>
            </a:r>
            <a:endParaRPr lang="zh-CN" sz="1296"/>
          </a:p>
        </p:txBody>
      </p:sp>
      <p:sp>
        <p:nvSpPr>
          <p:cNvPr id="50" name="text 50"/>
          <p:cNvSpPr txBox="1"/>
          <p:nvPr/>
        </p:nvSpPr>
        <p:spPr>
          <a:xfrm>
            <a:off x="731520" y="850392"/>
            <a:ext cx="8449056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跟随一条任务：从“请修复”到可读取成果</a:t>
            </a:r>
            <a:endParaRPr lang="zh-CN" sz="3456"/>
          </a:p>
        </p:txBody>
      </p:sp>
      <p:sp>
        <p:nvSpPr>
          <p:cNvPr id="51" name="text 51"/>
          <p:cNvSpPr txBox="1"/>
          <p:nvPr/>
        </p:nvSpPr>
        <p:spPr>
          <a:xfrm>
            <a:off x="749808" y="1536192"/>
            <a:ext cx="6967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示例任务：为导出接口补充参数校验与测试；难度由主线事先给定。</a:t>
            </a:r>
            <a:endParaRPr lang="zh-CN" sz="1800"/>
          </a:p>
        </p:txBody>
      </p:sp>
      <p:sp>
        <p:nvSpPr>
          <p:cNvPr id="52" name="rect 52"/>
          <p:cNvSpPr/>
          <p:nvPr/>
        </p:nvSpPr>
        <p:spPr>
          <a:xfrm>
            <a:off x="11942064" y="320040"/>
            <a:ext cx="195681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53"/>
          <p:cNvSpPr txBox="1"/>
          <p:nvPr/>
        </p:nvSpPr>
        <p:spPr>
          <a:xfrm>
            <a:off x="12051792" y="384048"/>
            <a:ext cx="184708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角色 / D · 流程 / 示例</a:t>
            </a:r>
            <a:endParaRPr lang="zh-CN" sz="1152"/>
          </a:p>
        </p:txBody>
      </p:sp>
      <p:sp>
        <p:nvSpPr>
          <p:cNvPr id="54" name="line 54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731520" y="7808976"/>
            <a:ext cx="228600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依据：角色责任；角色泳道；典型调用</a:t>
            </a:r>
            <a:endParaRPr lang="zh-CN" sz="1008"/>
          </a:p>
        </p:txBody>
      </p:sp>
      <p:sp>
        <p:nvSpPr>
          <p:cNvPr id="56" name="text 56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07 / 36</a:t>
            </a:r>
            <a:endParaRPr lang="zh-CN" sz="136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7 项核心需求，组成六块交付责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57984"/>
            <a:ext cx="42428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368296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395728"/>
            <a:ext cx="14356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任务与调度</a:t>
            </a:r>
            <a:endParaRPr lang="zh-CN" sz="2088"/>
          </a:p>
        </p:txBody>
      </p:sp>
      <p:sp>
        <p:nvSpPr>
          <p:cNvPr id="6" name="text 6"/>
          <p:cNvSpPr txBox="1"/>
          <p:nvPr/>
        </p:nvSpPr>
        <p:spPr>
          <a:xfrm>
            <a:off x="960120" y="2971800"/>
            <a:ext cx="3675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创建可重发；输入明确；容量不足</a:t>
            </a:r>
            <a:endParaRPr lang="zh-CN" sz="1872"/>
          </a:p>
        </p:txBody>
      </p:sp>
      <p:sp>
        <p:nvSpPr>
          <p:cNvPr id="7" name="text 7"/>
          <p:cNvSpPr txBox="1"/>
          <p:nvPr/>
        </p:nvSpPr>
        <p:spPr>
          <a:xfrm>
            <a:off x="960120" y="3318906"/>
            <a:ext cx="8229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排队。</a:t>
            </a:r>
            <a:endParaRPr lang="zh-CN" sz="1872"/>
          </a:p>
        </p:txBody>
      </p:sp>
      <p:sp>
        <p:nvSpPr>
          <p:cNvPr id="8" name="rect 8"/>
          <p:cNvSpPr/>
          <p:nvPr/>
        </p:nvSpPr>
        <p:spPr>
          <a:xfrm>
            <a:off x="960120" y="4059936"/>
            <a:ext cx="1399032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106424" y="4123944"/>
            <a:ext cx="1216152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F01 · F02 · F14</a:t>
            </a:r>
            <a:endParaRPr lang="zh-CN" sz="1224"/>
          </a:p>
        </p:txBody>
      </p:sp>
      <p:sp>
        <p:nvSpPr>
          <p:cNvPr id="10" name="rect 10"/>
          <p:cNvSpPr/>
          <p:nvPr/>
        </p:nvSpPr>
        <p:spPr>
          <a:xfrm>
            <a:off x="5193792" y="2157984"/>
            <a:ext cx="42428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rect 11"/>
          <p:cNvSpPr/>
          <p:nvPr/>
        </p:nvSpPr>
        <p:spPr>
          <a:xfrm>
            <a:off x="5193792" y="2368296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422392" y="2395728"/>
            <a:ext cx="170078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原生开发能力</a:t>
            </a:r>
            <a:endParaRPr lang="zh-CN" sz="2088"/>
          </a:p>
        </p:txBody>
      </p:sp>
      <p:sp>
        <p:nvSpPr>
          <p:cNvPr id="13" name="text 13"/>
          <p:cNvSpPr txBox="1"/>
          <p:nvPr/>
        </p:nvSpPr>
        <p:spPr>
          <a:xfrm>
            <a:off x="5422392" y="2971800"/>
            <a:ext cx="3675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保留工具循环；独立状态；显式版</a:t>
            </a:r>
            <a:endParaRPr lang="zh-CN" sz="1872"/>
          </a:p>
        </p:txBody>
      </p:sp>
      <p:sp>
        <p:nvSpPr>
          <p:cNvPr id="14" name="text 14"/>
          <p:cNvSpPr txBox="1"/>
          <p:nvPr/>
        </p:nvSpPr>
        <p:spPr>
          <a:xfrm>
            <a:off x="5422392" y="3318906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本复用。</a:t>
            </a:r>
            <a:endParaRPr lang="zh-CN" sz="1872"/>
          </a:p>
        </p:txBody>
      </p:sp>
      <p:sp>
        <p:nvSpPr>
          <p:cNvPr id="15" name="rect 15"/>
          <p:cNvSpPr/>
          <p:nvPr/>
        </p:nvSpPr>
        <p:spPr>
          <a:xfrm>
            <a:off x="5422392" y="4059936"/>
            <a:ext cx="1399032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568696" y="4123944"/>
            <a:ext cx="1216152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F03 · F04 · F13</a:t>
            </a:r>
            <a:endParaRPr lang="zh-CN" sz="1224"/>
          </a:p>
        </p:txBody>
      </p:sp>
      <p:sp>
        <p:nvSpPr>
          <p:cNvPr id="17" name="rect 17"/>
          <p:cNvSpPr/>
          <p:nvPr/>
        </p:nvSpPr>
        <p:spPr>
          <a:xfrm>
            <a:off x="9656064" y="2157984"/>
            <a:ext cx="42428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rect 18"/>
          <p:cNvSpPr/>
          <p:nvPr/>
        </p:nvSpPr>
        <p:spPr>
          <a:xfrm>
            <a:off x="9656064" y="2368296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884664" y="2395728"/>
            <a:ext cx="117043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运行保护</a:t>
            </a:r>
            <a:endParaRPr lang="zh-CN" sz="2088"/>
          </a:p>
        </p:txBody>
      </p:sp>
      <p:sp>
        <p:nvSpPr>
          <p:cNvPr id="20" name="text 20"/>
          <p:cNvSpPr txBox="1"/>
          <p:nvPr/>
        </p:nvSpPr>
        <p:spPr>
          <a:xfrm>
            <a:off x="9884664" y="2971800"/>
            <a:ext cx="3675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约束本地后代；保护控制面；明确</a:t>
            </a:r>
            <a:endParaRPr lang="zh-CN" sz="1872"/>
          </a:p>
        </p:txBody>
      </p:sp>
      <p:sp>
        <p:nvSpPr>
          <p:cNvPr id="21" name="text 21"/>
          <p:cNvSpPr txBox="1"/>
          <p:nvPr/>
        </p:nvSpPr>
        <p:spPr>
          <a:xfrm>
            <a:off x="9884664" y="3318906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所有者。</a:t>
            </a:r>
            <a:endParaRPr lang="zh-CN" sz="1872"/>
          </a:p>
        </p:txBody>
      </p:sp>
      <p:sp>
        <p:nvSpPr>
          <p:cNvPr id="22" name="rect 22"/>
          <p:cNvSpPr/>
          <p:nvPr/>
        </p:nvSpPr>
        <p:spPr>
          <a:xfrm>
            <a:off x="9884664" y="4059936"/>
            <a:ext cx="978408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030968" y="4123944"/>
            <a:ext cx="795528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F05 · F15</a:t>
            </a:r>
            <a:endParaRPr lang="zh-CN" sz="1224"/>
          </a:p>
        </p:txBody>
      </p:sp>
      <p:sp>
        <p:nvSpPr>
          <p:cNvPr id="24" name="rect 24"/>
          <p:cNvSpPr/>
          <p:nvPr/>
        </p:nvSpPr>
        <p:spPr>
          <a:xfrm>
            <a:off x="731520" y="4773168"/>
            <a:ext cx="42428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rect 25"/>
          <p:cNvSpPr/>
          <p:nvPr/>
        </p:nvSpPr>
        <p:spPr>
          <a:xfrm>
            <a:off x="731520" y="498348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60120" y="5010912"/>
            <a:ext cx="14356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成果与独审</a:t>
            </a:r>
            <a:endParaRPr lang="zh-CN" sz="2088"/>
          </a:p>
        </p:txBody>
      </p:sp>
      <p:sp>
        <p:nvSpPr>
          <p:cNvPr id="27" name="text 27"/>
          <p:cNvSpPr txBox="1"/>
          <p:nvPr/>
        </p:nvSpPr>
        <p:spPr>
          <a:xfrm>
            <a:off x="960120" y="5586984"/>
            <a:ext cx="3675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候选可取；独审绑定精确内容；三</a:t>
            </a:r>
            <a:endParaRPr lang="zh-CN" sz="1872"/>
          </a:p>
        </p:txBody>
      </p:sp>
      <p:sp>
        <p:nvSpPr>
          <p:cNvPr id="28" name="text 28"/>
          <p:cNvSpPr txBox="1"/>
          <p:nvPr/>
        </p:nvSpPr>
        <p:spPr>
          <a:xfrm>
            <a:off x="960120" y="5934090"/>
            <a:ext cx="129844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轮有终点。</a:t>
            </a:r>
            <a:endParaRPr lang="zh-CN" sz="1872"/>
          </a:p>
        </p:txBody>
      </p:sp>
      <p:sp>
        <p:nvSpPr>
          <p:cNvPr id="29" name="rect 29"/>
          <p:cNvSpPr/>
          <p:nvPr/>
        </p:nvSpPr>
        <p:spPr>
          <a:xfrm>
            <a:off x="960120" y="6675120"/>
            <a:ext cx="1399032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106424" y="6739128"/>
            <a:ext cx="1216152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F06 · F07 · F08</a:t>
            </a:r>
            <a:endParaRPr lang="zh-CN" sz="1224"/>
          </a:p>
        </p:txBody>
      </p:sp>
      <p:sp>
        <p:nvSpPr>
          <p:cNvPr id="31" name="rect 31"/>
          <p:cNvSpPr/>
          <p:nvPr/>
        </p:nvSpPr>
        <p:spPr>
          <a:xfrm>
            <a:off x="5193792" y="4773168"/>
            <a:ext cx="42428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rect 32"/>
          <p:cNvSpPr/>
          <p:nvPr/>
        </p:nvSpPr>
        <p:spPr>
          <a:xfrm>
            <a:off x="5193792" y="498348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422392" y="5010912"/>
            <a:ext cx="14356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故障与通知</a:t>
            </a:r>
            <a:endParaRPr lang="zh-CN" sz="2088"/>
          </a:p>
        </p:txBody>
      </p:sp>
      <p:sp>
        <p:nvSpPr>
          <p:cNvPr id="34" name="text 34"/>
          <p:cNvSpPr txBox="1"/>
          <p:nvPr/>
        </p:nvSpPr>
        <p:spPr>
          <a:xfrm>
            <a:off x="5422392" y="5586984"/>
            <a:ext cx="3675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通知有记录；中断能继续；恢复有</a:t>
            </a:r>
            <a:endParaRPr lang="zh-CN" sz="1872"/>
          </a:p>
        </p:txBody>
      </p:sp>
      <p:sp>
        <p:nvSpPr>
          <p:cNvPr id="35" name="text 35"/>
          <p:cNvSpPr txBox="1"/>
          <p:nvPr/>
        </p:nvSpPr>
        <p:spPr>
          <a:xfrm>
            <a:off x="5422392" y="5934090"/>
            <a:ext cx="8229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边界。</a:t>
            </a:r>
            <a:endParaRPr lang="zh-CN" sz="1872"/>
          </a:p>
        </p:txBody>
      </p:sp>
      <p:sp>
        <p:nvSpPr>
          <p:cNvPr id="36" name="rect 36"/>
          <p:cNvSpPr/>
          <p:nvPr/>
        </p:nvSpPr>
        <p:spPr>
          <a:xfrm>
            <a:off x="5422392" y="6675120"/>
            <a:ext cx="978408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5568696" y="6739128"/>
            <a:ext cx="795528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F09 · F11</a:t>
            </a:r>
            <a:endParaRPr lang="zh-CN" sz="1224"/>
          </a:p>
        </p:txBody>
      </p:sp>
      <p:sp>
        <p:nvSpPr>
          <p:cNvPr id="38" name="rect 38"/>
          <p:cNvSpPr/>
          <p:nvPr/>
        </p:nvSpPr>
        <p:spPr>
          <a:xfrm>
            <a:off x="9656064" y="4773168"/>
            <a:ext cx="4242816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rect 39"/>
          <p:cNvSpPr/>
          <p:nvPr/>
        </p:nvSpPr>
        <p:spPr>
          <a:xfrm>
            <a:off x="9656064" y="498348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9884664" y="5010912"/>
            <a:ext cx="1965960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配置与生命周期</a:t>
            </a:r>
            <a:endParaRPr lang="zh-CN" sz="2088"/>
          </a:p>
        </p:txBody>
      </p:sp>
      <p:sp>
        <p:nvSpPr>
          <p:cNvPr id="41" name="text 41"/>
          <p:cNvSpPr txBox="1"/>
          <p:nvPr/>
        </p:nvSpPr>
        <p:spPr>
          <a:xfrm>
            <a:off x="9884664" y="5586984"/>
            <a:ext cx="3675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固定池、三个页面、安装升级卸载</a:t>
            </a:r>
            <a:endParaRPr lang="zh-CN" sz="1872"/>
          </a:p>
        </p:txBody>
      </p:sp>
      <p:sp>
        <p:nvSpPr>
          <p:cNvPr id="42" name="text 42"/>
          <p:cNvSpPr txBox="1"/>
          <p:nvPr/>
        </p:nvSpPr>
        <p:spPr>
          <a:xfrm>
            <a:off x="9884664" y="5934090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和失败保全。</a:t>
            </a:r>
            <a:endParaRPr lang="zh-CN" sz="1872"/>
          </a:p>
        </p:txBody>
      </p:sp>
      <p:sp>
        <p:nvSpPr>
          <p:cNvPr id="43" name="rect 43"/>
          <p:cNvSpPr/>
          <p:nvPr/>
        </p:nvSpPr>
        <p:spPr>
          <a:xfrm>
            <a:off x="9884664" y="6675120"/>
            <a:ext cx="1819656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0030968" y="6739128"/>
            <a:ext cx="1636776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F10 · F12 · F16 · F17</a:t>
            </a:r>
            <a:endParaRPr lang="zh-CN" sz="1224"/>
          </a:p>
        </p:txBody>
      </p:sp>
      <p:sp>
        <p:nvSpPr>
          <p:cNvPr id="45" name="text 45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需求地图</a:t>
            </a:r>
            <a:endParaRPr lang="zh-CN" sz="1296"/>
          </a:p>
        </p:txBody>
      </p:sp>
      <p:sp>
        <p:nvSpPr>
          <p:cNvPr id="46" name="text 46"/>
          <p:cNvSpPr txBox="1"/>
          <p:nvPr/>
        </p:nvSpPr>
        <p:spPr>
          <a:xfrm>
            <a:off x="731520" y="850392"/>
            <a:ext cx="693115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17 项核心需求，组成六块交付责任</a:t>
            </a:r>
            <a:endParaRPr lang="zh-CN" sz="3456"/>
          </a:p>
        </p:txBody>
      </p:sp>
      <p:sp>
        <p:nvSpPr>
          <p:cNvPr id="47" name="text 47"/>
          <p:cNvSpPr txBox="1"/>
          <p:nvPr/>
        </p:nvSpPr>
        <p:spPr>
          <a:xfrm>
            <a:off x="749808" y="1536192"/>
            <a:ext cx="6510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每一块都要给用户一个可观察的结果，而不是只完成内部组件。</a:t>
            </a:r>
            <a:endParaRPr lang="zh-CN" sz="1800"/>
          </a:p>
        </p:txBody>
      </p:sp>
      <p:sp>
        <p:nvSpPr>
          <p:cNvPr id="48" name="rect 48"/>
          <p:cNvSpPr/>
          <p:nvPr/>
        </p:nvSpPr>
        <p:spPr>
          <a:xfrm>
            <a:off x="11987784" y="320040"/>
            <a:ext cx="191109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12097512" y="384048"/>
            <a:ext cx="180136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需求归纳 · 对应 F01–F17</a:t>
            </a:r>
            <a:endParaRPr lang="zh-CN" sz="1152"/>
          </a:p>
        </p:txBody>
      </p:sp>
      <p:sp>
        <p:nvSpPr>
          <p:cNvPr id="50" name="line 50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731520" y="7808976"/>
            <a:ext cx="256032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依据：核心需求 F01–F17；交付链补充验收</a:t>
            </a:r>
            <a:endParaRPr lang="zh-CN" sz="1008"/>
          </a:p>
        </p:txBody>
      </p:sp>
      <p:sp>
        <p:nvSpPr>
          <p:cNvPr id="52" name="text 52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08 / 36</a:t>
            </a:r>
            <a:endParaRPr lang="zh-CN" sz="136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五个业务阶段，配合真实执行观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350008"/>
            <a:ext cx="2926080" cy="1307592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532888"/>
            <a:ext cx="1298448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queued</a:t>
            </a:r>
            <a:endParaRPr lang="zh-CN" sz="2448"/>
          </a:p>
        </p:txBody>
      </p:sp>
      <p:sp>
        <p:nvSpPr>
          <p:cNvPr id="5" name="text 5"/>
          <p:cNvSpPr txBox="1"/>
          <p:nvPr/>
        </p:nvSpPr>
        <p:spPr>
          <a:xfrm>
            <a:off x="932688" y="2971800"/>
            <a:ext cx="16459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等待输入 / 容量</a:t>
            </a:r>
            <a:endParaRPr lang="zh-CN" sz="1728"/>
          </a:p>
        </p:txBody>
      </p:sp>
      <p:sp>
        <p:nvSpPr>
          <p:cNvPr id="6" name="rect 6"/>
          <p:cNvSpPr/>
          <p:nvPr/>
        </p:nvSpPr>
        <p:spPr>
          <a:xfrm>
            <a:off x="4297680" y="2350008"/>
            <a:ext cx="2926080" cy="1307592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98848" y="2532888"/>
            <a:ext cx="1344168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running</a:t>
            </a:r>
            <a:endParaRPr lang="zh-CN" sz="2448"/>
          </a:p>
        </p:txBody>
      </p:sp>
      <p:sp>
        <p:nvSpPr>
          <p:cNvPr id="8" name="text 8"/>
          <p:cNvSpPr txBox="1"/>
          <p:nvPr/>
        </p:nvSpPr>
        <p:spPr>
          <a:xfrm>
            <a:off x="4498848" y="2971800"/>
            <a:ext cx="9875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执行阶段</a:t>
            </a:r>
            <a:endParaRPr lang="zh-CN" sz="1728"/>
          </a:p>
        </p:txBody>
      </p:sp>
      <p:sp>
        <p:nvSpPr>
          <p:cNvPr id="9" name="rect 9"/>
          <p:cNvSpPr/>
          <p:nvPr/>
        </p:nvSpPr>
        <p:spPr>
          <a:xfrm>
            <a:off x="7863840" y="2350008"/>
            <a:ext cx="2926080" cy="1307592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065008" y="2532888"/>
            <a:ext cx="1645920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reviewing</a:t>
            </a:r>
            <a:endParaRPr lang="zh-CN" sz="2448"/>
          </a:p>
        </p:txBody>
      </p:sp>
      <p:sp>
        <p:nvSpPr>
          <p:cNvPr id="11" name="text 11"/>
          <p:cNvSpPr txBox="1"/>
          <p:nvPr/>
        </p:nvSpPr>
        <p:spPr>
          <a:xfrm>
            <a:off x="8065008" y="2971800"/>
            <a:ext cx="16459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冻结候选待独审</a:t>
            </a:r>
            <a:endParaRPr lang="zh-CN" sz="1728"/>
          </a:p>
        </p:txBody>
      </p:sp>
      <p:sp>
        <p:nvSpPr>
          <p:cNvPr id="12" name="line 12"/>
          <p:cNvSpPr/>
          <p:nvPr/>
        </p:nvSpPr>
        <p:spPr>
          <a:xfrm>
            <a:off x="3703320" y="2990088"/>
            <a:ext cx="502920" cy="1"/>
          </a:xfrm>
          <a:prstGeom prst="line">
            <a:avLst/>
          </a:prstGeom>
          <a:noFill/>
          <a:ln w="27432">
            <a:solidFill>
              <a:srgbClr val="127C72"/>
            </a:solidFill>
          </a:ln>
        </p:spPr>
      </p:sp>
      <p:sp>
        <p:nvSpPr>
          <p:cNvPr id="13" name="poly 13"/>
          <p:cNvSpPr/>
          <p:nvPr/>
        </p:nvSpPr>
        <p:spPr>
          <a:xfrm>
            <a:off x="4107436" y="294236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7269480" y="2990088"/>
            <a:ext cx="502920" cy="1"/>
          </a:xfrm>
          <a:prstGeom prst="line">
            <a:avLst/>
          </a:prstGeom>
          <a:noFill/>
          <a:ln w="27432">
            <a:solidFill>
              <a:srgbClr val="3C7398"/>
            </a:solidFill>
          </a:ln>
        </p:spPr>
      </p:sp>
      <p:sp>
        <p:nvSpPr>
          <p:cNvPr id="15" name="poly 15"/>
          <p:cNvSpPr/>
          <p:nvPr/>
        </p:nvSpPr>
        <p:spPr>
          <a:xfrm>
            <a:off x="7673596" y="294236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3C7398"/>
          </a:solidFill>
          <a:ln>
            <a:noFill/>
          </a:ln>
        </p:spPr>
      </p:sp>
      <p:sp>
        <p:nvSpPr>
          <p:cNvPr id="16" name="rect 16"/>
          <p:cNvSpPr/>
          <p:nvPr/>
        </p:nvSpPr>
        <p:spPr>
          <a:xfrm>
            <a:off x="11247120" y="2350008"/>
            <a:ext cx="2651760" cy="1307592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48288" y="2532888"/>
            <a:ext cx="1289304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finished</a:t>
            </a:r>
            <a:endParaRPr lang="zh-CN" sz="2304"/>
          </a:p>
        </p:txBody>
      </p:sp>
      <p:sp>
        <p:nvSpPr>
          <p:cNvPr id="18" name="text 18"/>
          <p:cNvSpPr txBox="1"/>
          <p:nvPr/>
        </p:nvSpPr>
        <p:spPr>
          <a:xfrm>
            <a:off x="11448288" y="2971800"/>
            <a:ext cx="9875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passed /</a:t>
            </a:r>
            <a:endParaRPr lang="zh-CN" sz="1728"/>
          </a:p>
        </p:txBody>
      </p:sp>
      <p:sp>
        <p:nvSpPr>
          <p:cNvPr id="19" name="text 19"/>
          <p:cNvSpPr txBox="1"/>
          <p:nvPr/>
        </p:nvSpPr>
        <p:spPr>
          <a:xfrm>
            <a:off x="11448288" y="3279038"/>
            <a:ext cx="146304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review_failed</a:t>
            </a:r>
            <a:endParaRPr lang="zh-CN" sz="1728"/>
          </a:p>
        </p:txBody>
      </p:sp>
      <p:sp>
        <p:nvSpPr>
          <p:cNvPr id="20" name="line 20"/>
          <p:cNvSpPr/>
          <p:nvPr/>
        </p:nvSpPr>
        <p:spPr>
          <a:xfrm>
            <a:off x="10835640" y="2990088"/>
            <a:ext cx="320040" cy="1"/>
          </a:xfrm>
          <a:prstGeom prst="line">
            <a:avLst/>
          </a:prstGeom>
          <a:noFill/>
          <a:ln w="27432">
            <a:solidFill>
              <a:srgbClr val="127C72"/>
            </a:solidFill>
          </a:ln>
        </p:spPr>
      </p:sp>
      <p:sp>
        <p:nvSpPr>
          <p:cNvPr id="21" name="poly 21"/>
          <p:cNvSpPr/>
          <p:nvPr/>
        </p:nvSpPr>
        <p:spPr>
          <a:xfrm>
            <a:off x="11056876" y="294236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072116" y="1984248"/>
            <a:ext cx="1728216" cy="2834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PASS / 第 3 次拒绝</a:t>
            </a:r>
            <a:endParaRPr lang="zh-CN" sz="1440"/>
          </a:p>
        </p:txBody>
      </p:sp>
      <p:sp>
        <p:nvSpPr>
          <p:cNvPr id="23" name="line 23"/>
          <p:cNvSpPr/>
          <p:nvPr/>
        </p:nvSpPr>
        <p:spPr>
          <a:xfrm>
            <a:off x="9326880" y="3685032"/>
            <a:ext cx="1" cy="448056"/>
          </a:xfrm>
          <a:prstGeom prst="line">
            <a:avLst/>
          </a:prstGeom>
          <a:noFill/>
          <a:ln w="18288">
            <a:solidFill>
              <a:srgbClr val="E76A3B"/>
            </a:solidFill>
          </a:ln>
        </p:spPr>
      </p:sp>
      <p:sp>
        <p:nvSpPr>
          <p:cNvPr id="24" name="line 24"/>
          <p:cNvSpPr/>
          <p:nvPr/>
        </p:nvSpPr>
        <p:spPr>
          <a:xfrm flipH="1">
            <a:off x="2194560" y="4133088"/>
            <a:ext cx="7132320" cy="1"/>
          </a:xfrm>
          <a:prstGeom prst="line">
            <a:avLst/>
          </a:prstGeom>
          <a:noFill/>
          <a:ln w="18288">
            <a:solidFill>
              <a:srgbClr val="E76A3B"/>
            </a:solidFill>
          </a:ln>
        </p:spPr>
      </p:sp>
      <p:sp>
        <p:nvSpPr>
          <p:cNvPr id="25" name="line 25"/>
          <p:cNvSpPr/>
          <p:nvPr/>
        </p:nvSpPr>
        <p:spPr>
          <a:xfrm flipV="1">
            <a:off x="2194560" y="3703320"/>
            <a:ext cx="1" cy="429768"/>
          </a:xfrm>
          <a:prstGeom prst="line">
            <a:avLst/>
          </a:prstGeom>
          <a:noFill/>
          <a:ln w="18288">
            <a:solidFill>
              <a:srgbClr val="E76A3B"/>
            </a:solidFill>
          </a:ln>
        </p:spPr>
      </p:sp>
      <p:sp>
        <p:nvSpPr>
          <p:cNvPr id="26" name="poly 26"/>
          <p:cNvSpPr/>
          <p:nvPr/>
        </p:nvSpPr>
        <p:spPr>
          <a:xfrm>
            <a:off x="2146832" y="3703320"/>
            <a:ext cx="95456" cy="98804"/>
          </a:xfrm>
          <a:custGeom>
            <a:avLst/>
            <a:gdLst/>
            <a:ahLst/>
            <a:cxnLst/>
            <a:rect l="0" t="0" r="r" b="b"/>
            <a:pathLst>
              <a:path w="95456" h="98804">
                <a:moveTo>
                  <a:pt x="47728" y="0"/>
                </a:moveTo>
                <a:lnTo>
                  <a:pt x="95456" y="98804"/>
                </a:lnTo>
                <a:lnTo>
                  <a:pt x="0" y="98804"/>
                </a:lnTo>
                <a:close/>
              </a:path>
            </a:pathLst>
          </a:custGeom>
          <a:solidFill>
            <a:srgbClr val="E76A3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3150108" y="4242816"/>
            <a:ext cx="53309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第 1 / 2 次有效 REJECT：沿用合同、输入与模型返修</a:t>
            </a:r>
            <a:endParaRPr lang="zh-CN" sz="1728"/>
          </a:p>
        </p:txBody>
      </p:sp>
      <p:sp>
        <p:nvSpPr>
          <p:cNvPr id="28" name="rect 28"/>
          <p:cNvSpPr/>
          <p:nvPr/>
        </p:nvSpPr>
        <p:spPr>
          <a:xfrm>
            <a:off x="731520" y="5038344"/>
            <a:ext cx="6309360" cy="1545336"/>
          </a:xfrm>
          <a:prstGeom prst="roundRect">
            <a:avLst>
              <a:gd name="adj" fmla="val 8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932688" y="5221224"/>
            <a:ext cx="317296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running / interrupted</a:t>
            </a:r>
            <a:endParaRPr lang="zh-CN" sz="2232"/>
          </a:p>
        </p:txBody>
      </p:sp>
      <p:sp>
        <p:nvSpPr>
          <p:cNvPr id="30" name="text 30"/>
          <p:cNvSpPr txBox="1"/>
          <p:nvPr/>
        </p:nvSpPr>
        <p:spPr>
          <a:xfrm>
            <a:off x="932688" y="5660136"/>
            <a:ext cx="537667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示例：内存超限；进度已保存；等待资源调整与继续。</a:t>
            </a:r>
            <a:endParaRPr lang="zh-CN" sz="1728"/>
          </a:p>
        </p:txBody>
      </p:sp>
      <p:sp>
        <p:nvSpPr>
          <p:cNvPr id="31" name="rect 31"/>
          <p:cNvSpPr/>
          <p:nvPr/>
        </p:nvSpPr>
        <p:spPr>
          <a:xfrm>
            <a:off x="7315200" y="5038344"/>
            <a:ext cx="6583680" cy="1545336"/>
          </a:xfrm>
          <a:prstGeom prst="roundRect">
            <a:avLst>
              <a:gd name="adj" fmla="val 828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516368" y="5221224"/>
            <a:ext cx="1353312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B84F49"/>
                </a:solidFill>
                <a:latin typeface="Microsoft YaHei"/>
                <a:ea typeface="Microsoft YaHei"/>
                <a:cs typeface="Arial"/>
              </a:rPr>
              <a:t xml:space="preserve">canceled</a:t>
            </a:r>
            <a:endParaRPr lang="zh-CN" sz="2232"/>
          </a:p>
        </p:txBody>
      </p:sp>
      <p:sp>
        <p:nvSpPr>
          <p:cNvPr id="33" name="text 33"/>
          <p:cNvSpPr txBox="1"/>
          <p:nvPr/>
        </p:nvSpPr>
        <p:spPr>
          <a:xfrm>
            <a:off x="7516368" y="5660136"/>
            <a:ext cx="475488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取消意图生效 → 停止与租约核对 → 取消完成。</a:t>
            </a:r>
            <a:endParaRPr lang="zh-CN" sz="1728"/>
          </a:p>
        </p:txBody>
      </p:sp>
      <p:sp>
        <p:nvSpPr>
          <p:cNvPr id="34" name="rect 34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950976" y="6967728"/>
            <a:ext cx="754380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界面同时呈现：业务阶段 + 执行观察 + 等待原因 + 当前可用动作。</a:t>
            </a:r>
            <a:endParaRPr lang="zh-CN" sz="1944"/>
          </a:p>
        </p:txBody>
      </p:sp>
      <p:sp>
        <p:nvSpPr>
          <p:cNvPr id="36" name="text 36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业务闭环</a:t>
            </a:r>
            <a:endParaRPr lang="zh-CN" sz="1296"/>
          </a:p>
        </p:txBody>
      </p:sp>
      <p:sp>
        <p:nvSpPr>
          <p:cNvPr id="37" name="text 37"/>
          <p:cNvSpPr txBox="1"/>
          <p:nvPr/>
        </p:nvSpPr>
        <p:spPr>
          <a:xfrm>
            <a:off x="731520" y="850392"/>
            <a:ext cx="669340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五个业务阶段，配合真实执行观察</a:t>
            </a:r>
            <a:endParaRPr lang="zh-CN" sz="3456"/>
          </a:p>
        </p:txBody>
      </p:sp>
      <p:sp>
        <p:nvSpPr>
          <p:cNvPr id="38" name="text 38"/>
          <p:cNvSpPr txBox="1"/>
          <p:nvPr/>
        </p:nvSpPr>
        <p:spPr>
          <a:xfrm>
            <a:off x="749808" y="1536192"/>
            <a:ext cx="6281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业务阶段告诉你走到哪里；执行观察告诉你此刻发生了什么。</a:t>
            </a:r>
            <a:endParaRPr lang="zh-CN" sz="1800"/>
          </a:p>
        </p:txBody>
      </p:sp>
      <p:sp>
        <p:nvSpPr>
          <p:cNvPr id="39" name="rect 39"/>
          <p:cNvSpPr/>
          <p:nvPr/>
        </p:nvSpPr>
        <p:spPr>
          <a:xfrm>
            <a:off x="11814048" y="320040"/>
            <a:ext cx="208483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11923776" y="384048"/>
            <a:ext cx="197510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状态表示 / R · 结束语义</a:t>
            </a:r>
            <a:endParaRPr lang="zh-CN" sz="1152"/>
          </a:p>
        </p:txBody>
      </p:sp>
      <p:sp>
        <p:nvSpPr>
          <p:cNvPr id="41" name="line 41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31520" y="7808976"/>
            <a:ext cx="202996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依据：五阶段；状态组合与不变量</a:t>
            </a:r>
            <a:endParaRPr lang="zh-CN" sz="1008"/>
          </a:p>
        </p:txBody>
      </p:sp>
      <p:sp>
        <p:nvSpPr>
          <p:cNvPr id="43" name="text 43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09 / 36</a:t>
            </a:r>
            <a:endParaRPr lang="zh-CN" sz="136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四种记录，避免把“重跑”误当成“又失败一次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67128"/>
            <a:ext cx="3108960" cy="224942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37744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04872"/>
            <a:ext cx="777240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Task</a:t>
            </a:r>
            <a:endParaRPr lang="zh-CN" sz="2304"/>
          </a:p>
        </p:txBody>
      </p:sp>
      <p:sp>
        <p:nvSpPr>
          <p:cNvPr id="6" name="text 6"/>
          <p:cNvSpPr txBox="1"/>
          <p:nvPr/>
        </p:nvSpPr>
        <p:spPr>
          <a:xfrm>
            <a:off x="960120" y="2980944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约定要做什么</a:t>
            </a:r>
            <a:endParaRPr lang="zh-CN" sz="1872"/>
          </a:p>
        </p:txBody>
      </p:sp>
      <p:sp>
        <p:nvSpPr>
          <p:cNvPr id="7" name="text 7"/>
          <p:cNvSpPr txBox="1"/>
          <p:nvPr/>
        </p:nvSpPr>
        <p:spPr>
          <a:xfrm>
            <a:off x="960120" y="3328050"/>
            <a:ext cx="248716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保存目标、验收与终态</a:t>
            </a:r>
            <a:endParaRPr lang="zh-CN" sz="1872"/>
          </a:p>
        </p:txBody>
      </p:sp>
      <p:sp>
        <p:nvSpPr>
          <p:cNvPr id="8" name="rect 8"/>
          <p:cNvSpPr/>
          <p:nvPr/>
        </p:nvSpPr>
        <p:spPr>
          <a:xfrm>
            <a:off x="4059936" y="2167128"/>
            <a:ext cx="3108960" cy="224942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059936" y="237744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288536" y="2404872"/>
            <a:ext cx="1554480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Execution</a:t>
            </a:r>
            <a:endParaRPr lang="zh-CN" sz="2304"/>
          </a:p>
        </p:txBody>
      </p:sp>
      <p:sp>
        <p:nvSpPr>
          <p:cNvPr id="11" name="text 11"/>
          <p:cNvSpPr txBox="1"/>
          <p:nvPr/>
        </p:nvSpPr>
        <p:spPr>
          <a:xfrm>
            <a:off x="4288536" y="2980944"/>
            <a:ext cx="201168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记录一次怎样运行</a:t>
            </a:r>
            <a:endParaRPr lang="zh-CN" sz="1872"/>
          </a:p>
        </p:txBody>
      </p:sp>
      <p:sp>
        <p:nvSpPr>
          <p:cNvPr id="12" name="text 12"/>
          <p:cNvSpPr txBox="1"/>
          <p:nvPr/>
        </p:nvSpPr>
        <p:spPr>
          <a:xfrm>
            <a:off x="4288536" y="3328050"/>
            <a:ext cx="272491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保存进程、资源与闭合证</a:t>
            </a:r>
            <a:endParaRPr lang="zh-CN" sz="1872"/>
          </a:p>
        </p:txBody>
      </p:sp>
      <p:sp>
        <p:nvSpPr>
          <p:cNvPr id="13" name="text 13"/>
          <p:cNvSpPr txBox="1"/>
          <p:nvPr/>
        </p:nvSpPr>
        <p:spPr>
          <a:xfrm>
            <a:off x="4288536" y="3675156"/>
            <a:ext cx="34747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据</a:t>
            </a:r>
            <a:endParaRPr lang="zh-CN" sz="1872"/>
          </a:p>
        </p:txBody>
      </p:sp>
      <p:sp>
        <p:nvSpPr>
          <p:cNvPr id="14" name="rect 14"/>
          <p:cNvSpPr/>
          <p:nvPr/>
        </p:nvSpPr>
        <p:spPr>
          <a:xfrm>
            <a:off x="7388352" y="2167128"/>
            <a:ext cx="3108960" cy="224942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rect 15"/>
          <p:cNvSpPr/>
          <p:nvPr/>
        </p:nvSpPr>
        <p:spPr>
          <a:xfrm>
            <a:off x="7388352" y="237744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616952" y="2404872"/>
            <a:ext cx="1591056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Candidate</a:t>
            </a:r>
            <a:endParaRPr lang="zh-CN" sz="2304"/>
          </a:p>
        </p:txBody>
      </p:sp>
      <p:sp>
        <p:nvSpPr>
          <p:cNvPr id="17" name="text 17"/>
          <p:cNvSpPr txBox="1"/>
          <p:nvPr/>
        </p:nvSpPr>
        <p:spPr>
          <a:xfrm>
            <a:off x="7616952" y="2980944"/>
            <a:ext cx="201168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冻结一次交付内容</a:t>
            </a:r>
            <a:endParaRPr lang="zh-CN" sz="1872"/>
          </a:p>
        </p:txBody>
      </p:sp>
      <p:sp>
        <p:nvSpPr>
          <p:cNvPr id="18" name="text 18"/>
          <p:cNvSpPr txBox="1"/>
          <p:nvPr/>
        </p:nvSpPr>
        <p:spPr>
          <a:xfrm>
            <a:off x="7616952" y="3328050"/>
            <a:ext cx="24231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commit / 报告 / 证据</a:t>
            </a:r>
            <a:endParaRPr lang="zh-CN" sz="1872"/>
          </a:p>
        </p:txBody>
      </p:sp>
      <p:sp>
        <p:nvSpPr>
          <p:cNvPr id="19" name="rect 19"/>
          <p:cNvSpPr/>
          <p:nvPr/>
        </p:nvSpPr>
        <p:spPr>
          <a:xfrm>
            <a:off x="10716768" y="2167128"/>
            <a:ext cx="3108960" cy="2249424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rect 20"/>
          <p:cNvSpPr/>
          <p:nvPr/>
        </p:nvSpPr>
        <p:spPr>
          <a:xfrm>
            <a:off x="10716768" y="237744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0945368" y="2404872"/>
            <a:ext cx="1152144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Review</a:t>
            </a:r>
            <a:endParaRPr lang="zh-CN" sz="2304"/>
          </a:p>
        </p:txBody>
      </p:sp>
      <p:sp>
        <p:nvSpPr>
          <p:cNvPr id="22" name="text 22"/>
          <p:cNvSpPr txBox="1"/>
          <p:nvPr/>
        </p:nvSpPr>
        <p:spPr>
          <a:xfrm>
            <a:off x="10945368" y="2980944"/>
            <a:ext cx="201168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绑定一次独立判决</a:t>
            </a:r>
            <a:endParaRPr lang="zh-CN" sz="1872"/>
          </a:p>
        </p:txBody>
      </p:sp>
      <p:sp>
        <p:nvSpPr>
          <p:cNvPr id="23" name="text 23"/>
          <p:cNvSpPr txBox="1"/>
          <p:nvPr/>
        </p:nvSpPr>
        <p:spPr>
          <a:xfrm>
            <a:off x="10945368" y="3328050"/>
            <a:ext cx="272491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候选、身份、租约与依据</a:t>
            </a:r>
            <a:endParaRPr lang="zh-CN" sz="1872"/>
          </a:p>
        </p:txBody>
      </p:sp>
      <p:sp>
        <p:nvSpPr>
          <p:cNvPr id="24" name="text 24"/>
          <p:cNvSpPr txBox="1"/>
          <p:nvPr/>
        </p:nvSpPr>
        <p:spPr>
          <a:xfrm>
            <a:off x="731520" y="4809744"/>
            <a:ext cx="267004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同一任务的示例时间线</a:t>
            </a:r>
            <a:endParaRPr lang="zh-CN" sz="2016"/>
          </a:p>
        </p:txBody>
      </p:sp>
      <p:sp>
        <p:nvSpPr>
          <p:cNvPr id="25" name="rect 25"/>
          <p:cNvSpPr/>
          <p:nvPr/>
        </p:nvSpPr>
        <p:spPr>
          <a:xfrm>
            <a:off x="731520" y="5285232"/>
            <a:ext cx="2743200" cy="1106424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32688" y="5468112"/>
            <a:ext cx="1042416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E1 中断</a:t>
            </a:r>
            <a:endParaRPr lang="zh-CN" sz="2088"/>
          </a:p>
        </p:txBody>
      </p:sp>
      <p:sp>
        <p:nvSpPr>
          <p:cNvPr id="27" name="text 27"/>
          <p:cNvSpPr txBox="1"/>
          <p:nvPr/>
        </p:nvSpPr>
        <p:spPr>
          <a:xfrm>
            <a:off x="932688" y="5907024"/>
            <a:ext cx="9601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0 个候选</a:t>
            </a:r>
            <a:endParaRPr lang="zh-CN" sz="1728"/>
          </a:p>
        </p:txBody>
      </p:sp>
      <p:sp>
        <p:nvSpPr>
          <p:cNvPr id="28" name="rect 28"/>
          <p:cNvSpPr/>
          <p:nvPr/>
        </p:nvSpPr>
        <p:spPr>
          <a:xfrm>
            <a:off x="4114800" y="5285232"/>
            <a:ext cx="2743200" cy="1106424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4315968" y="5468112"/>
            <a:ext cx="12070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E2 → C1</a:t>
            </a:r>
            <a:endParaRPr lang="zh-CN" sz="2088"/>
          </a:p>
        </p:txBody>
      </p:sp>
      <p:sp>
        <p:nvSpPr>
          <p:cNvPr id="30" name="text 30"/>
          <p:cNvSpPr txBox="1"/>
          <p:nvPr/>
        </p:nvSpPr>
        <p:spPr>
          <a:xfrm>
            <a:off x="4315968" y="5907024"/>
            <a:ext cx="128016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REJECT × 1</a:t>
            </a:r>
            <a:endParaRPr lang="zh-CN" sz="1728"/>
          </a:p>
        </p:txBody>
      </p:sp>
      <p:sp>
        <p:nvSpPr>
          <p:cNvPr id="31" name="rect 31"/>
          <p:cNvSpPr/>
          <p:nvPr/>
        </p:nvSpPr>
        <p:spPr>
          <a:xfrm>
            <a:off x="7498080" y="5285232"/>
            <a:ext cx="2743200" cy="1106424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699248" y="5468112"/>
            <a:ext cx="12070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E3 → C2</a:t>
            </a:r>
            <a:endParaRPr lang="zh-CN" sz="2088"/>
          </a:p>
        </p:txBody>
      </p:sp>
      <p:sp>
        <p:nvSpPr>
          <p:cNvPr id="33" name="text 33"/>
          <p:cNvSpPr txBox="1"/>
          <p:nvPr/>
        </p:nvSpPr>
        <p:spPr>
          <a:xfrm>
            <a:off x="7699248" y="5907024"/>
            <a:ext cx="65836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PASS</a:t>
            </a:r>
            <a:endParaRPr lang="zh-CN" sz="1728"/>
          </a:p>
        </p:txBody>
      </p:sp>
      <p:sp>
        <p:nvSpPr>
          <p:cNvPr id="34" name="line 34"/>
          <p:cNvSpPr/>
          <p:nvPr/>
        </p:nvSpPr>
        <p:spPr>
          <a:xfrm>
            <a:off x="3529584" y="5806440"/>
            <a:ext cx="493776" cy="1"/>
          </a:xfrm>
          <a:prstGeom prst="line">
            <a:avLst/>
          </a:prstGeom>
          <a:noFill/>
          <a:ln w="18288">
            <a:solidFill>
              <a:srgbClr val="647874"/>
            </a:solidFill>
          </a:ln>
        </p:spPr>
      </p:sp>
      <p:sp>
        <p:nvSpPr>
          <p:cNvPr id="35" name="poly 35"/>
          <p:cNvSpPr/>
          <p:nvPr/>
        </p:nvSpPr>
        <p:spPr>
          <a:xfrm>
            <a:off x="3924556" y="575871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647874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6912864" y="5806440"/>
            <a:ext cx="493776" cy="1"/>
          </a:xfrm>
          <a:prstGeom prst="line">
            <a:avLst/>
          </a:prstGeom>
          <a:noFill/>
          <a:ln w="18288">
            <a:solidFill>
              <a:srgbClr val="647874"/>
            </a:solidFill>
          </a:ln>
        </p:spPr>
      </p:sp>
      <p:sp>
        <p:nvSpPr>
          <p:cNvPr id="37" name="poly 37"/>
          <p:cNvSpPr/>
          <p:nvPr/>
        </p:nvSpPr>
        <p:spPr>
          <a:xfrm>
            <a:off x="7307836" y="575871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647874"/>
          </a:solidFill>
          <a:ln>
            <a:noFill/>
          </a:ln>
        </p:spPr>
      </p:sp>
      <p:sp>
        <p:nvSpPr>
          <p:cNvPr id="38" name="rect 38"/>
          <p:cNvSpPr/>
          <p:nvPr/>
        </p:nvSpPr>
        <p:spPr>
          <a:xfrm>
            <a:off x="10927080" y="5166360"/>
            <a:ext cx="2971800" cy="1463040"/>
          </a:xfrm>
          <a:prstGeom prst="roundRect">
            <a:avLst>
              <a:gd name="adj" fmla="val 11250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11173968" y="5385816"/>
            <a:ext cx="213969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统计只记 1 个任务</a:t>
            </a:r>
            <a:endParaRPr lang="zh-CN" sz="1944"/>
          </a:p>
        </p:txBody>
      </p:sp>
      <p:sp>
        <p:nvSpPr>
          <p:cNvPr id="40" name="text 40"/>
          <p:cNvSpPr txBox="1"/>
          <p:nvPr/>
        </p:nvSpPr>
        <p:spPr>
          <a:xfrm>
            <a:off x="11173968" y="5852160"/>
            <a:ext cx="20208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3 次执行 ≠ 3 个样本</a:t>
            </a:r>
            <a:endParaRPr lang="zh-CN" sz="1656"/>
          </a:p>
        </p:txBody>
      </p:sp>
      <p:sp>
        <p:nvSpPr>
          <p:cNvPr id="41" name="rect 41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950976" y="6967728"/>
            <a:ext cx="628192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拆开运行与判决，才能让可恢复故障保持原有审核次数。</a:t>
            </a:r>
            <a:endParaRPr lang="zh-CN" sz="1944"/>
          </a:p>
        </p:txBody>
      </p:sp>
      <p:sp>
        <p:nvSpPr>
          <p:cNvPr id="43" name="text 43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业务闭环</a:t>
            </a:r>
            <a:endParaRPr lang="zh-CN" sz="1296"/>
          </a:p>
        </p:txBody>
      </p:sp>
      <p:sp>
        <p:nvSpPr>
          <p:cNvPr id="44" name="text 44"/>
          <p:cNvSpPr txBox="1"/>
          <p:nvPr/>
        </p:nvSpPr>
        <p:spPr>
          <a:xfrm>
            <a:off x="731520" y="850392"/>
            <a:ext cx="976579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四种记录，避免把“重跑”误当成“又失败一次”</a:t>
            </a:r>
            <a:endParaRPr lang="zh-CN" sz="3456"/>
          </a:p>
        </p:txBody>
      </p:sp>
      <p:sp>
        <p:nvSpPr>
          <p:cNvPr id="45" name="text 45"/>
          <p:cNvSpPr txBox="1"/>
          <p:nvPr/>
        </p:nvSpPr>
        <p:spPr>
          <a:xfrm>
            <a:off x="749808" y="1536192"/>
            <a:ext cx="734263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一个 Task 可以有多次 Execution；只有有效审核判决才消耗审核机会。</a:t>
            </a:r>
            <a:endParaRPr lang="zh-CN" sz="1800"/>
          </a:p>
        </p:txBody>
      </p:sp>
      <p:sp>
        <p:nvSpPr>
          <p:cNvPr id="46" name="rect 46"/>
          <p:cNvSpPr/>
          <p:nvPr/>
        </p:nvSpPr>
        <p:spPr>
          <a:xfrm>
            <a:off x="12673584" y="320040"/>
            <a:ext cx="122529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 47"/>
          <p:cNvSpPr txBox="1"/>
          <p:nvPr/>
        </p:nvSpPr>
        <p:spPr>
          <a:xfrm>
            <a:off x="12783312" y="384048"/>
            <a:ext cx="111556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对象与关系</a:t>
            </a:r>
            <a:endParaRPr lang="zh-CN" sz="1152"/>
          </a:p>
        </p:txBody>
      </p:sp>
      <p:sp>
        <p:nvSpPr>
          <p:cNvPr id="48" name="line 48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731520" y="7808976"/>
            <a:ext cx="215798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依据：核心对象；事务与唯一性约束</a:t>
            </a:r>
            <a:endParaRPr lang="zh-CN" sz="1008"/>
          </a:p>
        </p:txBody>
      </p:sp>
      <p:sp>
        <p:nvSpPr>
          <p:cNvPr id="50" name="text 50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10 / 36</a:t>
            </a:r>
            <a:endParaRPr lang="zh-CN" sz="136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两次冻结：先锁定题目，再锁定具体材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240280"/>
            <a:ext cx="5943600" cy="307238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45059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78024"/>
            <a:ext cx="205740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冻结 ①  提交时</a:t>
            </a:r>
            <a:endParaRPr lang="zh-CN" sz="2232"/>
          </a:p>
        </p:txBody>
      </p:sp>
      <p:sp>
        <p:nvSpPr>
          <p:cNvPr id="6" name="text 6"/>
          <p:cNvSpPr txBox="1"/>
          <p:nvPr/>
        </p:nvSpPr>
        <p:spPr>
          <a:xfrm>
            <a:off x="960120" y="3054096"/>
            <a:ext cx="123444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TaskSpec</a:t>
            </a:r>
            <a:endParaRPr lang="zh-CN" sz="2016"/>
          </a:p>
        </p:txBody>
      </p:sp>
      <p:sp>
        <p:nvSpPr>
          <p:cNvPr id="7" name="text 7"/>
          <p:cNvSpPr txBox="1"/>
          <p:nvPr/>
        </p:nvSpPr>
        <p:spPr>
          <a:xfrm>
            <a:off x="960120" y="3427903"/>
            <a:ext cx="369417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目标 / 范围 / 成果 / 验收 / 难度</a:t>
            </a:r>
            <a:endParaRPr lang="zh-CN" sz="2016"/>
          </a:p>
        </p:txBody>
      </p:sp>
      <p:sp>
        <p:nvSpPr>
          <p:cNvPr id="8" name="text 8"/>
          <p:cNvSpPr txBox="1"/>
          <p:nvPr/>
        </p:nvSpPr>
        <p:spPr>
          <a:xfrm>
            <a:off x="960120" y="3801709"/>
            <a:ext cx="292608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明确输入与依赖选择规则</a:t>
            </a:r>
            <a:endParaRPr lang="zh-CN" sz="2016"/>
          </a:p>
        </p:txBody>
      </p:sp>
      <p:sp>
        <p:nvSpPr>
          <p:cNvPr id="9" name="text 9"/>
          <p:cNvSpPr txBox="1"/>
          <p:nvPr/>
        </p:nvSpPr>
        <p:spPr>
          <a:xfrm>
            <a:off x="960120" y="4175516"/>
            <a:ext cx="267004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项目默认值和规则版本</a:t>
            </a:r>
            <a:endParaRPr lang="zh-CN" sz="2016"/>
          </a:p>
        </p:txBody>
      </p:sp>
      <p:sp>
        <p:nvSpPr>
          <p:cNvPr id="10" name="rect 10"/>
          <p:cNvSpPr/>
          <p:nvPr/>
        </p:nvSpPr>
        <p:spPr>
          <a:xfrm>
            <a:off x="960120" y="4837176"/>
            <a:ext cx="1225296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106424" y="4901184"/>
            <a:ext cx="1042416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题目不再改变</a:t>
            </a:r>
            <a:endParaRPr lang="zh-CN" sz="1224"/>
          </a:p>
        </p:txBody>
      </p:sp>
      <p:sp>
        <p:nvSpPr>
          <p:cNvPr id="12" name="rect 12"/>
          <p:cNvSpPr/>
          <p:nvPr/>
        </p:nvSpPr>
        <p:spPr>
          <a:xfrm>
            <a:off x="7955280" y="2240280"/>
            <a:ext cx="5943600" cy="307238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7955280" y="245059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183880" y="2478024"/>
            <a:ext cx="262432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冻结 ②  首次派发前</a:t>
            </a:r>
            <a:endParaRPr lang="zh-CN" sz="2232"/>
          </a:p>
        </p:txBody>
      </p:sp>
      <p:sp>
        <p:nvSpPr>
          <p:cNvPr id="15" name="text 15"/>
          <p:cNvSpPr txBox="1"/>
          <p:nvPr/>
        </p:nvSpPr>
        <p:spPr>
          <a:xfrm>
            <a:off x="8183880" y="3054096"/>
            <a:ext cx="374904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ResolvedInputs + Assignment</a:t>
            </a:r>
            <a:endParaRPr lang="zh-CN" sz="2016"/>
          </a:p>
        </p:txBody>
      </p:sp>
      <p:sp>
        <p:nvSpPr>
          <p:cNvPr id="16" name="text 16"/>
          <p:cNvSpPr txBox="1"/>
          <p:nvPr/>
        </p:nvSpPr>
        <p:spPr>
          <a:xfrm>
            <a:off x="8183880" y="3427903"/>
            <a:ext cx="353872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实际 base commit / 上游候选</a:t>
            </a:r>
            <a:endParaRPr lang="zh-CN" sz="2016"/>
          </a:p>
        </p:txBody>
      </p:sp>
      <p:sp>
        <p:nvSpPr>
          <p:cNvPr id="17" name="text 17"/>
          <p:cNvSpPr txBox="1"/>
          <p:nvPr/>
        </p:nvSpPr>
        <p:spPr>
          <a:xfrm>
            <a:off x="8183880" y="3801709"/>
            <a:ext cx="24140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内容摘要与保留引用</a:t>
            </a:r>
            <a:endParaRPr lang="zh-CN" sz="2016"/>
          </a:p>
        </p:txBody>
      </p:sp>
      <p:sp>
        <p:nvSpPr>
          <p:cNvPr id="18" name="text 18"/>
          <p:cNvSpPr txBox="1"/>
          <p:nvPr/>
        </p:nvSpPr>
        <p:spPr>
          <a:xfrm>
            <a:off x="8183880" y="4175516"/>
            <a:ext cx="359359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绑定模型、worker 与固定配置</a:t>
            </a:r>
            <a:endParaRPr lang="zh-CN" sz="2016"/>
          </a:p>
        </p:txBody>
      </p:sp>
      <p:sp>
        <p:nvSpPr>
          <p:cNvPr id="19" name="rect 19"/>
          <p:cNvSpPr/>
          <p:nvPr/>
        </p:nvSpPr>
        <p:spPr>
          <a:xfrm>
            <a:off x="8183880" y="4837176"/>
            <a:ext cx="1691640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330184" y="4901184"/>
            <a:ext cx="1508760" cy="240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材料与执行配置固定</a:t>
            </a:r>
            <a:endParaRPr lang="zh-CN" sz="1224"/>
          </a:p>
        </p:txBody>
      </p:sp>
      <p:sp>
        <p:nvSpPr>
          <p:cNvPr id="21" name="line 21"/>
          <p:cNvSpPr/>
          <p:nvPr/>
        </p:nvSpPr>
        <p:spPr>
          <a:xfrm>
            <a:off x="6803136" y="3675888"/>
            <a:ext cx="1014984" cy="1"/>
          </a:xfrm>
          <a:prstGeom prst="line">
            <a:avLst/>
          </a:prstGeom>
          <a:noFill/>
          <a:ln w="27432">
            <a:solidFill>
              <a:srgbClr val="127C72"/>
            </a:solidFill>
          </a:ln>
        </p:spPr>
      </p:sp>
      <p:sp>
        <p:nvSpPr>
          <p:cNvPr id="22" name="poly 22"/>
          <p:cNvSpPr/>
          <p:nvPr/>
        </p:nvSpPr>
        <p:spPr>
          <a:xfrm>
            <a:off x="7719316" y="362816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876288" y="3977640"/>
            <a:ext cx="9875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等待依赖</a:t>
            </a:r>
            <a:endParaRPr lang="zh-CN" sz="1728"/>
          </a:p>
        </p:txBody>
      </p:sp>
      <p:sp>
        <p:nvSpPr>
          <p:cNvPr id="24" name="rect 24"/>
          <p:cNvSpPr/>
          <p:nvPr/>
        </p:nvSpPr>
        <p:spPr>
          <a:xfrm>
            <a:off x="731520" y="5614416"/>
            <a:ext cx="1316736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69264" y="5815584"/>
            <a:ext cx="136245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上游 PASS</a:t>
            </a:r>
            <a:endParaRPr lang="zh-CN" sz="2016"/>
          </a:p>
        </p:txBody>
      </p:sp>
      <p:sp>
        <p:nvSpPr>
          <p:cNvPr id="26" name="text 26"/>
          <p:cNvSpPr txBox="1"/>
          <p:nvPr/>
        </p:nvSpPr>
        <p:spPr>
          <a:xfrm>
            <a:off x="3108960" y="5824728"/>
            <a:ext cx="771753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→ 下游读取精确候选；需要整合时，由主线显式准备新的确定 base。</a:t>
            </a:r>
            <a:endParaRPr lang="zh-CN" sz="1944"/>
          </a:p>
        </p:txBody>
      </p:sp>
      <p:sp>
        <p:nvSpPr>
          <p:cNvPr id="27" name="rect 27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50976" y="6967728"/>
            <a:ext cx="776325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调整目标、难度、验收或模型：建立关联新任务，保留原合同与结果。</a:t>
            </a:r>
            <a:endParaRPr lang="zh-CN" sz="1944"/>
          </a:p>
        </p:txBody>
      </p:sp>
      <p:sp>
        <p:nvSpPr>
          <p:cNvPr id="29" name="text 29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业务闭环</a:t>
            </a:r>
            <a:endParaRPr lang="zh-CN" sz="1296"/>
          </a:p>
        </p:txBody>
      </p:sp>
      <p:sp>
        <p:nvSpPr>
          <p:cNvPr id="30" name="text 30"/>
          <p:cNvSpPr txBox="1"/>
          <p:nvPr/>
        </p:nvSpPr>
        <p:spPr>
          <a:xfrm>
            <a:off x="731520" y="850392"/>
            <a:ext cx="8010144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两次冻结：先锁定题目，再锁定具体材料</a:t>
            </a:r>
            <a:endParaRPr lang="zh-CN" sz="3456"/>
          </a:p>
        </p:txBody>
      </p:sp>
      <p:sp>
        <p:nvSpPr>
          <p:cNvPr id="31" name="text 31"/>
          <p:cNvSpPr txBox="1"/>
          <p:nvPr/>
        </p:nvSpPr>
        <p:spPr>
          <a:xfrm>
            <a:off x="749808" y="1536192"/>
            <a:ext cx="6510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允许等待依赖，同时保证同一任务的返修始终回答同一个问题。</a:t>
            </a:r>
            <a:endParaRPr lang="zh-CN" sz="1800"/>
          </a:p>
        </p:txBody>
      </p:sp>
      <p:sp>
        <p:nvSpPr>
          <p:cNvPr id="32" name="rect 32"/>
          <p:cNvSpPr/>
          <p:nvPr/>
        </p:nvSpPr>
        <p:spPr>
          <a:xfrm>
            <a:off x="11978640" y="320040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12088368" y="384048"/>
            <a:ext cx="181051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双阶段冻结 / V1 依赖</a:t>
            </a:r>
            <a:endParaRPr lang="zh-CN" sz="1152"/>
          </a:p>
        </p:txBody>
      </p:sp>
      <p:sp>
        <p:nvSpPr>
          <p:cNvPr id="34" name="line 34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731520" y="7808976"/>
            <a:ext cx="202996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依据：输入冻结与依赖；任务合同</a:t>
            </a:r>
            <a:endParaRPr lang="zh-CN" sz="1008"/>
          </a:p>
        </p:txBody>
      </p:sp>
      <p:sp>
        <p:nvSpPr>
          <p:cNvPr id="36" name="text 36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11 / 36</a:t>
            </a:r>
            <a:endParaRPr lang="zh-CN" sz="136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模型分配从公平探索开始，再用足够证据形成偏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240280"/>
            <a:ext cx="31089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423160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1 过滤</a:t>
            </a:r>
            <a:endParaRPr lang="zh-CN" sz="2232"/>
          </a:p>
        </p:txBody>
      </p:sp>
      <p:sp>
        <p:nvSpPr>
          <p:cNvPr id="5" name="text 5"/>
          <p:cNvSpPr txBox="1"/>
          <p:nvPr/>
        </p:nvSpPr>
        <p:spPr>
          <a:xfrm>
            <a:off x="932688" y="2862072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可用性、原生能力</a:t>
            </a:r>
            <a:endParaRPr lang="zh-CN" sz="1728"/>
          </a:p>
        </p:txBody>
      </p:sp>
      <p:sp>
        <p:nvSpPr>
          <p:cNvPr id="6" name="text 6"/>
          <p:cNvSpPr txBox="1"/>
          <p:nvPr/>
        </p:nvSpPr>
        <p:spPr>
          <a:xfrm>
            <a:off x="932688" y="3169310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空闲槽、资源条件</a:t>
            </a:r>
            <a:endParaRPr lang="zh-CN" sz="1728"/>
          </a:p>
        </p:txBody>
      </p:sp>
      <p:sp>
        <p:nvSpPr>
          <p:cNvPr id="7" name="line 7"/>
          <p:cNvSpPr/>
          <p:nvPr/>
        </p:nvSpPr>
        <p:spPr>
          <a:xfrm>
            <a:off x="3895344" y="3008376"/>
            <a:ext cx="128016" cy="1"/>
          </a:xfrm>
          <a:prstGeom prst="line">
            <a:avLst/>
          </a:prstGeom>
          <a:noFill/>
          <a:ln w="18288">
            <a:solidFill>
              <a:srgbClr val="3C7398"/>
            </a:solidFill>
          </a:ln>
        </p:spPr>
      </p:sp>
      <p:sp>
        <p:nvSpPr>
          <p:cNvPr id="8" name="poly 8"/>
          <p:cNvSpPr/>
          <p:nvPr/>
        </p:nvSpPr>
        <p:spPr>
          <a:xfrm>
            <a:off x="3924556" y="296064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3C7398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069080" y="2240280"/>
            <a:ext cx="31089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270248" y="2423160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2 选择</a:t>
            </a:r>
            <a:endParaRPr lang="zh-CN" sz="2232"/>
          </a:p>
        </p:txBody>
      </p:sp>
      <p:sp>
        <p:nvSpPr>
          <p:cNvPr id="11" name="text 11"/>
          <p:cNvSpPr txBox="1"/>
          <p:nvPr/>
        </p:nvSpPr>
        <p:spPr>
          <a:xfrm>
            <a:off x="4270248" y="2862072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冷启动：随机</a:t>
            </a:r>
            <a:endParaRPr lang="zh-CN" sz="1728"/>
          </a:p>
        </p:txBody>
      </p:sp>
      <p:sp>
        <p:nvSpPr>
          <p:cNvPr id="12" name="text 12"/>
          <p:cNvSpPr txBox="1"/>
          <p:nvPr/>
        </p:nvSpPr>
        <p:spPr>
          <a:xfrm>
            <a:off x="4270248" y="3169310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成熟组：能力偏好</a:t>
            </a:r>
            <a:endParaRPr lang="zh-CN" sz="1728"/>
          </a:p>
        </p:txBody>
      </p:sp>
      <p:sp>
        <p:nvSpPr>
          <p:cNvPr id="13" name="line 13"/>
          <p:cNvSpPr/>
          <p:nvPr/>
        </p:nvSpPr>
        <p:spPr>
          <a:xfrm>
            <a:off x="7232904" y="3008376"/>
            <a:ext cx="128016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14" name="poly 14"/>
          <p:cNvSpPr/>
          <p:nvPr/>
        </p:nvSpPr>
        <p:spPr>
          <a:xfrm>
            <a:off x="7262116" y="296064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15" name="rect 15"/>
          <p:cNvSpPr/>
          <p:nvPr/>
        </p:nvSpPr>
        <p:spPr>
          <a:xfrm>
            <a:off x="7406640" y="2240280"/>
            <a:ext cx="31089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607808" y="2423160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3 准入</a:t>
            </a:r>
            <a:endParaRPr lang="zh-CN" sz="2232"/>
          </a:p>
        </p:txBody>
      </p:sp>
      <p:sp>
        <p:nvSpPr>
          <p:cNvPr id="17" name="text 17"/>
          <p:cNvSpPr txBox="1"/>
          <p:nvPr/>
        </p:nvSpPr>
        <p:spPr>
          <a:xfrm>
            <a:off x="7607808" y="2862072"/>
            <a:ext cx="149961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槽位 + 总预算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7607808" y="3169310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完整共享资源集合</a:t>
            </a:r>
            <a:endParaRPr lang="zh-CN" sz="1728"/>
          </a:p>
        </p:txBody>
      </p:sp>
      <p:sp>
        <p:nvSpPr>
          <p:cNvPr id="19" name="line 19"/>
          <p:cNvSpPr/>
          <p:nvPr/>
        </p:nvSpPr>
        <p:spPr>
          <a:xfrm>
            <a:off x="10570464" y="3008376"/>
            <a:ext cx="128016" cy="1"/>
          </a:xfrm>
          <a:prstGeom prst="line">
            <a:avLst/>
          </a:prstGeom>
          <a:noFill/>
          <a:ln w="18288">
            <a:solidFill>
              <a:srgbClr val="E76A3B"/>
            </a:solidFill>
          </a:ln>
        </p:spPr>
      </p:sp>
      <p:sp>
        <p:nvSpPr>
          <p:cNvPr id="20" name="poly 20"/>
          <p:cNvSpPr/>
          <p:nvPr/>
        </p:nvSpPr>
        <p:spPr>
          <a:xfrm>
            <a:off x="10599676" y="296064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E76A3B"/>
          </a:solidFill>
          <a:ln>
            <a:noFill/>
          </a:ln>
        </p:spPr>
      </p:sp>
      <p:sp>
        <p:nvSpPr>
          <p:cNvPr id="21" name="rect 21"/>
          <p:cNvSpPr/>
          <p:nvPr/>
        </p:nvSpPr>
        <p:spPr>
          <a:xfrm>
            <a:off x="10744200" y="2240280"/>
            <a:ext cx="31089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945368" y="2423160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4 绑定</a:t>
            </a:r>
            <a:endParaRPr lang="zh-CN" sz="2232"/>
          </a:p>
        </p:txBody>
      </p:sp>
      <p:sp>
        <p:nvSpPr>
          <p:cNvPr id="23" name="text 23"/>
          <p:cNvSpPr txBox="1"/>
          <p:nvPr/>
        </p:nvSpPr>
        <p:spPr>
          <a:xfrm>
            <a:off x="10945368" y="2862072"/>
            <a:ext cx="171907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模型 + 固定配置</a:t>
            </a:r>
            <a:endParaRPr lang="zh-CN" sz="1728"/>
          </a:p>
        </p:txBody>
      </p:sp>
      <p:sp>
        <p:nvSpPr>
          <p:cNvPr id="24" name="text 24"/>
          <p:cNvSpPr txBox="1"/>
          <p:nvPr/>
        </p:nvSpPr>
        <p:spPr>
          <a:xfrm>
            <a:off x="10945368" y="3169310"/>
            <a:ext cx="215798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策略版本 + 分配理由</a:t>
            </a:r>
            <a:endParaRPr lang="zh-CN" sz="1728"/>
          </a:p>
        </p:txBody>
      </p:sp>
      <p:sp>
        <p:nvSpPr>
          <p:cNvPr id="25" name="rect 25"/>
          <p:cNvSpPr/>
          <p:nvPr/>
        </p:nvSpPr>
        <p:spPr>
          <a:xfrm>
            <a:off x="731520" y="4197096"/>
            <a:ext cx="6400800" cy="2258568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69264" y="4416552"/>
            <a:ext cx="367588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为什么先选模型，再选槽位？</a:t>
            </a:r>
            <a:endParaRPr lang="zh-CN" sz="2160"/>
          </a:p>
        </p:txBody>
      </p:sp>
      <p:sp>
        <p:nvSpPr>
          <p:cNvPr id="27" name="rect 27"/>
          <p:cNvSpPr/>
          <p:nvPr/>
        </p:nvSpPr>
        <p:spPr>
          <a:xfrm>
            <a:off x="978408" y="4965192"/>
            <a:ext cx="2112264" cy="320040"/>
          </a:xfrm>
          <a:prstGeom prst="roundRect">
            <a:avLst>
              <a:gd name="adj" fmla="val 48571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1124712" y="5029200"/>
            <a:ext cx="1929384" cy="311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8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模型 A：2 个空闲槽</a:t>
            </a:r>
            <a:endParaRPr lang="zh-CN" sz="1584"/>
          </a:p>
        </p:txBody>
      </p:sp>
      <p:sp>
        <p:nvSpPr>
          <p:cNvPr id="29" name="rect 29"/>
          <p:cNvSpPr/>
          <p:nvPr/>
        </p:nvSpPr>
        <p:spPr>
          <a:xfrm>
            <a:off x="978408" y="5458968"/>
            <a:ext cx="2093976" cy="320040"/>
          </a:xfrm>
          <a:prstGeom prst="roundRect">
            <a:avLst>
              <a:gd name="adj" fmla="val 48571"/>
            </a:avLst>
          </a:prstGeom>
          <a:solidFill>
            <a:srgbClr val="E0EAF1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124712" y="5522976"/>
            <a:ext cx="1911096" cy="311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84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模型 B：1 个空闲槽</a:t>
            </a:r>
            <a:endParaRPr lang="zh-CN" sz="1584"/>
          </a:p>
        </p:txBody>
      </p:sp>
      <p:sp>
        <p:nvSpPr>
          <p:cNvPr id="31" name="text 31"/>
          <p:cNvSpPr txBox="1"/>
          <p:nvPr/>
        </p:nvSpPr>
        <p:spPr>
          <a:xfrm>
            <a:off x="3995928" y="5029200"/>
            <a:ext cx="138988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建议冷启动</a:t>
            </a:r>
            <a:endParaRPr lang="zh-CN" sz="2016"/>
          </a:p>
        </p:txBody>
      </p:sp>
      <p:sp>
        <p:nvSpPr>
          <p:cNvPr id="32" name="text 32"/>
          <p:cNvSpPr txBox="1"/>
          <p:nvPr/>
        </p:nvSpPr>
        <p:spPr>
          <a:xfrm>
            <a:off x="3995928" y="5382524"/>
            <a:ext cx="158191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 / B 等概率</a:t>
            </a:r>
            <a:endParaRPr lang="zh-CN" sz="2016"/>
          </a:p>
        </p:txBody>
      </p:sp>
      <p:sp>
        <p:nvSpPr>
          <p:cNvPr id="33" name="rect 33"/>
          <p:cNvSpPr/>
          <p:nvPr/>
        </p:nvSpPr>
        <p:spPr>
          <a:xfrm>
            <a:off x="7351776" y="4197096"/>
            <a:ext cx="6547104" cy="2258568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rect 34"/>
          <p:cNvSpPr/>
          <p:nvPr/>
        </p:nvSpPr>
        <p:spPr>
          <a:xfrm>
            <a:off x="7351776" y="440740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7580376" y="4434840"/>
            <a:ext cx="266090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何时允许学习路由？</a:t>
            </a:r>
            <a:endParaRPr lang="zh-CN" sz="2232"/>
          </a:p>
        </p:txBody>
      </p:sp>
      <p:sp>
        <p:nvSpPr>
          <p:cNvPr id="36" name="text 36"/>
          <p:cNvSpPr txBox="1"/>
          <p:nvPr/>
        </p:nvSpPr>
        <p:spPr>
          <a:xfrm>
            <a:off x="7580376" y="5010912"/>
            <a:ext cx="599846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同难度、同窗口、成熟样本足够；差异与可比性达到</a:t>
            </a:r>
            <a:endParaRPr lang="zh-CN" sz="2016"/>
          </a:p>
        </p:txBody>
      </p:sp>
      <p:sp>
        <p:nvSpPr>
          <p:cNvPr id="37" name="text 37"/>
          <p:cNvSpPr txBox="1"/>
          <p:nvPr/>
        </p:nvSpPr>
        <p:spPr>
          <a:xfrm>
            <a:off x="7580376" y="5384719"/>
            <a:ext cx="318211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预设门槛，保留随机探索。</a:t>
            </a:r>
            <a:endParaRPr lang="zh-CN" sz="2016"/>
          </a:p>
        </p:txBody>
      </p:sp>
      <p:sp>
        <p:nvSpPr>
          <p:cNvPr id="38" name="rect 38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50976" y="6967728"/>
            <a:ext cx="652881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槽位数量表达容量；模型偏好必须来自可比较的任务结果。</a:t>
            </a:r>
            <a:endParaRPr lang="zh-CN" sz="1944"/>
          </a:p>
        </p:txBody>
      </p:sp>
      <p:sp>
        <p:nvSpPr>
          <p:cNvPr id="40" name="text 40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调度与学习</a:t>
            </a:r>
            <a:endParaRPr lang="zh-CN" sz="1296"/>
          </a:p>
        </p:txBody>
      </p:sp>
      <p:sp>
        <p:nvSpPr>
          <p:cNvPr id="41" name="text 41"/>
          <p:cNvSpPr txBox="1"/>
          <p:nvPr/>
        </p:nvSpPr>
        <p:spPr>
          <a:xfrm>
            <a:off x="731520" y="850392"/>
            <a:ext cx="976579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模型分配从公平探索开始，再用足够证据形成偏好</a:t>
            </a:r>
            <a:endParaRPr lang="zh-CN" sz="3456"/>
          </a:p>
        </p:txBody>
      </p:sp>
      <p:sp>
        <p:nvSpPr>
          <p:cNvPr id="42" name="text 42"/>
          <p:cNvSpPr txBox="1"/>
          <p:nvPr/>
        </p:nvSpPr>
        <p:spPr>
          <a:xfrm>
            <a:off x="749808" y="1536192"/>
            <a:ext cx="694944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用户配置固定 worker 池；主线只给难度；已绑定任务保持原模型。</a:t>
            </a:r>
            <a:endParaRPr lang="zh-CN" sz="1800"/>
          </a:p>
        </p:txBody>
      </p:sp>
      <p:sp>
        <p:nvSpPr>
          <p:cNvPr id="43" name="rect 43"/>
          <p:cNvSpPr/>
          <p:nvPr/>
        </p:nvSpPr>
        <p:spPr>
          <a:xfrm>
            <a:off x="11942064" y="320040"/>
            <a:ext cx="195681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2051792" y="384048"/>
            <a:ext cx="184708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自动择模 / D·P · 策略</a:t>
            </a:r>
            <a:endParaRPr lang="zh-CN" sz="1152"/>
          </a:p>
        </p:txBody>
      </p:sp>
      <p:sp>
        <p:nvSpPr>
          <p:cNvPr id="45" name="line 45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731520" y="7808976"/>
            <a:ext cx="3419856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依据：随机到能力偏好；成熟队列门槛；固定 worker 选择</a:t>
            </a:r>
            <a:endParaRPr lang="zh-CN" sz="1008"/>
          </a:p>
        </p:txBody>
      </p:sp>
      <p:sp>
        <p:nvSpPr>
          <p:cNvPr id="47" name="text 47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12 / 36</a:t>
            </a:r>
            <a:endParaRPr lang="zh-CN" sz="1368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完成率可能好看，等待中的任务必须留在视野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94560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304288"/>
            <a:ext cx="141732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同难度 / 同 H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2980944" y="2304288"/>
            <a:ext cx="11704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H 内 PASS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5193792" y="2304288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三轮失败</a:t>
            </a:r>
            <a:endParaRPr lang="zh-CN" sz="1656"/>
          </a:p>
        </p:txBody>
      </p:sp>
      <p:sp>
        <p:nvSpPr>
          <p:cNvPr id="7" name="text 7"/>
          <p:cNvSpPr txBox="1"/>
          <p:nvPr/>
        </p:nvSpPr>
        <p:spPr>
          <a:xfrm>
            <a:off x="7406640" y="2304288"/>
            <a:ext cx="118872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H 时未结束</a:t>
            </a:r>
            <a:endParaRPr lang="zh-CN" sz="1656"/>
          </a:p>
        </p:txBody>
      </p:sp>
      <p:sp>
        <p:nvSpPr>
          <p:cNvPr id="8" name="text 8"/>
          <p:cNvSpPr txBox="1"/>
          <p:nvPr/>
        </p:nvSpPr>
        <p:spPr>
          <a:xfrm>
            <a:off x="9619488" y="2304288"/>
            <a:ext cx="116128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结果完成率</a:t>
            </a:r>
            <a:endParaRPr lang="zh-CN" sz="1656"/>
          </a:p>
        </p:txBody>
      </p:sp>
      <p:sp>
        <p:nvSpPr>
          <p:cNvPr id="9" name="text 9"/>
          <p:cNvSpPr txBox="1"/>
          <p:nvPr/>
        </p:nvSpPr>
        <p:spPr>
          <a:xfrm>
            <a:off x="11832336" y="2304288"/>
            <a:ext cx="116128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按期通过率</a:t>
            </a:r>
            <a:endParaRPr lang="zh-CN" sz="1656"/>
          </a:p>
        </p:txBody>
      </p:sp>
      <p:sp>
        <p:nvSpPr>
          <p:cNvPr id="10" name="rect 10"/>
          <p:cNvSpPr/>
          <p:nvPr/>
        </p:nvSpPr>
        <p:spPr>
          <a:xfrm>
            <a:off x="731520" y="2679192"/>
            <a:ext cx="13167360" cy="92354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77824" y="2816352"/>
            <a:ext cx="96926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模型 A</a:t>
            </a:r>
            <a:endParaRPr lang="zh-CN" sz="2232"/>
          </a:p>
        </p:txBody>
      </p:sp>
      <p:sp>
        <p:nvSpPr>
          <p:cNvPr id="12" name="text 12"/>
          <p:cNvSpPr txBox="1"/>
          <p:nvPr/>
        </p:nvSpPr>
        <p:spPr>
          <a:xfrm>
            <a:off x="2980944" y="2816352"/>
            <a:ext cx="2743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2</a:t>
            </a:r>
            <a:endParaRPr lang="zh-CN" sz="2232"/>
          </a:p>
        </p:txBody>
      </p:sp>
      <p:sp>
        <p:nvSpPr>
          <p:cNvPr id="13" name="text 13"/>
          <p:cNvSpPr txBox="1"/>
          <p:nvPr/>
        </p:nvSpPr>
        <p:spPr>
          <a:xfrm>
            <a:off x="5193792" y="2816352"/>
            <a:ext cx="2743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0</a:t>
            </a:r>
            <a:endParaRPr lang="zh-CN" sz="2232"/>
          </a:p>
        </p:txBody>
      </p:sp>
      <p:sp>
        <p:nvSpPr>
          <p:cNvPr id="14" name="text 14"/>
          <p:cNvSpPr txBox="1"/>
          <p:nvPr/>
        </p:nvSpPr>
        <p:spPr>
          <a:xfrm>
            <a:off x="7406640" y="2816352"/>
            <a:ext cx="2743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8</a:t>
            </a:r>
            <a:endParaRPr lang="zh-CN" sz="2232"/>
          </a:p>
        </p:txBody>
      </p:sp>
      <p:sp>
        <p:nvSpPr>
          <p:cNvPr id="15" name="text 15"/>
          <p:cNvSpPr txBox="1"/>
          <p:nvPr/>
        </p:nvSpPr>
        <p:spPr>
          <a:xfrm>
            <a:off x="9619488" y="2816352"/>
            <a:ext cx="85953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100%</a:t>
            </a:r>
            <a:endParaRPr lang="zh-CN" sz="2232"/>
          </a:p>
        </p:txBody>
      </p:sp>
      <p:sp>
        <p:nvSpPr>
          <p:cNvPr id="16" name="text 16"/>
          <p:cNvSpPr txBox="1"/>
          <p:nvPr/>
        </p:nvSpPr>
        <p:spPr>
          <a:xfrm>
            <a:off x="11832336" y="2816352"/>
            <a:ext cx="69494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20%</a:t>
            </a:r>
            <a:endParaRPr lang="zh-CN" sz="2232"/>
          </a:p>
        </p:txBody>
      </p:sp>
      <p:sp>
        <p:nvSpPr>
          <p:cNvPr id="17" name="rect 17"/>
          <p:cNvSpPr/>
          <p:nvPr/>
        </p:nvSpPr>
        <p:spPr>
          <a:xfrm>
            <a:off x="731520" y="3602736"/>
            <a:ext cx="13167360" cy="92354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77824" y="3739896"/>
            <a:ext cx="95097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模型 B</a:t>
            </a:r>
            <a:endParaRPr lang="zh-CN" sz="2232"/>
          </a:p>
        </p:txBody>
      </p:sp>
      <p:sp>
        <p:nvSpPr>
          <p:cNvPr id="19" name="text 19"/>
          <p:cNvSpPr txBox="1"/>
          <p:nvPr/>
        </p:nvSpPr>
        <p:spPr>
          <a:xfrm>
            <a:off x="2980944" y="3739896"/>
            <a:ext cx="2743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7</a:t>
            </a:r>
            <a:endParaRPr lang="zh-CN" sz="2232"/>
          </a:p>
        </p:txBody>
      </p:sp>
      <p:sp>
        <p:nvSpPr>
          <p:cNvPr id="20" name="text 20"/>
          <p:cNvSpPr txBox="1"/>
          <p:nvPr/>
        </p:nvSpPr>
        <p:spPr>
          <a:xfrm>
            <a:off x="5193792" y="3739896"/>
            <a:ext cx="2743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3</a:t>
            </a:r>
            <a:endParaRPr lang="zh-CN" sz="2232"/>
          </a:p>
        </p:txBody>
      </p:sp>
      <p:sp>
        <p:nvSpPr>
          <p:cNvPr id="21" name="text 21"/>
          <p:cNvSpPr txBox="1"/>
          <p:nvPr/>
        </p:nvSpPr>
        <p:spPr>
          <a:xfrm>
            <a:off x="7406640" y="3739896"/>
            <a:ext cx="2743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0</a:t>
            </a:r>
            <a:endParaRPr lang="zh-CN" sz="2232"/>
          </a:p>
        </p:txBody>
      </p:sp>
      <p:sp>
        <p:nvSpPr>
          <p:cNvPr id="22" name="text 22"/>
          <p:cNvSpPr txBox="1"/>
          <p:nvPr/>
        </p:nvSpPr>
        <p:spPr>
          <a:xfrm>
            <a:off x="9619488" y="3739896"/>
            <a:ext cx="69494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70%</a:t>
            </a:r>
            <a:endParaRPr lang="zh-CN" sz="2232"/>
          </a:p>
        </p:txBody>
      </p:sp>
      <p:sp>
        <p:nvSpPr>
          <p:cNvPr id="23" name="text 23"/>
          <p:cNvSpPr txBox="1"/>
          <p:nvPr/>
        </p:nvSpPr>
        <p:spPr>
          <a:xfrm>
            <a:off x="11832336" y="3739896"/>
            <a:ext cx="69494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70%</a:t>
            </a:r>
            <a:endParaRPr lang="zh-CN" sz="2232"/>
          </a:p>
        </p:txBody>
      </p:sp>
      <p:sp>
        <p:nvSpPr>
          <p:cNvPr id="24" name="text 24"/>
          <p:cNvSpPr txBox="1"/>
          <p:nvPr/>
        </p:nvSpPr>
        <p:spPr>
          <a:xfrm>
            <a:off x="731520" y="4800600"/>
            <a:ext cx="139903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A 按期通过</a:t>
            </a:r>
            <a:endParaRPr lang="zh-CN" sz="2016"/>
          </a:p>
        </p:txBody>
      </p:sp>
      <p:sp>
        <p:nvSpPr>
          <p:cNvPr id="25" name="rect 25"/>
          <p:cNvSpPr/>
          <p:nvPr/>
        </p:nvSpPr>
        <p:spPr>
          <a:xfrm>
            <a:off x="2834640" y="4828032"/>
            <a:ext cx="9144000" cy="310896"/>
          </a:xfrm>
          <a:prstGeom prst="roundRect">
            <a:avLst>
              <a:gd name="adj" fmla="val 23529"/>
            </a:avLst>
          </a:prstGeom>
          <a:solidFill>
            <a:srgbClr val="D6DED6"/>
          </a:solidFill>
          <a:ln>
            <a:noFill/>
          </a:ln>
        </p:spPr>
      </p:sp>
      <p:sp>
        <p:nvSpPr>
          <p:cNvPr id="26" name="rect 26"/>
          <p:cNvSpPr/>
          <p:nvPr/>
        </p:nvSpPr>
        <p:spPr>
          <a:xfrm>
            <a:off x="2834640" y="48280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2362688" y="4800600"/>
            <a:ext cx="72237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20%</a:t>
            </a:r>
            <a:endParaRPr lang="zh-CN" sz="2232"/>
          </a:p>
        </p:txBody>
      </p:sp>
      <p:sp>
        <p:nvSpPr>
          <p:cNvPr id="28" name="text 28"/>
          <p:cNvSpPr txBox="1"/>
          <p:nvPr/>
        </p:nvSpPr>
        <p:spPr>
          <a:xfrm>
            <a:off x="731520" y="5468112"/>
            <a:ext cx="13807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B 按期通过</a:t>
            </a:r>
            <a:endParaRPr lang="zh-CN" sz="2016"/>
          </a:p>
        </p:txBody>
      </p:sp>
      <p:sp>
        <p:nvSpPr>
          <p:cNvPr id="29" name="rect 29"/>
          <p:cNvSpPr/>
          <p:nvPr/>
        </p:nvSpPr>
        <p:spPr>
          <a:xfrm>
            <a:off x="2834640" y="5495544"/>
            <a:ext cx="9144000" cy="310896"/>
          </a:xfrm>
          <a:prstGeom prst="roundRect">
            <a:avLst>
              <a:gd name="adj" fmla="val 23529"/>
            </a:avLst>
          </a:prstGeom>
          <a:solidFill>
            <a:srgbClr val="D6DED6"/>
          </a:solidFill>
          <a:ln>
            <a:noFill/>
          </a:ln>
        </p:spPr>
      </p:sp>
      <p:sp>
        <p:nvSpPr>
          <p:cNvPr id="30" name="rect 30"/>
          <p:cNvSpPr/>
          <p:nvPr/>
        </p:nvSpPr>
        <p:spPr>
          <a:xfrm>
            <a:off x="2834640" y="5495544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12362688" y="5468112"/>
            <a:ext cx="72237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70%</a:t>
            </a:r>
            <a:endParaRPr lang="zh-CN" sz="2232"/>
          </a:p>
        </p:txBody>
      </p:sp>
      <p:sp>
        <p:nvSpPr>
          <p:cNvPr id="32" name="text 32"/>
          <p:cNvSpPr txBox="1"/>
          <p:nvPr/>
        </p:nvSpPr>
        <p:spPr>
          <a:xfrm>
            <a:off x="731520" y="6272784"/>
            <a:ext cx="758037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结果完成率 = S / (S + R)                 成熟队列按期通过率 = S_H / N</a:t>
            </a:r>
            <a:endParaRPr lang="zh-CN" sz="1944"/>
          </a:p>
        </p:txBody>
      </p:sp>
      <p:sp>
        <p:nvSpPr>
          <p:cNvPr id="33" name="rect 33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950976" y="6967728"/>
            <a:ext cx="828446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路由启用条件：成熟 + 可比 + 足够样本 + 差异门槛；未满足时继续随机。</a:t>
            </a:r>
            <a:endParaRPr lang="zh-CN" sz="1944"/>
          </a:p>
        </p:txBody>
      </p:sp>
      <p:sp>
        <p:nvSpPr>
          <p:cNvPr id="35" name="text 35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调度与学习</a:t>
            </a:r>
            <a:endParaRPr lang="zh-CN" sz="1296"/>
          </a:p>
        </p:txBody>
      </p:sp>
      <p:sp>
        <p:nvSpPr>
          <p:cNvPr id="36" name="text 36"/>
          <p:cNvSpPr txBox="1"/>
          <p:nvPr/>
        </p:nvSpPr>
        <p:spPr>
          <a:xfrm>
            <a:off x="731520" y="850392"/>
            <a:ext cx="9326880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完成率可能好看，等待中的任务必须留在视野里</a:t>
            </a:r>
            <a:endParaRPr lang="zh-CN" sz="3456"/>
          </a:p>
        </p:txBody>
      </p:sp>
      <p:sp>
        <p:nvSpPr>
          <p:cNvPr id="37" name="text 37"/>
          <p:cNvSpPr txBox="1"/>
          <p:nvPr/>
        </p:nvSpPr>
        <p:spPr>
          <a:xfrm>
            <a:off x="749808" y="1536192"/>
            <a:ext cx="5367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示例数据用于解释统计口径，不是本项目测量结果。</a:t>
            </a:r>
            <a:endParaRPr lang="zh-CN" sz="1800"/>
          </a:p>
        </p:txBody>
      </p:sp>
      <p:sp>
        <p:nvSpPr>
          <p:cNvPr id="38" name="rect 38"/>
          <p:cNvSpPr/>
          <p:nvPr/>
        </p:nvSpPr>
        <p:spPr>
          <a:xfrm>
            <a:off x="12070080" y="320040"/>
            <a:ext cx="182880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12179808" y="384048"/>
            <a:ext cx="171907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统计口径 / 演示算例</a:t>
            </a:r>
            <a:endParaRPr lang="zh-CN" sz="1152"/>
          </a:p>
        </p:txBody>
      </p:sp>
      <p:sp>
        <p:nvSpPr>
          <p:cNvPr id="40" name="line 40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731520" y="7808976"/>
            <a:ext cx="228600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依据：审核结果完成率；固定窗口队列</a:t>
            </a:r>
            <a:endParaRPr lang="zh-CN" sz="1008"/>
          </a:p>
        </p:txBody>
      </p:sp>
      <p:sp>
        <p:nvSpPr>
          <p:cNvPr id="42" name="text 42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13 / 36</a:t>
            </a:r>
            <a:endParaRPr lang="zh-CN" sz="136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一个 daemon，按“谁拥有事实”拆成深模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76272"/>
            <a:ext cx="4242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359152"/>
            <a:ext cx="120700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任务服务</a:t>
            </a:r>
            <a:endParaRPr lang="zh-CN" sz="2160"/>
          </a:p>
        </p:txBody>
      </p:sp>
      <p:sp>
        <p:nvSpPr>
          <p:cNvPr id="5" name="text 5"/>
          <p:cNvSpPr txBox="1"/>
          <p:nvPr/>
        </p:nvSpPr>
        <p:spPr>
          <a:xfrm>
            <a:off x="932688" y="2798064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合同 / 阶段 / 终态</a:t>
            </a:r>
            <a:endParaRPr lang="zh-CN" sz="1728"/>
          </a:p>
        </p:txBody>
      </p:sp>
      <p:sp>
        <p:nvSpPr>
          <p:cNvPr id="6" name="rect 6"/>
          <p:cNvSpPr/>
          <p:nvPr/>
        </p:nvSpPr>
        <p:spPr>
          <a:xfrm>
            <a:off x="5193792" y="2176272"/>
            <a:ext cx="4242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394960" y="2359152"/>
            <a:ext cx="148132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调度与执行</a:t>
            </a:r>
            <a:endParaRPr lang="zh-CN" sz="2160"/>
          </a:p>
        </p:txBody>
      </p:sp>
      <p:sp>
        <p:nvSpPr>
          <p:cNvPr id="8" name="text 8"/>
          <p:cNvSpPr txBox="1"/>
          <p:nvPr/>
        </p:nvSpPr>
        <p:spPr>
          <a:xfrm>
            <a:off x="5394960" y="2798064"/>
            <a:ext cx="244144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选择 / 槽位 / Execution</a:t>
            </a:r>
            <a:endParaRPr lang="zh-CN" sz="1728"/>
          </a:p>
        </p:txBody>
      </p:sp>
      <p:sp>
        <p:nvSpPr>
          <p:cNvPr id="9" name="rect 9"/>
          <p:cNvSpPr/>
          <p:nvPr/>
        </p:nvSpPr>
        <p:spPr>
          <a:xfrm>
            <a:off x="9656064" y="2176272"/>
            <a:ext cx="4242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57232" y="2359152"/>
            <a:ext cx="148132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候选与审核</a:t>
            </a:r>
            <a:endParaRPr lang="zh-CN" sz="2160"/>
          </a:p>
        </p:txBody>
      </p:sp>
      <p:sp>
        <p:nvSpPr>
          <p:cNvPr id="11" name="text 11"/>
          <p:cNvSpPr txBox="1"/>
          <p:nvPr/>
        </p:nvSpPr>
        <p:spPr>
          <a:xfrm>
            <a:off x="9857232" y="2798064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候选 / 租约 / 判决</a:t>
            </a:r>
            <a:endParaRPr lang="zh-CN" sz="1728"/>
          </a:p>
        </p:txBody>
      </p:sp>
      <p:sp>
        <p:nvSpPr>
          <p:cNvPr id="12" name="rect 12"/>
          <p:cNvSpPr/>
          <p:nvPr/>
        </p:nvSpPr>
        <p:spPr>
          <a:xfrm>
            <a:off x="731520" y="3712464"/>
            <a:ext cx="4242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932688" y="3895344"/>
            <a:ext cx="120700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成果存储</a:t>
            </a:r>
            <a:endParaRPr lang="zh-CN" sz="2160"/>
          </a:p>
        </p:txBody>
      </p:sp>
      <p:sp>
        <p:nvSpPr>
          <p:cNvPr id="14" name="text 14"/>
          <p:cNvSpPr txBox="1"/>
          <p:nvPr/>
        </p:nvSpPr>
        <p:spPr>
          <a:xfrm>
            <a:off x="932688" y="4334256"/>
            <a:ext cx="18562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摘要 / pins / 回收</a:t>
            </a:r>
            <a:endParaRPr lang="zh-CN" sz="1728"/>
          </a:p>
        </p:txBody>
      </p:sp>
      <p:sp>
        <p:nvSpPr>
          <p:cNvPr id="15" name="rect 15"/>
          <p:cNvSpPr/>
          <p:nvPr/>
        </p:nvSpPr>
        <p:spPr>
          <a:xfrm>
            <a:off x="5193792" y="3712464"/>
            <a:ext cx="4242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394960" y="3895344"/>
            <a:ext cx="148132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接入与配置</a:t>
            </a:r>
            <a:endParaRPr lang="zh-CN" sz="2160"/>
          </a:p>
        </p:txBody>
      </p:sp>
      <p:sp>
        <p:nvSpPr>
          <p:cNvPr id="17" name="text 17"/>
          <p:cNvSpPr txBox="1"/>
          <p:nvPr/>
        </p:nvSpPr>
        <p:spPr>
          <a:xfrm>
            <a:off x="5394960" y="4334256"/>
            <a:ext cx="230428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项目 / 身份 / 固定配置</a:t>
            </a:r>
            <a:endParaRPr lang="zh-CN" sz="1728"/>
          </a:p>
        </p:txBody>
      </p:sp>
      <p:sp>
        <p:nvSpPr>
          <p:cNvPr id="18" name="rect 18"/>
          <p:cNvSpPr/>
          <p:nvPr/>
        </p:nvSpPr>
        <p:spPr>
          <a:xfrm>
            <a:off x="9656064" y="3712464"/>
            <a:ext cx="4242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857232" y="3895344"/>
            <a:ext cx="148132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通知与查询</a:t>
            </a:r>
            <a:endParaRPr lang="zh-CN" sz="2160"/>
          </a:p>
        </p:txBody>
      </p:sp>
      <p:sp>
        <p:nvSpPr>
          <p:cNvPr id="20" name="text 20"/>
          <p:cNvSpPr txBox="1"/>
          <p:nvPr/>
        </p:nvSpPr>
        <p:spPr>
          <a:xfrm>
            <a:off x="9857232" y="4334256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队列 / 投影 / 统计</a:t>
            </a:r>
            <a:endParaRPr lang="zh-CN" sz="1728"/>
          </a:p>
        </p:txBody>
      </p:sp>
      <p:sp>
        <p:nvSpPr>
          <p:cNvPr id="21" name="rect 21"/>
          <p:cNvSpPr/>
          <p:nvPr/>
        </p:nvSpPr>
        <p:spPr>
          <a:xfrm>
            <a:off x="731520" y="5449824"/>
            <a:ext cx="13167360" cy="694944"/>
          </a:xfrm>
          <a:prstGeom prst="roundRect">
            <a:avLst>
              <a:gd name="adj" fmla="val 1842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78408" y="5641848"/>
            <a:ext cx="714146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平台适配：监督器 / 资源组 / 工作区 / 服务管理器 / U 接口</a:t>
            </a:r>
            <a:endParaRPr lang="zh-CN" sz="2088"/>
          </a:p>
        </p:txBody>
      </p:sp>
      <p:sp>
        <p:nvSpPr>
          <p:cNvPr id="23" name="rect 23"/>
          <p:cNvSpPr/>
          <p:nvPr/>
        </p:nvSpPr>
        <p:spPr>
          <a:xfrm>
            <a:off x="731520" y="6409944"/>
            <a:ext cx="13167360" cy="969264"/>
          </a:xfrm>
          <a:prstGeom prst="roundRect">
            <a:avLst>
              <a:gd name="adj" fmla="val 13208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69264" y="6574536"/>
            <a:ext cx="7662672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审核提交 = 判决 + 次数 + 终态 + 成果引用 + 事件 / outbox</a:t>
            </a:r>
            <a:endParaRPr lang="zh-CN" sz="2160"/>
          </a:p>
        </p:txBody>
      </p:sp>
      <p:sp>
        <p:nvSpPr>
          <p:cNvPr id="25" name="text 25"/>
          <p:cNvSpPr txBox="1"/>
          <p:nvPr/>
        </p:nvSpPr>
        <p:spPr>
          <a:xfrm>
            <a:off x="969264" y="6995160"/>
            <a:ext cx="515721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由同一应用用例原子提交；统计从已提交事实重建。</a:t>
            </a:r>
            <a:endParaRPr lang="zh-CN" sz="1728"/>
          </a:p>
        </p:txBody>
      </p:sp>
      <p:sp>
        <p:nvSpPr>
          <p:cNvPr id="26" name="text 26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逻辑架构</a:t>
            </a:r>
            <a:endParaRPr lang="zh-CN" sz="1296"/>
          </a:p>
        </p:txBody>
      </p:sp>
      <p:sp>
        <p:nvSpPr>
          <p:cNvPr id="27" name="text 27"/>
          <p:cNvSpPr txBox="1"/>
          <p:nvPr/>
        </p:nvSpPr>
        <p:spPr>
          <a:xfrm>
            <a:off x="731520" y="850392"/>
            <a:ext cx="907084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一个 daemon，按“谁拥有事实”拆成深模块</a:t>
            </a:r>
            <a:endParaRPr lang="zh-CN" sz="3456"/>
          </a:p>
        </p:txBody>
      </p:sp>
      <p:sp>
        <p:nvSpPr>
          <p:cNvPr id="28" name="text 28"/>
          <p:cNvSpPr txBox="1"/>
          <p:nvPr/>
        </p:nvSpPr>
        <p:spPr>
          <a:xfrm>
            <a:off x="749808" y="1536192"/>
            <a:ext cx="6739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外部接口保持简单；跨模块不变量由应用用例的一次短事务完成。</a:t>
            </a:r>
            <a:endParaRPr lang="zh-CN" sz="1800"/>
          </a:p>
        </p:txBody>
      </p:sp>
      <p:sp>
        <p:nvSpPr>
          <p:cNvPr id="29" name="rect 29"/>
          <p:cNvSpPr/>
          <p:nvPr/>
        </p:nvSpPr>
        <p:spPr>
          <a:xfrm>
            <a:off x="12673584" y="320040"/>
            <a:ext cx="122529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2783312" y="384048"/>
            <a:ext cx="111556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模块与事务</a:t>
            </a:r>
            <a:endParaRPr lang="zh-CN" sz="1152"/>
          </a:p>
        </p:txBody>
      </p:sp>
      <p:sp>
        <p:nvSpPr>
          <p:cNvPr id="31" name="line 31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31520" y="7808976"/>
            <a:ext cx="228600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依据：模块所有权；跨模块事务所有者</a:t>
            </a:r>
            <a:endParaRPr lang="zh-CN" sz="1008"/>
          </a:p>
        </p:txBody>
      </p:sp>
      <p:sp>
        <p:nvSpPr>
          <p:cNvPr id="33" name="text 33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14 / 36</a:t>
            </a:r>
            <a:endParaRPr lang="zh-CN" sz="1368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契约先行：三个入口使用同一种业务语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249424"/>
            <a:ext cx="4937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432304"/>
            <a:ext cx="393192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models.py + operations.py</a:t>
            </a:r>
            <a:endParaRPr lang="zh-CN" sz="2232"/>
          </a:p>
        </p:txBody>
      </p:sp>
      <p:sp>
        <p:nvSpPr>
          <p:cNvPr id="5" name="text 5"/>
          <p:cNvSpPr txBox="1"/>
          <p:nvPr/>
        </p:nvSpPr>
        <p:spPr>
          <a:xfrm>
            <a:off x="932688" y="2871216"/>
            <a:ext cx="340156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严格字段 / 传输映射 / 角色 / 错误</a:t>
            </a:r>
            <a:endParaRPr lang="zh-CN" sz="1728"/>
          </a:p>
        </p:txBody>
      </p:sp>
      <p:sp>
        <p:nvSpPr>
          <p:cNvPr id="6" name="text 6"/>
          <p:cNvSpPr txBox="1"/>
          <p:nvPr/>
        </p:nvSpPr>
        <p:spPr>
          <a:xfrm>
            <a:off x="932688" y="3178454"/>
            <a:ext cx="296265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幂等 / 前置条件 / 客户端映射</a:t>
            </a:r>
            <a:endParaRPr lang="zh-CN" sz="1728"/>
          </a:p>
        </p:txBody>
      </p:sp>
      <p:sp>
        <p:nvSpPr>
          <p:cNvPr id="7" name="line 7"/>
          <p:cNvSpPr/>
          <p:nvPr/>
        </p:nvSpPr>
        <p:spPr>
          <a:xfrm>
            <a:off x="5779008" y="3035808"/>
            <a:ext cx="676656" cy="1"/>
          </a:xfrm>
          <a:prstGeom prst="line">
            <a:avLst/>
          </a:prstGeom>
          <a:noFill/>
          <a:ln w="27432">
            <a:solidFill>
              <a:srgbClr val="127C72"/>
            </a:solidFill>
          </a:ln>
        </p:spPr>
      </p:sp>
      <p:sp>
        <p:nvSpPr>
          <p:cNvPr id="8" name="poly 8"/>
          <p:cNvSpPr/>
          <p:nvPr/>
        </p:nvSpPr>
        <p:spPr>
          <a:xfrm>
            <a:off x="6356860" y="298808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6583680" y="2249424"/>
            <a:ext cx="7315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784848" y="2432304"/>
            <a:ext cx="152704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确定性生成</a:t>
            </a:r>
            <a:endParaRPr lang="zh-CN" sz="2232"/>
          </a:p>
        </p:txBody>
      </p:sp>
      <p:sp>
        <p:nvSpPr>
          <p:cNvPr id="11" name="text 11"/>
          <p:cNvSpPr txBox="1"/>
          <p:nvPr/>
        </p:nvSpPr>
        <p:spPr>
          <a:xfrm>
            <a:off x="6784848" y="2871216"/>
            <a:ext cx="541324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OpenAPI 3.1  +  JSON Schema  +  API_REFERENCE</a:t>
            </a:r>
            <a:endParaRPr lang="zh-CN" sz="1728"/>
          </a:p>
        </p:txBody>
      </p:sp>
      <p:sp>
        <p:nvSpPr>
          <p:cNvPr id="12" name="text 12"/>
          <p:cNvSpPr txBox="1"/>
          <p:nvPr/>
        </p:nvSpPr>
        <p:spPr>
          <a:xfrm>
            <a:off x="6784848" y="3178454"/>
            <a:ext cx="35021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check.py 校验生成物、样例与规则</a:t>
            </a:r>
            <a:endParaRPr lang="zh-CN" sz="1728"/>
          </a:p>
        </p:txBody>
      </p:sp>
      <p:sp>
        <p:nvSpPr>
          <p:cNvPr id="13" name="rect 13"/>
          <p:cNvSpPr/>
          <p:nvPr/>
        </p:nvSpPr>
        <p:spPr>
          <a:xfrm>
            <a:off x="731520" y="4297680"/>
            <a:ext cx="4242816" cy="1435608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32688" y="4480560"/>
            <a:ext cx="151790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Dashboard</a:t>
            </a:r>
            <a:endParaRPr lang="zh-CN" sz="2016"/>
          </a:p>
        </p:txBody>
      </p:sp>
      <p:sp>
        <p:nvSpPr>
          <p:cNvPr id="15" name="text 15"/>
          <p:cNvSpPr txBox="1"/>
          <p:nvPr/>
        </p:nvSpPr>
        <p:spPr>
          <a:xfrm>
            <a:off x="932688" y="4919472"/>
            <a:ext cx="230428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配置、观察和允许动作</a:t>
            </a:r>
            <a:endParaRPr lang="zh-CN" sz="1728"/>
          </a:p>
        </p:txBody>
      </p:sp>
      <p:sp>
        <p:nvSpPr>
          <p:cNvPr id="16" name="rect 16"/>
          <p:cNvSpPr/>
          <p:nvPr/>
        </p:nvSpPr>
        <p:spPr>
          <a:xfrm>
            <a:off x="5193792" y="4297680"/>
            <a:ext cx="4242816" cy="1435608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394960" y="4480560"/>
            <a:ext cx="19568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主线 CLI / MCP</a:t>
            </a:r>
            <a:endParaRPr lang="zh-CN" sz="2016"/>
          </a:p>
        </p:txBody>
      </p:sp>
      <p:sp>
        <p:nvSpPr>
          <p:cNvPr id="18" name="text 18"/>
          <p:cNvSpPr txBox="1"/>
          <p:nvPr/>
        </p:nvSpPr>
        <p:spPr>
          <a:xfrm>
            <a:off x="5394960" y="4919472"/>
            <a:ext cx="32644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submit / get / resume / cancel</a:t>
            </a:r>
            <a:endParaRPr lang="zh-CN" sz="1728"/>
          </a:p>
        </p:txBody>
      </p:sp>
      <p:sp>
        <p:nvSpPr>
          <p:cNvPr id="19" name="rect 19"/>
          <p:cNvSpPr/>
          <p:nvPr/>
        </p:nvSpPr>
        <p:spPr>
          <a:xfrm>
            <a:off x="9656064" y="4297680"/>
            <a:ext cx="4242816" cy="1435608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9857232" y="4480560"/>
            <a:ext cx="254203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reviewer CLI / MCP</a:t>
            </a:r>
            <a:endParaRPr lang="zh-CN" sz="2016"/>
          </a:p>
        </p:txBody>
      </p:sp>
      <p:sp>
        <p:nvSpPr>
          <p:cNvPr id="21" name="text 21"/>
          <p:cNvSpPr txBox="1"/>
          <p:nvPr/>
        </p:nvSpPr>
        <p:spPr>
          <a:xfrm>
            <a:off x="9857232" y="4919472"/>
            <a:ext cx="342900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next / evidence / submit / defer</a:t>
            </a:r>
            <a:endParaRPr lang="zh-CN" sz="1728"/>
          </a:p>
        </p:txBody>
      </p:sp>
      <p:sp>
        <p:nvSpPr>
          <p:cNvPr id="22" name="rect 22"/>
          <p:cNvSpPr/>
          <p:nvPr/>
        </p:nvSpPr>
        <p:spPr>
          <a:xfrm>
            <a:off x="731520" y="6117336"/>
            <a:ext cx="13167360" cy="1261872"/>
          </a:xfrm>
          <a:prstGeom prst="roundRect">
            <a:avLst>
              <a:gd name="adj" fmla="val 11594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78408" y="6318504"/>
            <a:ext cx="1600200" cy="510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92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29 个操作</a:t>
            </a:r>
            <a:endParaRPr lang="zh-CN" sz="2592"/>
          </a:p>
        </p:txBody>
      </p:sp>
      <p:sp>
        <p:nvSpPr>
          <p:cNvPr id="24" name="text 24"/>
          <p:cNvSpPr txBox="1"/>
          <p:nvPr/>
        </p:nvSpPr>
        <p:spPr>
          <a:xfrm>
            <a:off x="4389120" y="6318504"/>
            <a:ext cx="2459736" cy="510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9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153 个注册模型</a:t>
            </a:r>
            <a:endParaRPr lang="zh-CN" sz="2592"/>
          </a:p>
        </p:txBody>
      </p:sp>
      <p:sp>
        <p:nvSpPr>
          <p:cNvPr id="25" name="text 25"/>
          <p:cNvSpPr txBox="1"/>
          <p:nvPr/>
        </p:nvSpPr>
        <p:spPr>
          <a:xfrm>
            <a:off x="9509760" y="6318504"/>
            <a:ext cx="2395728" cy="510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9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离线检查 PASS</a:t>
            </a:r>
            <a:endParaRPr lang="zh-CN" sz="2592"/>
          </a:p>
        </p:txBody>
      </p:sp>
      <p:sp>
        <p:nvSpPr>
          <p:cNvPr id="26" name="text 26"/>
          <p:cNvSpPr txBox="1"/>
          <p:nvPr/>
        </p:nvSpPr>
        <p:spPr>
          <a:xfrm>
            <a:off x="987552" y="6922008"/>
            <a:ext cx="7653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覆盖候选结构与一致性；真实鉴权、事务、主机隔离与模型表现仍待验收。</a:t>
            </a:r>
            <a:endParaRPr lang="zh-CN" sz="1800"/>
          </a:p>
        </p:txBody>
      </p:sp>
      <p:sp>
        <p:nvSpPr>
          <p:cNvPr id="27" name="text 27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逻辑架构</a:t>
            </a:r>
            <a:endParaRPr lang="zh-CN" sz="1296"/>
          </a:p>
        </p:txBody>
      </p:sp>
      <p:sp>
        <p:nvSpPr>
          <p:cNvPr id="28" name="text 28"/>
          <p:cNvSpPr txBox="1"/>
          <p:nvPr/>
        </p:nvSpPr>
        <p:spPr>
          <a:xfrm>
            <a:off x="731520" y="850392"/>
            <a:ext cx="8010144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契约先行：三个入口使用同一种业务语言</a:t>
            </a:r>
            <a:endParaRPr lang="zh-CN" sz="3456"/>
          </a:p>
        </p:txBody>
      </p:sp>
      <p:sp>
        <p:nvSpPr>
          <p:cNvPr id="29" name="text 29"/>
          <p:cNvSpPr txBox="1"/>
          <p:nvPr/>
        </p:nvSpPr>
        <p:spPr>
          <a:xfrm>
            <a:off x="749808" y="1536192"/>
            <a:ext cx="6967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字段与路由各有唯一来源，页面、CLI、MCP 按同一行为合同接入。</a:t>
            </a:r>
            <a:endParaRPr lang="zh-CN" sz="1800"/>
          </a:p>
        </p:txBody>
      </p:sp>
      <p:sp>
        <p:nvSpPr>
          <p:cNvPr id="30" name="rect 30"/>
          <p:cNvSpPr/>
          <p:nvPr/>
        </p:nvSpPr>
        <p:spPr>
          <a:xfrm>
            <a:off x="11850624" y="320040"/>
            <a:ext cx="204825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11960352" y="384048"/>
            <a:ext cx="193852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接口先行 / F · 候选契约</a:t>
            </a:r>
            <a:endParaRPr lang="zh-CN" sz="1152"/>
          </a:p>
        </p:txBody>
      </p:sp>
      <p:sp>
        <p:nvSpPr>
          <p:cNvPr id="32" name="line 32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731520" y="7808976"/>
            <a:ext cx="2916936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依据：契约文件分工；API 合同规则；操作注册表</a:t>
            </a:r>
            <a:endParaRPr lang="zh-CN" sz="1008"/>
          </a:p>
        </p:txBody>
      </p:sp>
      <p:sp>
        <p:nvSpPr>
          <p:cNvPr id="34" name="text 34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15 / 36</a:t>
            </a:r>
            <a:endParaRPr lang="zh-CN" sz="1368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三个主页面，让忙碌用户先看到“下一步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57984"/>
            <a:ext cx="4242816" cy="4434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3716">
            <a:solidFill>
              <a:srgbClr val="D6DED6"/>
            </a:solidFill>
          </a:ln>
        </p:spPr>
      </p:sp>
      <p:sp>
        <p:nvSpPr>
          <p:cNvPr id="4" name="rect 4"/>
          <p:cNvSpPr/>
          <p:nvPr/>
        </p:nvSpPr>
        <p:spPr>
          <a:xfrm>
            <a:off x="731520" y="2157984"/>
            <a:ext cx="4242816" cy="603504"/>
          </a:xfrm>
          <a:prstGeom prst="roundRect">
            <a:avLst>
              <a:gd name="adj" fmla="val 27273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5" name="rect 5"/>
          <p:cNvSpPr/>
          <p:nvPr/>
        </p:nvSpPr>
        <p:spPr>
          <a:xfrm>
            <a:off x="731520" y="2542032"/>
            <a:ext cx="4242816" cy="219456"/>
          </a:xfrm>
          <a:prstGeom prst="rect">
            <a:avLst/>
          </a:prstGeom>
          <a:solidFill>
            <a:srgbClr val="173331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941832" y="2313432"/>
            <a:ext cx="143560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总览与任务</a:t>
            </a:r>
            <a:endParaRPr lang="zh-CN" sz="2088"/>
          </a:p>
        </p:txBody>
      </p:sp>
      <p:sp>
        <p:nvSpPr>
          <p:cNvPr id="7" name="rect 7"/>
          <p:cNvSpPr/>
          <p:nvPr/>
        </p:nvSpPr>
        <p:spPr>
          <a:xfrm>
            <a:off x="5193792" y="2157984"/>
            <a:ext cx="4242816" cy="4434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3716">
            <a:solidFill>
              <a:srgbClr val="D6DED6"/>
            </a:solidFill>
          </a:ln>
        </p:spPr>
      </p:sp>
      <p:sp>
        <p:nvSpPr>
          <p:cNvPr id="8" name="rect 8"/>
          <p:cNvSpPr/>
          <p:nvPr/>
        </p:nvSpPr>
        <p:spPr>
          <a:xfrm>
            <a:off x="5193792" y="2157984"/>
            <a:ext cx="4242816" cy="603504"/>
          </a:xfrm>
          <a:prstGeom prst="roundRect">
            <a:avLst>
              <a:gd name="adj" fmla="val 27273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5193792" y="2542032"/>
            <a:ext cx="4242816" cy="219456"/>
          </a:xfrm>
          <a:prstGeom prst="rect">
            <a:avLst/>
          </a:prstGeom>
          <a:solidFill>
            <a:srgbClr val="173331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404104" y="2313432"/>
            <a:ext cx="170992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Worker 配置</a:t>
            </a:r>
            <a:endParaRPr lang="zh-CN" sz="2088"/>
          </a:p>
        </p:txBody>
      </p:sp>
      <p:sp>
        <p:nvSpPr>
          <p:cNvPr id="11" name="rect 11"/>
          <p:cNvSpPr/>
          <p:nvPr/>
        </p:nvSpPr>
        <p:spPr>
          <a:xfrm>
            <a:off x="9656064" y="2157984"/>
            <a:ext cx="4242816" cy="443484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3716">
            <a:solidFill>
              <a:srgbClr val="D6DED6"/>
            </a:solidFill>
          </a:ln>
        </p:spPr>
      </p:sp>
      <p:sp>
        <p:nvSpPr>
          <p:cNvPr id="12" name="rect 12"/>
          <p:cNvSpPr/>
          <p:nvPr/>
        </p:nvSpPr>
        <p:spPr>
          <a:xfrm>
            <a:off x="9656064" y="2157984"/>
            <a:ext cx="4242816" cy="603504"/>
          </a:xfrm>
          <a:prstGeom prst="roundRect">
            <a:avLst>
              <a:gd name="adj" fmla="val 27273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13" name="rect 13"/>
          <p:cNvSpPr/>
          <p:nvPr/>
        </p:nvSpPr>
        <p:spPr>
          <a:xfrm>
            <a:off x="9656064" y="2542032"/>
            <a:ext cx="4242816" cy="219456"/>
          </a:xfrm>
          <a:prstGeom prst="rect">
            <a:avLst/>
          </a:prstGeom>
          <a:solidFill>
            <a:srgbClr val="173331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866376" y="2313432"/>
            <a:ext cx="117043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服务管理</a:t>
            </a:r>
            <a:endParaRPr lang="zh-CN" sz="2088"/>
          </a:p>
        </p:txBody>
      </p:sp>
      <p:sp>
        <p:nvSpPr>
          <p:cNvPr id="15" name="rect 15"/>
          <p:cNvSpPr/>
          <p:nvPr/>
        </p:nvSpPr>
        <p:spPr>
          <a:xfrm>
            <a:off x="941832" y="2971800"/>
            <a:ext cx="1947672" cy="320040"/>
          </a:xfrm>
          <a:prstGeom prst="roundRect">
            <a:avLst>
              <a:gd name="adj" fmla="val 48571"/>
            </a:avLst>
          </a:prstGeom>
          <a:solidFill>
            <a:srgbClr val="F4DEB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088136" y="3035808"/>
            <a:ext cx="1764792" cy="2834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执行中断 · 内存超限</a:t>
            </a:r>
            <a:endParaRPr lang="zh-CN" sz="1440"/>
          </a:p>
        </p:txBody>
      </p:sp>
      <p:sp>
        <p:nvSpPr>
          <p:cNvPr id="17" name="text 17"/>
          <p:cNvSpPr txBox="1"/>
          <p:nvPr/>
        </p:nvSpPr>
        <p:spPr>
          <a:xfrm>
            <a:off x="941832" y="3575304"/>
            <a:ext cx="215798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导出接口参数校验</a:t>
            </a:r>
            <a:endParaRPr lang="zh-CN" sz="2016"/>
          </a:p>
        </p:txBody>
      </p:sp>
      <p:sp>
        <p:nvSpPr>
          <p:cNvPr id="18" name="text 18"/>
          <p:cNvSpPr txBox="1"/>
          <p:nvPr/>
        </p:nvSpPr>
        <p:spPr>
          <a:xfrm>
            <a:off x="941832" y="4078224"/>
            <a:ext cx="1819656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审核拒绝：1 / 3</a:t>
            </a:r>
            <a:endParaRPr lang="zh-CN" sz="1872"/>
          </a:p>
        </p:txBody>
      </p:sp>
      <p:sp>
        <p:nvSpPr>
          <p:cNvPr id="19" name="text 19"/>
          <p:cNvSpPr txBox="1"/>
          <p:nvPr/>
        </p:nvSpPr>
        <p:spPr>
          <a:xfrm>
            <a:off x="941832" y="4406311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工作区已保留</a:t>
            </a:r>
            <a:endParaRPr lang="zh-CN" sz="1872"/>
          </a:p>
        </p:txBody>
      </p:sp>
      <p:sp>
        <p:nvSpPr>
          <p:cNvPr id="20" name="text 20"/>
          <p:cNvSpPr txBox="1"/>
          <p:nvPr/>
        </p:nvSpPr>
        <p:spPr>
          <a:xfrm>
            <a:off x="941832" y="4734397"/>
            <a:ext cx="201168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执行已停止并核对</a:t>
            </a:r>
            <a:endParaRPr lang="zh-CN" sz="1872"/>
          </a:p>
        </p:txBody>
      </p:sp>
      <p:sp>
        <p:nvSpPr>
          <p:cNvPr id="21" name="rect 21"/>
          <p:cNvSpPr/>
          <p:nvPr/>
        </p:nvSpPr>
        <p:spPr>
          <a:xfrm>
            <a:off x="941832" y="5559552"/>
            <a:ext cx="1719072" cy="484632"/>
          </a:xfrm>
          <a:prstGeom prst="roundRect">
            <a:avLst>
              <a:gd name="adj" fmla="val 16981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152144" y="5687568"/>
            <a:ext cx="1316736" cy="311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84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查看继续动作</a:t>
            </a:r>
            <a:endParaRPr lang="zh-CN" sz="1584"/>
          </a:p>
        </p:txBody>
      </p:sp>
      <p:sp>
        <p:nvSpPr>
          <p:cNvPr id="23" name="text 23"/>
          <p:cNvSpPr txBox="1"/>
          <p:nvPr/>
        </p:nvSpPr>
        <p:spPr>
          <a:xfrm>
            <a:off x="5404104" y="2990088"/>
            <a:ext cx="2542032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worker-02  /  模型 B</a:t>
            </a:r>
            <a:endParaRPr lang="zh-CN" sz="1944"/>
          </a:p>
        </p:txBody>
      </p:sp>
      <p:sp>
        <p:nvSpPr>
          <p:cNvPr id="24" name="text 24"/>
          <p:cNvSpPr txBox="1"/>
          <p:nvPr/>
        </p:nvSpPr>
        <p:spPr>
          <a:xfrm>
            <a:off x="5404104" y="3511296"/>
            <a:ext cx="248716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模型与参数：固定版本</a:t>
            </a:r>
            <a:endParaRPr lang="zh-CN" sz="1872"/>
          </a:p>
        </p:txBody>
      </p:sp>
      <p:sp>
        <p:nvSpPr>
          <p:cNvPr id="25" name="text 25"/>
          <p:cNvSpPr txBox="1"/>
          <p:nvPr/>
        </p:nvSpPr>
        <p:spPr>
          <a:xfrm>
            <a:off x="5404104" y="3839383"/>
            <a:ext cx="224942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资源预算：明确数值</a:t>
            </a:r>
            <a:endParaRPr lang="zh-CN" sz="1872"/>
          </a:p>
        </p:txBody>
      </p:sp>
      <p:sp>
        <p:nvSpPr>
          <p:cNvPr id="26" name="text 26"/>
          <p:cNvSpPr txBox="1"/>
          <p:nvPr/>
        </p:nvSpPr>
        <p:spPr>
          <a:xfrm>
            <a:off x="5404104" y="4167469"/>
            <a:ext cx="224942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当前准入：draining</a:t>
            </a:r>
            <a:endParaRPr lang="zh-CN" sz="1872"/>
          </a:p>
        </p:txBody>
      </p:sp>
      <p:sp>
        <p:nvSpPr>
          <p:cNvPr id="27" name="rect 27"/>
          <p:cNvSpPr/>
          <p:nvPr/>
        </p:nvSpPr>
        <p:spPr>
          <a:xfrm>
            <a:off x="5404104" y="4800600"/>
            <a:ext cx="3803904" cy="1380744"/>
          </a:xfrm>
          <a:prstGeom prst="roundRect">
            <a:avLst>
              <a:gd name="adj" fmla="val 7947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586984" y="5010912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生效范围可见</a:t>
            </a:r>
            <a:endParaRPr lang="zh-CN" sz="1872"/>
          </a:p>
        </p:txBody>
      </p:sp>
      <p:sp>
        <p:nvSpPr>
          <p:cNvPr id="29" name="text 29"/>
          <p:cNvSpPr txBox="1"/>
          <p:nvPr/>
        </p:nvSpPr>
        <p:spPr>
          <a:xfrm>
            <a:off x="5586984" y="5413248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新配置用于新任务；</a:t>
            </a:r>
            <a:endParaRPr lang="zh-CN" sz="1728"/>
          </a:p>
        </p:txBody>
      </p:sp>
      <p:sp>
        <p:nvSpPr>
          <p:cNvPr id="30" name="text 30"/>
          <p:cNvSpPr txBox="1"/>
          <p:nvPr/>
        </p:nvSpPr>
        <p:spPr>
          <a:xfrm>
            <a:off x="5586984" y="5716097"/>
            <a:ext cx="252374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旧任务保留原配置接续。</a:t>
            </a:r>
            <a:endParaRPr lang="zh-CN" sz="1728"/>
          </a:p>
        </p:txBody>
      </p:sp>
      <p:sp>
        <p:nvSpPr>
          <p:cNvPr id="31" name="text 31"/>
          <p:cNvSpPr txBox="1"/>
          <p:nvPr/>
        </p:nvSpPr>
        <p:spPr>
          <a:xfrm>
            <a:off x="9866376" y="2990088"/>
            <a:ext cx="19019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版本与维护状态</a:t>
            </a:r>
            <a:endParaRPr lang="zh-CN" sz="2016"/>
          </a:p>
        </p:txBody>
      </p:sp>
      <p:sp>
        <p:nvSpPr>
          <p:cNvPr id="32" name="text 32"/>
          <p:cNvSpPr txBox="1"/>
          <p:nvPr/>
        </p:nvSpPr>
        <p:spPr>
          <a:xfrm>
            <a:off x="9866376" y="3511296"/>
            <a:ext cx="231343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V0：状态与本地说明</a:t>
            </a:r>
            <a:endParaRPr lang="zh-CN" sz="1872"/>
          </a:p>
        </p:txBody>
      </p:sp>
      <p:sp>
        <p:nvSpPr>
          <p:cNvPr id="33" name="text 33"/>
          <p:cNvSpPr txBox="1"/>
          <p:nvPr/>
        </p:nvSpPr>
        <p:spPr>
          <a:xfrm>
            <a:off x="9866376" y="3839383"/>
            <a:ext cx="279806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V1：升级 / 保留数据卸载</a:t>
            </a:r>
            <a:endParaRPr lang="zh-CN" sz="1872"/>
          </a:p>
        </p:txBody>
      </p:sp>
      <p:sp>
        <p:nvSpPr>
          <p:cNvPr id="34" name="text 34"/>
          <p:cNvSpPr txBox="1"/>
          <p:nvPr/>
        </p:nvSpPr>
        <p:spPr>
          <a:xfrm>
            <a:off x="9866376" y="4167469"/>
            <a:ext cx="217627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异步操作按 ID 查询</a:t>
            </a:r>
            <a:endParaRPr lang="zh-CN" sz="1872"/>
          </a:p>
        </p:txBody>
      </p:sp>
      <p:sp>
        <p:nvSpPr>
          <p:cNvPr id="35" name="rect 35"/>
          <p:cNvSpPr/>
          <p:nvPr/>
        </p:nvSpPr>
        <p:spPr>
          <a:xfrm>
            <a:off x="9866376" y="4800600"/>
            <a:ext cx="3803904" cy="1380744"/>
          </a:xfrm>
          <a:prstGeom prst="roundRect">
            <a:avLst>
              <a:gd name="adj" fmla="val 7947"/>
            </a:avLst>
          </a:prstGeom>
          <a:solidFill>
            <a:srgbClr val="E0EAF1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10049256" y="5010912"/>
            <a:ext cx="201168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停机期间仍可查询</a:t>
            </a:r>
            <a:endParaRPr lang="zh-CN" sz="1872"/>
          </a:p>
        </p:txBody>
      </p:sp>
      <p:sp>
        <p:nvSpPr>
          <p:cNvPr id="37" name="text 37"/>
          <p:cNvSpPr txBox="1"/>
          <p:nvPr/>
        </p:nvSpPr>
        <p:spPr>
          <a:xfrm>
            <a:off x="10049256" y="5413248"/>
            <a:ext cx="194767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本地 CLI 读取 U 的</a:t>
            </a:r>
            <a:endParaRPr lang="zh-CN" sz="1728"/>
          </a:p>
        </p:txBody>
      </p:sp>
      <p:sp>
        <p:nvSpPr>
          <p:cNvPr id="38" name="text 38"/>
          <p:cNvSpPr txBox="1"/>
          <p:nvPr/>
        </p:nvSpPr>
        <p:spPr>
          <a:xfrm>
            <a:off x="10049256" y="5716097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同一份操作记录。</a:t>
            </a:r>
            <a:endParaRPr lang="zh-CN" sz="1728"/>
          </a:p>
        </p:txBody>
      </p:sp>
      <p:sp>
        <p:nvSpPr>
          <p:cNvPr id="39" name="rect 39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950976" y="6967728"/>
            <a:ext cx="8257032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界面必须解释：发生了什么、证据有多新、为什么等待、当前允许做什么。</a:t>
            </a:r>
            <a:endParaRPr lang="zh-CN" sz="1944"/>
          </a:p>
        </p:txBody>
      </p:sp>
      <p:sp>
        <p:nvSpPr>
          <p:cNvPr id="41" name="text 41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使用体验</a:t>
            </a:r>
            <a:endParaRPr lang="zh-CN" sz="1296"/>
          </a:p>
        </p:txBody>
      </p:sp>
      <p:sp>
        <p:nvSpPr>
          <p:cNvPr id="42" name="text 42"/>
          <p:cNvSpPr txBox="1"/>
          <p:nvPr/>
        </p:nvSpPr>
        <p:spPr>
          <a:xfrm>
            <a:off x="731520" y="850392"/>
            <a:ext cx="8449056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三个主页面，让忙碌用户先看到“下一步”</a:t>
            </a:r>
            <a:endParaRPr lang="zh-CN" sz="3456"/>
          </a:p>
        </p:txBody>
      </p:sp>
      <p:sp>
        <p:nvSpPr>
          <p:cNvPr id="43" name="text 43"/>
          <p:cNvSpPr txBox="1"/>
          <p:nvPr/>
        </p:nvSpPr>
        <p:spPr>
          <a:xfrm>
            <a:off x="749808" y="1536192"/>
            <a:ext cx="6510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概念示意，非已实现页面；权威状态与允许动作均由后端提供。</a:t>
            </a:r>
            <a:endParaRPr lang="zh-CN" sz="1800"/>
          </a:p>
        </p:txBody>
      </p:sp>
      <p:sp>
        <p:nvSpPr>
          <p:cNvPr id="44" name="rect 44"/>
          <p:cNvSpPr/>
          <p:nvPr/>
        </p:nvSpPr>
        <p:spPr>
          <a:xfrm>
            <a:off x="11814048" y="320040"/>
            <a:ext cx="208483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11923776" y="384048"/>
            <a:ext cx="197510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页面范围 / D · 交互示意</a:t>
            </a:r>
            <a:endParaRPr lang="zh-CN" sz="1152"/>
          </a:p>
        </p:txBody>
      </p:sp>
      <p:sp>
        <p:nvSpPr>
          <p:cNvPr id="46" name="line 46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731520" y="7808976"/>
            <a:ext cx="267004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依据：三个主页面；交互合同；配置生效范围</a:t>
            </a:r>
            <a:endParaRPr lang="zh-CN" sz="1008"/>
          </a:p>
        </p:txBody>
      </p:sp>
      <p:sp>
        <p:nvSpPr>
          <p:cNvPr id="48" name="text 48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16 / 36</a:t>
            </a:r>
            <a:endParaRPr lang="zh-CN" sz="1368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同一个用户，也需要清楚的角色边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76272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86000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操作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3621024" y="2286000"/>
            <a:ext cx="173736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Dashboard 管理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6227064" y="2286000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主线</a:t>
            </a:r>
            <a:endParaRPr lang="zh-CN" sz="1656"/>
          </a:p>
        </p:txBody>
      </p:sp>
      <p:sp>
        <p:nvSpPr>
          <p:cNvPr id="7" name="text 7"/>
          <p:cNvSpPr txBox="1"/>
          <p:nvPr/>
        </p:nvSpPr>
        <p:spPr>
          <a:xfrm>
            <a:off x="8833104" y="2286000"/>
            <a:ext cx="101498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reviewer</a:t>
            </a:r>
            <a:endParaRPr lang="zh-CN" sz="1656"/>
          </a:p>
        </p:txBody>
      </p:sp>
      <p:sp>
        <p:nvSpPr>
          <p:cNvPr id="8" name="text 8"/>
          <p:cNvSpPr txBox="1"/>
          <p:nvPr/>
        </p:nvSpPr>
        <p:spPr>
          <a:xfrm>
            <a:off x="11439144" y="2286000"/>
            <a:ext cx="8595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worker</a:t>
            </a:r>
            <a:endParaRPr lang="zh-CN" sz="1656"/>
          </a:p>
        </p:txBody>
      </p:sp>
      <p:sp>
        <p:nvSpPr>
          <p:cNvPr id="9" name="rect 9"/>
          <p:cNvSpPr/>
          <p:nvPr/>
        </p:nvSpPr>
        <p:spPr>
          <a:xfrm>
            <a:off x="731520" y="2660904"/>
            <a:ext cx="13167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77824" y="2798064"/>
            <a:ext cx="202996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配置池 / 管理接入</a:t>
            </a:r>
            <a:endParaRPr lang="zh-CN" sz="1872"/>
          </a:p>
        </p:txBody>
      </p:sp>
      <p:sp>
        <p:nvSpPr>
          <p:cNvPr id="11" name="text 11"/>
          <p:cNvSpPr txBox="1"/>
          <p:nvPr/>
        </p:nvSpPr>
        <p:spPr>
          <a:xfrm>
            <a:off x="3621024" y="2798064"/>
            <a:ext cx="585216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允许</a:t>
            </a:r>
            <a:endParaRPr lang="zh-CN" sz="1872"/>
          </a:p>
        </p:txBody>
      </p:sp>
      <p:sp>
        <p:nvSpPr>
          <p:cNvPr id="12" name="text 12"/>
          <p:cNvSpPr txBox="1"/>
          <p:nvPr/>
        </p:nvSpPr>
        <p:spPr>
          <a:xfrm>
            <a:off x="6227064" y="2798064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13" name="text 13"/>
          <p:cNvSpPr txBox="1"/>
          <p:nvPr/>
        </p:nvSpPr>
        <p:spPr>
          <a:xfrm>
            <a:off x="8833104" y="2798064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14" name="text 14"/>
          <p:cNvSpPr txBox="1"/>
          <p:nvPr/>
        </p:nvSpPr>
        <p:spPr>
          <a:xfrm>
            <a:off x="11439144" y="2798064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15" name="rect 15"/>
          <p:cNvSpPr/>
          <p:nvPr/>
        </p:nvSpPr>
        <p:spPr>
          <a:xfrm>
            <a:off x="731520" y="3410712"/>
            <a:ext cx="13167360" cy="74980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3547872"/>
            <a:ext cx="2048256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提交 / 继续 / 取消</a:t>
            </a:r>
            <a:endParaRPr lang="zh-CN" sz="1872"/>
          </a:p>
        </p:txBody>
      </p:sp>
      <p:sp>
        <p:nvSpPr>
          <p:cNvPr id="17" name="text 17"/>
          <p:cNvSpPr txBox="1"/>
          <p:nvPr/>
        </p:nvSpPr>
        <p:spPr>
          <a:xfrm>
            <a:off x="3621024" y="3547872"/>
            <a:ext cx="129844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授权项目内</a:t>
            </a:r>
            <a:endParaRPr lang="zh-CN" sz="1872"/>
          </a:p>
        </p:txBody>
      </p:sp>
      <p:sp>
        <p:nvSpPr>
          <p:cNvPr id="18" name="text 18"/>
          <p:cNvSpPr txBox="1"/>
          <p:nvPr/>
        </p:nvSpPr>
        <p:spPr>
          <a:xfrm>
            <a:off x="6227064" y="3547872"/>
            <a:ext cx="585216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允许</a:t>
            </a:r>
            <a:endParaRPr lang="zh-CN" sz="1872"/>
          </a:p>
        </p:txBody>
      </p:sp>
      <p:sp>
        <p:nvSpPr>
          <p:cNvPr id="19" name="text 19"/>
          <p:cNvSpPr txBox="1"/>
          <p:nvPr/>
        </p:nvSpPr>
        <p:spPr>
          <a:xfrm>
            <a:off x="8833104" y="3547872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20" name="text 20"/>
          <p:cNvSpPr txBox="1"/>
          <p:nvPr/>
        </p:nvSpPr>
        <p:spPr>
          <a:xfrm>
            <a:off x="11439144" y="3547872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21" name="rect 21"/>
          <p:cNvSpPr/>
          <p:nvPr/>
        </p:nvSpPr>
        <p:spPr>
          <a:xfrm>
            <a:off x="731520" y="4160520"/>
            <a:ext cx="13167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77824" y="4297680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独立审核判决</a:t>
            </a:r>
            <a:endParaRPr lang="zh-CN" sz="1872"/>
          </a:p>
        </p:txBody>
      </p:sp>
      <p:sp>
        <p:nvSpPr>
          <p:cNvPr id="23" name="text 23"/>
          <p:cNvSpPr txBox="1"/>
          <p:nvPr/>
        </p:nvSpPr>
        <p:spPr>
          <a:xfrm>
            <a:off x="3621024" y="4297680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24" name="text 24"/>
          <p:cNvSpPr txBox="1"/>
          <p:nvPr/>
        </p:nvSpPr>
        <p:spPr>
          <a:xfrm>
            <a:off x="6227064" y="4297680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25" name="text 25"/>
          <p:cNvSpPr txBox="1"/>
          <p:nvPr/>
        </p:nvSpPr>
        <p:spPr>
          <a:xfrm>
            <a:off x="8833104" y="4297680"/>
            <a:ext cx="129844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有效领取内</a:t>
            </a:r>
            <a:endParaRPr lang="zh-CN" sz="1872"/>
          </a:p>
        </p:txBody>
      </p:sp>
      <p:sp>
        <p:nvSpPr>
          <p:cNvPr id="26" name="text 26"/>
          <p:cNvSpPr txBox="1"/>
          <p:nvPr/>
        </p:nvSpPr>
        <p:spPr>
          <a:xfrm>
            <a:off x="11439144" y="4297680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27" name="rect 27"/>
          <p:cNvSpPr/>
          <p:nvPr/>
        </p:nvSpPr>
        <p:spPr>
          <a:xfrm>
            <a:off x="731520" y="4910328"/>
            <a:ext cx="13167360" cy="74980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77824" y="5047488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交付候选</a:t>
            </a:r>
            <a:endParaRPr lang="zh-CN" sz="1872"/>
          </a:p>
        </p:txBody>
      </p:sp>
      <p:sp>
        <p:nvSpPr>
          <p:cNvPr id="29" name="text 29"/>
          <p:cNvSpPr txBox="1"/>
          <p:nvPr/>
        </p:nvSpPr>
        <p:spPr>
          <a:xfrm>
            <a:off x="3621024" y="5047488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30" name="text 30"/>
          <p:cNvSpPr txBox="1"/>
          <p:nvPr/>
        </p:nvSpPr>
        <p:spPr>
          <a:xfrm>
            <a:off x="6227064" y="5047488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31" name="text 31"/>
          <p:cNvSpPr txBox="1"/>
          <p:nvPr/>
        </p:nvSpPr>
        <p:spPr>
          <a:xfrm>
            <a:off x="8833104" y="5047488"/>
            <a:ext cx="36576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—</a:t>
            </a:r>
            <a:endParaRPr lang="zh-CN" sz="1872"/>
          </a:p>
        </p:txBody>
      </p:sp>
      <p:sp>
        <p:nvSpPr>
          <p:cNvPr id="32" name="text 32"/>
          <p:cNvSpPr txBox="1"/>
          <p:nvPr/>
        </p:nvSpPr>
        <p:spPr>
          <a:xfrm>
            <a:off x="11439144" y="5047488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专属结果通道</a:t>
            </a:r>
            <a:endParaRPr lang="zh-CN" sz="1872"/>
          </a:p>
        </p:txBody>
      </p:sp>
      <p:sp>
        <p:nvSpPr>
          <p:cNvPr id="33" name="rect 33"/>
          <p:cNvSpPr/>
          <p:nvPr/>
        </p:nvSpPr>
        <p:spPr>
          <a:xfrm>
            <a:off x="731520" y="5696712"/>
            <a:ext cx="13167360" cy="1682496"/>
          </a:xfrm>
          <a:prstGeom prst="roundRect">
            <a:avLst>
              <a:gd name="adj" fmla="val 9783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005840" y="5907024"/>
            <a:ext cx="834847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业务参数 → bridge 自动附凭据 → 后端认证 → 用例授权 → 状态检查</a:t>
            </a:r>
            <a:endParaRPr lang="zh-CN" sz="2088"/>
          </a:p>
        </p:txBody>
      </p:sp>
      <p:sp>
        <p:nvSpPr>
          <p:cNvPr id="35" name="text 35"/>
          <p:cNvSpPr txBox="1"/>
          <p:nvPr/>
        </p:nvSpPr>
        <p:spPr>
          <a:xfrm>
            <a:off x="1005840" y="6455664"/>
            <a:ext cx="678484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凭据轮换 / 撤销 / 根重绑都留痕；历史回执不能绕过当前权限。</a:t>
            </a:r>
            <a:endParaRPr lang="zh-CN" sz="1872"/>
          </a:p>
        </p:txBody>
      </p:sp>
      <p:sp>
        <p:nvSpPr>
          <p:cNvPr id="36" name="text 36"/>
          <p:cNvSpPr txBox="1"/>
          <p:nvPr/>
        </p:nvSpPr>
        <p:spPr>
          <a:xfrm>
            <a:off x="1005840" y="6885432"/>
            <a:ext cx="630021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定位：可信本机的职责隔离；恶意同 UID 强隔离不在本轮承诺内。</a:t>
            </a:r>
            <a:endParaRPr lang="zh-CN" sz="1656"/>
          </a:p>
        </p:txBody>
      </p:sp>
      <p:sp>
        <p:nvSpPr>
          <p:cNvPr id="37" name="text 37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接入与权限</a:t>
            </a:r>
            <a:endParaRPr lang="zh-CN" sz="1296"/>
          </a:p>
        </p:txBody>
      </p:sp>
      <p:sp>
        <p:nvSpPr>
          <p:cNvPr id="38" name="text 38"/>
          <p:cNvSpPr txBox="1"/>
          <p:nvPr/>
        </p:nvSpPr>
        <p:spPr>
          <a:xfrm>
            <a:off x="731520" y="850392"/>
            <a:ext cx="7132320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同一个用户，也需要清楚的角色边界</a:t>
            </a:r>
            <a:endParaRPr lang="zh-CN" sz="3456"/>
          </a:p>
        </p:txBody>
      </p:sp>
      <p:sp>
        <p:nvSpPr>
          <p:cNvPr id="39" name="text 39"/>
          <p:cNvSpPr txBox="1"/>
          <p:nvPr/>
        </p:nvSpPr>
        <p:spPr>
          <a:xfrm>
            <a:off x="749808" y="1536192"/>
            <a:ext cx="7196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固定角色连接自动加载凭据；每个后端用例继续核验权限和前置条件。</a:t>
            </a:r>
            <a:endParaRPr lang="zh-CN" sz="1800"/>
          </a:p>
        </p:txBody>
      </p:sp>
      <p:sp>
        <p:nvSpPr>
          <p:cNvPr id="40" name="rect 40"/>
          <p:cNvSpPr/>
          <p:nvPr/>
        </p:nvSpPr>
        <p:spPr>
          <a:xfrm>
            <a:off x="11814048" y="320040"/>
            <a:ext cx="208483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11923776" y="384048"/>
            <a:ext cx="197510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固定角色 / D · 授权合同</a:t>
            </a:r>
            <a:endParaRPr lang="zh-CN" sz="1152"/>
          </a:p>
        </p:txBody>
      </p:sp>
      <p:sp>
        <p:nvSpPr>
          <p:cNvPr id="42" name="line 42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31520" y="7808976"/>
            <a:ext cx="316382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依据：两个固定 MCP 连接；权限矩阵；凭据生命周期</a:t>
            </a:r>
            <a:endParaRPr lang="zh-CN" sz="1008"/>
          </a:p>
        </p:txBody>
      </p:sp>
      <p:sp>
        <p:nvSpPr>
          <p:cNvPr id="44" name="text 44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17 / 36</a:t>
            </a:r>
            <a:endParaRPr lang="zh-CN" sz="1368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原生工具循环保留，交付出口必须明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286000"/>
            <a:ext cx="3108960" cy="172821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468880"/>
            <a:ext cx="232257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ExecutionInput/1</a:t>
            </a:r>
            <a:endParaRPr lang="zh-CN" sz="2016"/>
          </a:p>
        </p:txBody>
      </p:sp>
      <p:sp>
        <p:nvSpPr>
          <p:cNvPr id="5" name="text 5"/>
          <p:cNvSpPr txBox="1"/>
          <p:nvPr/>
        </p:nvSpPr>
        <p:spPr>
          <a:xfrm>
            <a:off x="932688" y="2907792"/>
            <a:ext cx="16459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任务、固定输入</a:t>
            </a:r>
            <a:endParaRPr lang="zh-CN" sz="1728"/>
          </a:p>
        </p:txBody>
      </p:sp>
      <p:sp>
        <p:nvSpPr>
          <p:cNvPr id="6" name="text 6"/>
          <p:cNvSpPr txBox="1"/>
          <p:nvPr/>
        </p:nvSpPr>
        <p:spPr>
          <a:xfrm>
            <a:off x="932688" y="3215030"/>
            <a:ext cx="16459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配置与运行边界</a:t>
            </a:r>
            <a:endParaRPr lang="zh-CN" sz="1728"/>
          </a:p>
        </p:txBody>
      </p:sp>
      <p:sp>
        <p:nvSpPr>
          <p:cNvPr id="7" name="line 7"/>
          <p:cNvSpPr/>
          <p:nvPr/>
        </p:nvSpPr>
        <p:spPr>
          <a:xfrm>
            <a:off x="3886200" y="3127248"/>
            <a:ext cx="137160" cy="1"/>
          </a:xfrm>
          <a:prstGeom prst="line">
            <a:avLst/>
          </a:prstGeom>
          <a:noFill/>
          <a:ln w="18288">
            <a:solidFill>
              <a:srgbClr val="3C7398"/>
            </a:solidFill>
          </a:ln>
        </p:spPr>
      </p:sp>
      <p:sp>
        <p:nvSpPr>
          <p:cNvPr id="8" name="poly 8"/>
          <p:cNvSpPr/>
          <p:nvPr/>
        </p:nvSpPr>
        <p:spPr>
          <a:xfrm>
            <a:off x="3924556" y="307952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3C7398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069080" y="2286000"/>
            <a:ext cx="3108960" cy="172821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270248" y="2468880"/>
            <a:ext cx="230428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原生 Claude Code</a:t>
            </a:r>
            <a:endParaRPr lang="zh-CN" sz="2016"/>
          </a:p>
        </p:txBody>
      </p:sp>
      <p:sp>
        <p:nvSpPr>
          <p:cNvPr id="11" name="text 11"/>
          <p:cNvSpPr txBox="1"/>
          <p:nvPr/>
        </p:nvSpPr>
        <p:spPr>
          <a:xfrm>
            <a:off x="4270248" y="2907792"/>
            <a:ext cx="18928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read / edit / shell</a:t>
            </a:r>
            <a:endParaRPr lang="zh-CN" sz="1728"/>
          </a:p>
        </p:txBody>
      </p:sp>
      <p:sp>
        <p:nvSpPr>
          <p:cNvPr id="12" name="text 12"/>
          <p:cNvSpPr txBox="1"/>
          <p:nvPr/>
        </p:nvSpPr>
        <p:spPr>
          <a:xfrm>
            <a:off x="4270248" y="3215030"/>
            <a:ext cx="27797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MCP / subagent / session</a:t>
            </a:r>
            <a:endParaRPr lang="zh-CN" sz="1728"/>
          </a:p>
        </p:txBody>
      </p:sp>
      <p:sp>
        <p:nvSpPr>
          <p:cNvPr id="13" name="line 13"/>
          <p:cNvSpPr/>
          <p:nvPr/>
        </p:nvSpPr>
        <p:spPr>
          <a:xfrm>
            <a:off x="7223760" y="3127248"/>
            <a:ext cx="137160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14" name="poly 14"/>
          <p:cNvSpPr/>
          <p:nvPr/>
        </p:nvSpPr>
        <p:spPr>
          <a:xfrm>
            <a:off x="7262116" y="307952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15" name="rect 15"/>
          <p:cNvSpPr/>
          <p:nvPr/>
        </p:nvSpPr>
        <p:spPr>
          <a:xfrm>
            <a:off x="7406640" y="2286000"/>
            <a:ext cx="3108960" cy="172821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607808" y="2468880"/>
            <a:ext cx="17282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delivery.json</a:t>
            </a:r>
            <a:endParaRPr lang="zh-CN" sz="2016"/>
          </a:p>
        </p:txBody>
      </p:sp>
      <p:sp>
        <p:nvSpPr>
          <p:cNvPr id="17" name="text 17"/>
          <p:cNvSpPr txBox="1"/>
          <p:nvPr/>
        </p:nvSpPr>
        <p:spPr>
          <a:xfrm>
            <a:off x="7607808" y="2907792"/>
            <a:ext cx="12070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代码或报告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7607808" y="3215030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自检记录与成员清单</a:t>
            </a:r>
            <a:endParaRPr lang="zh-CN" sz="1728"/>
          </a:p>
        </p:txBody>
      </p:sp>
      <p:sp>
        <p:nvSpPr>
          <p:cNvPr id="19" name="line 19"/>
          <p:cNvSpPr/>
          <p:nvPr/>
        </p:nvSpPr>
        <p:spPr>
          <a:xfrm>
            <a:off x="10561320" y="3127248"/>
            <a:ext cx="137160" cy="1"/>
          </a:xfrm>
          <a:prstGeom prst="line">
            <a:avLst/>
          </a:prstGeom>
          <a:noFill/>
          <a:ln w="18288">
            <a:solidFill>
              <a:srgbClr val="E76A3B"/>
            </a:solidFill>
          </a:ln>
        </p:spPr>
      </p:sp>
      <p:sp>
        <p:nvSpPr>
          <p:cNvPr id="20" name="poly 20"/>
          <p:cNvSpPr/>
          <p:nvPr/>
        </p:nvSpPr>
        <p:spPr>
          <a:xfrm>
            <a:off x="10599676" y="3079520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E76A3B"/>
          </a:solidFill>
          <a:ln>
            <a:noFill/>
          </a:ln>
        </p:spPr>
      </p:sp>
      <p:sp>
        <p:nvSpPr>
          <p:cNvPr id="21" name="rect 21"/>
          <p:cNvSpPr/>
          <p:nvPr/>
        </p:nvSpPr>
        <p:spPr>
          <a:xfrm>
            <a:off x="10744200" y="2286000"/>
            <a:ext cx="3108960" cy="172821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945368" y="2468880"/>
            <a:ext cx="19019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受信交接与候选</a:t>
            </a:r>
            <a:endParaRPr lang="zh-CN" sz="2016"/>
          </a:p>
        </p:txBody>
      </p:sp>
      <p:sp>
        <p:nvSpPr>
          <p:cNvPr id="23" name="text 23"/>
          <p:cNvSpPr txBox="1"/>
          <p:nvPr/>
        </p:nvSpPr>
        <p:spPr>
          <a:xfrm>
            <a:off x="10945368" y="2907792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停止证明、实际摘要</a:t>
            </a:r>
            <a:endParaRPr lang="zh-CN" sz="1728"/>
          </a:p>
        </p:txBody>
      </p:sp>
      <p:sp>
        <p:nvSpPr>
          <p:cNvPr id="24" name="text 24"/>
          <p:cNvSpPr txBox="1"/>
          <p:nvPr/>
        </p:nvSpPr>
        <p:spPr>
          <a:xfrm>
            <a:off x="10945368" y="3215030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完整性与归属核验</a:t>
            </a:r>
            <a:endParaRPr lang="zh-CN" sz="1728"/>
          </a:p>
        </p:txBody>
      </p:sp>
      <p:sp>
        <p:nvSpPr>
          <p:cNvPr id="25" name="rect 25"/>
          <p:cNvSpPr/>
          <p:nvPr/>
        </p:nvSpPr>
        <p:spPr>
          <a:xfrm>
            <a:off x="731520" y="4507992"/>
            <a:ext cx="6400800" cy="2075688"/>
          </a:xfrm>
          <a:prstGeom prst="roundRect">
            <a:avLst>
              <a:gd name="adj" fmla="val 793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rect 26"/>
          <p:cNvSpPr/>
          <p:nvPr/>
        </p:nvSpPr>
        <p:spPr>
          <a:xfrm>
            <a:off x="731520" y="471830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960120" y="4745736"/>
            <a:ext cx="124358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代码成果</a:t>
            </a:r>
            <a:endParaRPr lang="zh-CN" sz="2232"/>
          </a:p>
        </p:txBody>
      </p:sp>
      <p:sp>
        <p:nvSpPr>
          <p:cNvPr id="28" name="text 28"/>
          <p:cNvSpPr txBox="1"/>
          <p:nvPr/>
        </p:nvSpPr>
        <p:spPr>
          <a:xfrm>
            <a:off x="960120" y="5321808"/>
            <a:ext cx="604418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固定 base → 可获取的 candidate commit；未提交修</a:t>
            </a:r>
            <a:endParaRPr lang="zh-CN" sz="1944"/>
          </a:p>
        </p:txBody>
      </p:sp>
      <p:sp>
        <p:nvSpPr>
          <p:cNvPr id="29" name="text 29"/>
          <p:cNvSpPr txBox="1"/>
          <p:nvPr/>
        </p:nvSpPr>
        <p:spPr>
          <a:xfrm>
            <a:off x="960120" y="5682264"/>
            <a:ext cx="430682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改留在恢复工作区，不隐式混入候选。</a:t>
            </a:r>
            <a:endParaRPr lang="zh-CN" sz="1944"/>
          </a:p>
        </p:txBody>
      </p:sp>
      <p:sp>
        <p:nvSpPr>
          <p:cNvPr id="30" name="rect 30"/>
          <p:cNvSpPr/>
          <p:nvPr/>
        </p:nvSpPr>
        <p:spPr>
          <a:xfrm>
            <a:off x="7351776" y="4507992"/>
            <a:ext cx="6547104" cy="2075688"/>
          </a:xfrm>
          <a:prstGeom prst="roundRect">
            <a:avLst>
              <a:gd name="adj" fmla="val 793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rect 31"/>
          <p:cNvSpPr/>
          <p:nvPr/>
        </p:nvSpPr>
        <p:spPr>
          <a:xfrm>
            <a:off x="7351776" y="4718304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7580376" y="4745736"/>
            <a:ext cx="124358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报告成果</a:t>
            </a:r>
            <a:endParaRPr lang="zh-CN" sz="2232"/>
          </a:p>
        </p:txBody>
      </p:sp>
      <p:sp>
        <p:nvSpPr>
          <p:cNvPr id="33" name="text 33"/>
          <p:cNvSpPr txBox="1"/>
          <p:nvPr/>
        </p:nvSpPr>
        <p:spPr>
          <a:xfrm>
            <a:off x="7580376" y="5321808"/>
            <a:ext cx="609904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主报告 + 不可变文件与证据；无需制造 commit，也要</a:t>
            </a:r>
            <a:endParaRPr lang="zh-CN" sz="1944"/>
          </a:p>
        </p:txBody>
      </p:sp>
      <p:sp>
        <p:nvSpPr>
          <p:cNvPr id="34" name="text 34"/>
          <p:cNvSpPr txBox="1"/>
          <p:nvPr/>
        </p:nvSpPr>
        <p:spPr>
          <a:xfrm>
            <a:off x="7580376" y="5682264"/>
            <a:ext cx="257860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满足全部必需交付键。</a:t>
            </a:r>
            <a:endParaRPr lang="zh-CN" sz="1944"/>
          </a:p>
        </p:txBody>
      </p:sp>
      <p:sp>
        <p:nvSpPr>
          <p:cNvPr id="35" name="rect 35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950976" y="6967728"/>
            <a:ext cx="850392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交付格式错误、文件缺失或读取失败：保存进度并诊断，审核次数保持不变。</a:t>
            </a:r>
            <a:endParaRPr lang="zh-CN" sz="1944"/>
          </a:p>
        </p:txBody>
      </p:sp>
      <p:sp>
        <p:nvSpPr>
          <p:cNvPr id="37" name="text 37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执行与交付</a:t>
            </a:r>
            <a:endParaRPr lang="zh-CN" sz="1296"/>
          </a:p>
        </p:txBody>
      </p:sp>
      <p:sp>
        <p:nvSpPr>
          <p:cNvPr id="38" name="text 38"/>
          <p:cNvSpPr txBox="1"/>
          <p:nvPr/>
        </p:nvSpPr>
        <p:spPr>
          <a:xfrm>
            <a:off x="731520" y="850392"/>
            <a:ext cx="757123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原生工具循环保留，交付出口必须明确</a:t>
            </a:r>
            <a:endParaRPr lang="zh-CN" sz="3456"/>
          </a:p>
        </p:txBody>
      </p:sp>
      <p:sp>
        <p:nvSpPr>
          <p:cNvPr id="39" name="text 39"/>
          <p:cNvSpPr txBox="1"/>
          <p:nvPr/>
        </p:nvSpPr>
        <p:spPr>
          <a:xfrm>
            <a:off x="749808" y="1536192"/>
            <a:ext cx="735177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服务用可核对的材料形成候选；开发工具仍由原生 Claude Code 提供。</a:t>
            </a:r>
            <a:endParaRPr lang="zh-CN" sz="1800"/>
          </a:p>
        </p:txBody>
      </p:sp>
      <p:sp>
        <p:nvSpPr>
          <p:cNvPr id="40" name="rect 40"/>
          <p:cNvSpPr/>
          <p:nvPr/>
        </p:nvSpPr>
        <p:spPr>
          <a:xfrm>
            <a:off x="11814048" y="320040"/>
            <a:ext cx="208483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11923776" y="384048"/>
            <a:ext cx="197510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原生能力 / D · 交付协议</a:t>
            </a:r>
            <a:endParaRPr lang="zh-CN" sz="1152"/>
          </a:p>
        </p:txBody>
      </p:sp>
      <p:sp>
        <p:nvSpPr>
          <p:cNvPr id="42" name="line 42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31520" y="7808976"/>
            <a:ext cx="362102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依据：Worker 输入与交付；原生能力；WorkerDelivery 类型</a:t>
            </a:r>
            <a:endParaRPr lang="zh-CN" sz="1008"/>
          </a:p>
        </p:txBody>
      </p:sp>
      <p:sp>
        <p:nvSpPr>
          <p:cNvPr id="44" name="text 44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18 / 36</a:t>
            </a:r>
            <a:endParaRPr lang="zh-CN" sz="1368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独审的关键：材料独立、候选精确、判决有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85416"/>
            <a:ext cx="4242816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39572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23160"/>
            <a:ext cx="1682496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1 领精确候选</a:t>
            </a:r>
            <a:endParaRPr lang="zh-CN" sz="2088"/>
          </a:p>
        </p:txBody>
      </p:sp>
      <p:sp>
        <p:nvSpPr>
          <p:cNvPr id="6" name="text 6"/>
          <p:cNvSpPr txBox="1"/>
          <p:nvPr/>
        </p:nvSpPr>
        <p:spPr>
          <a:xfrm>
            <a:off x="960120" y="2999232"/>
            <a:ext cx="271576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candidate_id + 内容摘要</a:t>
            </a:r>
            <a:endParaRPr lang="zh-CN" sz="1800"/>
          </a:p>
        </p:txBody>
      </p:sp>
      <p:sp>
        <p:nvSpPr>
          <p:cNvPr id="7" name="text 7"/>
          <p:cNvSpPr txBox="1"/>
          <p:nvPr/>
        </p:nvSpPr>
        <p:spPr>
          <a:xfrm>
            <a:off x="960120" y="3332988"/>
            <a:ext cx="340156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固定验收 + 有效 review_handle</a:t>
            </a:r>
            <a:endParaRPr lang="zh-CN" sz="1800"/>
          </a:p>
        </p:txBody>
      </p:sp>
      <p:sp>
        <p:nvSpPr>
          <p:cNvPr id="8" name="rect 8"/>
          <p:cNvSpPr/>
          <p:nvPr/>
        </p:nvSpPr>
        <p:spPr>
          <a:xfrm>
            <a:off x="5193792" y="2185416"/>
            <a:ext cx="4242816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5193792" y="239572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422392" y="2423160"/>
            <a:ext cx="1682496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2 建独立副本</a:t>
            </a:r>
            <a:endParaRPr lang="zh-CN" sz="2088"/>
          </a:p>
        </p:txBody>
      </p:sp>
      <p:sp>
        <p:nvSpPr>
          <p:cNvPr id="11" name="text 11"/>
          <p:cNvSpPr txBox="1"/>
          <p:nvPr/>
        </p:nvSpPr>
        <p:spPr>
          <a:xfrm>
            <a:off x="5422392" y="2999232"/>
            <a:ext cx="253288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自足 bundle / 成员清单</a:t>
            </a:r>
            <a:endParaRPr lang="zh-CN" sz="1800"/>
          </a:p>
        </p:txBody>
      </p:sp>
      <p:sp>
        <p:nvSpPr>
          <p:cNvPr id="12" name="text 12"/>
          <p:cNvSpPr txBox="1"/>
          <p:nvPr/>
        </p:nvSpPr>
        <p:spPr>
          <a:xfrm>
            <a:off x="5422392" y="3332988"/>
            <a:ext cx="322783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自有 checkout，不改候选原件</a:t>
            </a:r>
            <a:endParaRPr lang="zh-CN" sz="1800"/>
          </a:p>
        </p:txBody>
      </p:sp>
      <p:sp>
        <p:nvSpPr>
          <p:cNvPr id="13" name="rect 13"/>
          <p:cNvSpPr/>
          <p:nvPr/>
        </p:nvSpPr>
        <p:spPr>
          <a:xfrm>
            <a:off x="9656064" y="2185416"/>
            <a:ext cx="4242816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rect 14"/>
          <p:cNvSpPr/>
          <p:nvPr/>
        </p:nvSpPr>
        <p:spPr>
          <a:xfrm>
            <a:off x="9656064" y="239572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9884664" y="2423160"/>
            <a:ext cx="1682496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3 存独立证据</a:t>
            </a:r>
            <a:endParaRPr lang="zh-CN" sz="2088"/>
          </a:p>
        </p:txBody>
      </p:sp>
      <p:sp>
        <p:nvSpPr>
          <p:cNvPr id="16" name="text 16"/>
          <p:cNvSpPr txBox="1"/>
          <p:nvPr/>
        </p:nvSpPr>
        <p:spPr>
          <a:xfrm>
            <a:off x="9884664" y="2999232"/>
            <a:ext cx="264261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命令、实际 HEAD、时间</a:t>
            </a:r>
            <a:endParaRPr lang="zh-CN" sz="1800"/>
          </a:p>
        </p:txBody>
      </p:sp>
      <p:sp>
        <p:nvSpPr>
          <p:cNvPr id="17" name="text 17"/>
          <p:cNvSpPr txBox="1"/>
          <p:nvPr/>
        </p:nvSpPr>
        <p:spPr>
          <a:xfrm>
            <a:off x="9884664" y="3332988"/>
            <a:ext cx="2852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退出观察、环境与日志引用</a:t>
            </a:r>
            <a:endParaRPr lang="zh-CN" sz="1800"/>
          </a:p>
        </p:txBody>
      </p:sp>
      <p:sp>
        <p:nvSpPr>
          <p:cNvPr id="18" name="rect 18"/>
          <p:cNvSpPr/>
          <p:nvPr/>
        </p:nvSpPr>
        <p:spPr>
          <a:xfrm>
            <a:off x="731520" y="4818888"/>
            <a:ext cx="13167360" cy="1627632"/>
          </a:xfrm>
          <a:prstGeom prst="roundRect">
            <a:avLst>
              <a:gd name="adj" fmla="val 10112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005840" y="5029200"/>
            <a:ext cx="914400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PASS</a:t>
            </a:r>
            <a:endParaRPr lang="zh-CN" sz="2448"/>
          </a:p>
        </p:txBody>
      </p:sp>
      <p:sp>
        <p:nvSpPr>
          <p:cNvPr id="20" name="text 20"/>
          <p:cNvSpPr txBox="1"/>
          <p:nvPr/>
        </p:nvSpPr>
        <p:spPr>
          <a:xfrm>
            <a:off x="1005840" y="5568696"/>
            <a:ext cx="2395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验收满足，任务成功。</a:t>
            </a:r>
            <a:endParaRPr lang="zh-CN" sz="1800"/>
          </a:p>
        </p:txBody>
      </p:sp>
      <p:sp>
        <p:nvSpPr>
          <p:cNvPr id="21" name="text 21"/>
          <p:cNvSpPr txBox="1"/>
          <p:nvPr/>
        </p:nvSpPr>
        <p:spPr>
          <a:xfrm>
            <a:off x="5394960" y="5029200"/>
            <a:ext cx="1225296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REJECT</a:t>
            </a:r>
            <a:endParaRPr lang="zh-CN" sz="2448"/>
          </a:p>
        </p:txBody>
      </p:sp>
      <p:sp>
        <p:nvSpPr>
          <p:cNvPr id="22" name="text 22"/>
          <p:cNvSpPr txBox="1"/>
          <p:nvPr/>
        </p:nvSpPr>
        <p:spPr>
          <a:xfrm>
            <a:off x="5394960" y="5568696"/>
            <a:ext cx="3081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确有不满足项，计一次拒绝。</a:t>
            </a:r>
            <a:endParaRPr lang="zh-CN" sz="1800"/>
          </a:p>
        </p:txBody>
      </p:sp>
      <p:sp>
        <p:nvSpPr>
          <p:cNvPr id="23" name="text 23"/>
          <p:cNvSpPr txBox="1"/>
          <p:nvPr/>
        </p:nvSpPr>
        <p:spPr>
          <a:xfrm>
            <a:off x="9921240" y="5029200"/>
            <a:ext cx="941832" cy="4818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48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defer</a:t>
            </a:r>
            <a:endParaRPr lang="zh-CN" sz="2448"/>
          </a:p>
        </p:txBody>
      </p:sp>
      <p:sp>
        <p:nvSpPr>
          <p:cNvPr id="24" name="text 24"/>
          <p:cNvSpPr txBox="1"/>
          <p:nvPr/>
        </p:nvSpPr>
        <p:spPr>
          <a:xfrm>
            <a:off x="9921240" y="5568696"/>
            <a:ext cx="2624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无法判断，保留原候选。</a:t>
            </a:r>
            <a:endParaRPr lang="zh-CN" sz="1800"/>
          </a:p>
        </p:txBody>
      </p:sp>
      <p:sp>
        <p:nvSpPr>
          <p:cNvPr id="25" name="rect 25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50976" y="6967728"/>
            <a:ext cx="751636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租约过期：重领同候选并复核；网络存活和模型仍在审核是两回事。</a:t>
            </a:r>
            <a:endParaRPr lang="zh-CN" sz="1944"/>
          </a:p>
        </p:txBody>
      </p:sp>
      <p:sp>
        <p:nvSpPr>
          <p:cNvPr id="27" name="text 27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执行与交付</a:t>
            </a:r>
            <a:endParaRPr lang="zh-CN" sz="1296"/>
          </a:p>
        </p:txBody>
      </p:sp>
      <p:sp>
        <p:nvSpPr>
          <p:cNvPr id="28" name="text 28"/>
          <p:cNvSpPr txBox="1"/>
          <p:nvPr/>
        </p:nvSpPr>
        <p:spPr>
          <a:xfrm>
            <a:off x="731520" y="850392"/>
            <a:ext cx="888796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独审的关键：材料独立、候选精确、判决有效</a:t>
            </a:r>
            <a:endParaRPr lang="zh-CN" sz="3456"/>
          </a:p>
        </p:txBody>
      </p:sp>
      <p:sp>
        <p:nvSpPr>
          <p:cNvPr id="29" name="text 29"/>
          <p:cNvSpPr txBox="1"/>
          <p:nvPr/>
        </p:nvSpPr>
        <p:spPr>
          <a:xfrm>
            <a:off x="749808" y="1536192"/>
            <a:ext cx="773582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reviewer 验证自己的副本，保存自己的证据，并对当前有效领取提交判决。</a:t>
            </a:r>
            <a:endParaRPr lang="zh-CN" sz="1800"/>
          </a:p>
        </p:txBody>
      </p:sp>
      <p:sp>
        <p:nvSpPr>
          <p:cNvPr id="30" name="rect 30"/>
          <p:cNvSpPr/>
          <p:nvPr/>
        </p:nvSpPr>
        <p:spPr>
          <a:xfrm>
            <a:off x="11777472" y="320040"/>
            <a:ext cx="2121408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11887200" y="384048"/>
            <a:ext cx="2011680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独审 / D·H · 材料与租约</a:t>
            </a:r>
            <a:endParaRPr lang="zh-CN" sz="1152"/>
          </a:p>
        </p:txBody>
      </p:sp>
      <p:sp>
        <p:nvSpPr>
          <p:cNvPr id="32" name="line 32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731520" y="7808976"/>
            <a:ext cx="334670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依据：独立材料与租约；reviewer 行为；判决覆盖与绑定</a:t>
            </a:r>
            <a:endParaRPr lang="zh-CN" sz="1008"/>
          </a:p>
        </p:txBody>
      </p:sp>
      <p:sp>
        <p:nvSpPr>
          <p:cNvPr id="34" name="text 34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19 / 36</a:t>
            </a:r>
            <a:endParaRPr lang="zh-CN" sz="1368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发生 OOM 后，系统应保住这一任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368296"/>
            <a:ext cx="3108960" cy="185623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2688" y="2551176"/>
            <a:ext cx="1563624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① 保存进度</a:t>
            </a:r>
            <a:endParaRPr lang="zh-CN" sz="2160"/>
          </a:p>
        </p:txBody>
      </p:sp>
      <p:sp>
        <p:nvSpPr>
          <p:cNvPr id="5" name="text 5"/>
          <p:cNvSpPr txBox="1"/>
          <p:nvPr/>
        </p:nvSpPr>
        <p:spPr>
          <a:xfrm>
            <a:off x="932688" y="2990088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代码、会话、日志</a:t>
            </a:r>
            <a:endParaRPr lang="zh-CN" sz="1728"/>
          </a:p>
        </p:txBody>
      </p:sp>
      <p:sp>
        <p:nvSpPr>
          <p:cNvPr id="6" name="text 6"/>
          <p:cNvSpPr txBox="1"/>
          <p:nvPr/>
        </p:nvSpPr>
        <p:spPr>
          <a:xfrm>
            <a:off x="932688" y="3297326"/>
            <a:ext cx="184708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已用拒绝次数 = 1</a:t>
            </a:r>
            <a:endParaRPr lang="zh-CN" sz="1728"/>
          </a:p>
        </p:txBody>
      </p:sp>
      <p:sp>
        <p:nvSpPr>
          <p:cNvPr id="7" name="line 7"/>
          <p:cNvSpPr/>
          <p:nvPr/>
        </p:nvSpPr>
        <p:spPr>
          <a:xfrm>
            <a:off x="3895344" y="3282696"/>
            <a:ext cx="128016" cy="1"/>
          </a:xfrm>
          <a:prstGeom prst="line">
            <a:avLst/>
          </a:prstGeom>
          <a:noFill/>
          <a:ln w="18288">
            <a:solidFill>
              <a:srgbClr val="3C7398"/>
            </a:solidFill>
          </a:ln>
        </p:spPr>
      </p:sp>
      <p:sp>
        <p:nvSpPr>
          <p:cNvPr id="8" name="poly 8"/>
          <p:cNvSpPr/>
          <p:nvPr/>
        </p:nvSpPr>
        <p:spPr>
          <a:xfrm>
            <a:off x="3924556" y="323496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3C7398"/>
          </a:solidFill>
          <a:ln>
            <a:noFill/>
          </a:ln>
        </p:spPr>
      </p:sp>
      <p:sp>
        <p:nvSpPr>
          <p:cNvPr id="9" name="rect 9"/>
          <p:cNvSpPr/>
          <p:nvPr/>
        </p:nvSpPr>
        <p:spPr>
          <a:xfrm>
            <a:off x="4069080" y="2368296"/>
            <a:ext cx="3108960" cy="185623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270248" y="2551176"/>
            <a:ext cx="1563624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② 核对停止</a:t>
            </a:r>
            <a:endParaRPr lang="zh-CN" sz="2160"/>
          </a:p>
        </p:txBody>
      </p:sp>
      <p:sp>
        <p:nvSpPr>
          <p:cNvPr id="11" name="text 11"/>
          <p:cNvSpPr txBox="1"/>
          <p:nvPr/>
        </p:nvSpPr>
        <p:spPr>
          <a:xfrm>
            <a:off x="4270248" y="2990088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旧执行与所有后代</a:t>
            </a:r>
            <a:endParaRPr lang="zh-CN" sz="1728"/>
          </a:p>
        </p:txBody>
      </p:sp>
      <p:sp>
        <p:nvSpPr>
          <p:cNvPr id="12" name="text 12"/>
          <p:cNvSpPr txBox="1"/>
          <p:nvPr/>
        </p:nvSpPr>
        <p:spPr>
          <a:xfrm>
            <a:off x="4270248" y="3297326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外部副作用是否明确</a:t>
            </a:r>
            <a:endParaRPr lang="zh-CN" sz="1728"/>
          </a:p>
        </p:txBody>
      </p:sp>
      <p:sp>
        <p:nvSpPr>
          <p:cNvPr id="13" name="line 13"/>
          <p:cNvSpPr/>
          <p:nvPr/>
        </p:nvSpPr>
        <p:spPr>
          <a:xfrm>
            <a:off x="7232904" y="3282696"/>
            <a:ext cx="128016" cy="1"/>
          </a:xfrm>
          <a:prstGeom prst="line">
            <a:avLst/>
          </a:prstGeom>
          <a:noFill/>
          <a:ln w="18288">
            <a:solidFill>
              <a:srgbClr val="E76A3B"/>
            </a:solidFill>
          </a:ln>
        </p:spPr>
      </p:sp>
      <p:sp>
        <p:nvSpPr>
          <p:cNvPr id="14" name="poly 14"/>
          <p:cNvSpPr/>
          <p:nvPr/>
        </p:nvSpPr>
        <p:spPr>
          <a:xfrm>
            <a:off x="7262116" y="323496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E76A3B"/>
          </a:solidFill>
          <a:ln>
            <a:noFill/>
          </a:ln>
        </p:spPr>
      </p:sp>
      <p:sp>
        <p:nvSpPr>
          <p:cNvPr id="15" name="rect 15"/>
          <p:cNvSpPr/>
          <p:nvPr/>
        </p:nvSpPr>
        <p:spPr>
          <a:xfrm>
            <a:off x="7406640" y="2368296"/>
            <a:ext cx="3108960" cy="185623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607808" y="2551176"/>
            <a:ext cx="1563624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③ 修复条件</a:t>
            </a:r>
            <a:endParaRPr lang="zh-CN" sz="2160"/>
          </a:p>
        </p:txBody>
      </p:sp>
      <p:sp>
        <p:nvSpPr>
          <p:cNvPr id="17" name="text 17"/>
          <p:cNvSpPr txBox="1"/>
          <p:nvPr/>
        </p:nvSpPr>
        <p:spPr>
          <a:xfrm>
            <a:off x="7607808" y="2990088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例：任务资源覆盖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7607808" y="3297326"/>
            <a:ext cx="155448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4 GiB → 8 GiB</a:t>
            </a:r>
            <a:endParaRPr lang="zh-CN" sz="1728"/>
          </a:p>
        </p:txBody>
      </p:sp>
      <p:sp>
        <p:nvSpPr>
          <p:cNvPr id="19" name="line 19"/>
          <p:cNvSpPr/>
          <p:nvPr/>
        </p:nvSpPr>
        <p:spPr>
          <a:xfrm>
            <a:off x="10570464" y="3282696"/>
            <a:ext cx="128016" cy="1"/>
          </a:xfrm>
          <a:prstGeom prst="line">
            <a:avLst/>
          </a:prstGeom>
          <a:noFill/>
          <a:ln w="18288">
            <a:solidFill>
              <a:srgbClr val="127C72"/>
            </a:solidFill>
          </a:ln>
        </p:spPr>
      </p:sp>
      <p:sp>
        <p:nvSpPr>
          <p:cNvPr id="20" name="poly 20"/>
          <p:cNvSpPr/>
          <p:nvPr/>
        </p:nvSpPr>
        <p:spPr>
          <a:xfrm>
            <a:off x="10599676" y="3234968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127C72"/>
          </a:solidFill>
          <a:ln>
            <a:noFill/>
          </a:ln>
        </p:spPr>
      </p:sp>
      <p:sp>
        <p:nvSpPr>
          <p:cNvPr id="21" name="rect 21"/>
          <p:cNvSpPr/>
          <p:nvPr/>
        </p:nvSpPr>
        <p:spPr>
          <a:xfrm>
            <a:off x="10744200" y="2368296"/>
            <a:ext cx="3108960" cy="185623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945368" y="2551176"/>
            <a:ext cx="1563624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④ 显式继续</a:t>
            </a:r>
            <a:endParaRPr lang="zh-CN" sz="2160"/>
          </a:p>
        </p:txBody>
      </p:sp>
      <p:sp>
        <p:nvSpPr>
          <p:cNvPr id="23" name="text 23"/>
          <p:cNvSpPr txBox="1"/>
          <p:nvPr/>
        </p:nvSpPr>
        <p:spPr>
          <a:xfrm>
            <a:off x="10945368" y="2990088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原会话 / 新会话接手</a:t>
            </a:r>
            <a:endParaRPr lang="zh-CN" sz="1728"/>
          </a:p>
        </p:txBody>
      </p:sp>
      <p:sp>
        <p:nvSpPr>
          <p:cNvPr id="24" name="text 24"/>
          <p:cNvSpPr txBox="1"/>
          <p:nvPr/>
        </p:nvSpPr>
        <p:spPr>
          <a:xfrm>
            <a:off x="10945368" y="3297326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原合同、模型、次数</a:t>
            </a:r>
            <a:endParaRPr lang="zh-CN" sz="1728"/>
          </a:p>
        </p:txBody>
      </p:sp>
      <p:sp>
        <p:nvSpPr>
          <p:cNvPr id="25" name="rect 25"/>
          <p:cNvSpPr/>
          <p:nvPr/>
        </p:nvSpPr>
        <p:spPr>
          <a:xfrm>
            <a:off x="731520" y="4681728"/>
            <a:ext cx="6400800" cy="1929384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rect 26"/>
          <p:cNvSpPr/>
          <p:nvPr/>
        </p:nvSpPr>
        <p:spPr>
          <a:xfrm>
            <a:off x="731520" y="489204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960120" y="4919472"/>
            <a:ext cx="3794760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可以确认停止，且副作用明确</a:t>
            </a:r>
            <a:endParaRPr lang="zh-CN" sz="2232"/>
          </a:p>
        </p:txBody>
      </p:sp>
      <p:sp>
        <p:nvSpPr>
          <p:cNvPr id="28" name="text 28"/>
          <p:cNvSpPr txBox="1"/>
          <p:nvPr/>
        </p:nvSpPr>
        <p:spPr>
          <a:xfrm>
            <a:off x="960120" y="5495544"/>
            <a:ext cx="548640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通过准入后建立唯一新执行，接续已保存成果。</a:t>
            </a:r>
            <a:endParaRPr lang="zh-CN" sz="2016"/>
          </a:p>
        </p:txBody>
      </p:sp>
      <p:sp>
        <p:nvSpPr>
          <p:cNvPr id="29" name="rect 29"/>
          <p:cNvSpPr/>
          <p:nvPr/>
        </p:nvSpPr>
        <p:spPr>
          <a:xfrm>
            <a:off x="7351776" y="4681728"/>
            <a:ext cx="6547104" cy="1929384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rect 30"/>
          <p:cNvSpPr/>
          <p:nvPr/>
        </p:nvSpPr>
        <p:spPr>
          <a:xfrm>
            <a:off x="7351776" y="4892040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7580376" y="4919472"/>
            <a:ext cx="351129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仍有未知执行或不明副作用</a:t>
            </a:r>
            <a:endParaRPr lang="zh-CN" sz="2232"/>
          </a:p>
        </p:txBody>
      </p:sp>
      <p:sp>
        <p:nvSpPr>
          <p:cNvPr id="32" name="text 32"/>
          <p:cNvSpPr txBox="1"/>
          <p:nvPr/>
        </p:nvSpPr>
        <p:spPr>
          <a:xfrm>
            <a:off x="7580376" y="5495544"/>
            <a:ext cx="599846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保留占位、显示原因，先核对或明确处置，再决定是</a:t>
            </a:r>
            <a:endParaRPr lang="zh-CN" sz="2016"/>
          </a:p>
        </p:txBody>
      </p:sp>
      <p:sp>
        <p:nvSpPr>
          <p:cNvPr id="33" name="text 33"/>
          <p:cNvSpPr txBox="1"/>
          <p:nvPr/>
        </p:nvSpPr>
        <p:spPr>
          <a:xfrm>
            <a:off x="7580376" y="5869351"/>
            <a:ext cx="113385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否恢复。</a:t>
            </a:r>
            <a:endParaRPr lang="zh-CN" sz="2016"/>
          </a:p>
        </p:txBody>
      </p:sp>
      <p:sp>
        <p:nvSpPr>
          <p:cNvPr id="34" name="rect 34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950976" y="6967728"/>
            <a:ext cx="780897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恢复额度、审核恢复额度、有效 REJECT 次数，分别记账并保留历史。</a:t>
            </a:r>
            <a:endParaRPr lang="zh-CN" sz="1944"/>
          </a:p>
        </p:txBody>
      </p:sp>
      <p:sp>
        <p:nvSpPr>
          <p:cNvPr id="36" name="text 36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故障与恢复</a:t>
            </a:r>
            <a:endParaRPr lang="zh-CN" sz="1296"/>
          </a:p>
        </p:txBody>
      </p:sp>
      <p:sp>
        <p:nvSpPr>
          <p:cNvPr id="37" name="text 37"/>
          <p:cNvSpPr txBox="1"/>
          <p:nvPr/>
        </p:nvSpPr>
        <p:spPr>
          <a:xfrm>
            <a:off x="731520" y="850392"/>
            <a:ext cx="7232904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发生 OOM 后，系统应保住这一任务</a:t>
            </a:r>
            <a:endParaRPr lang="zh-CN" sz="3456"/>
          </a:p>
        </p:txBody>
      </p:sp>
      <p:sp>
        <p:nvSpPr>
          <p:cNvPr id="38" name="text 38"/>
          <p:cNvSpPr txBox="1"/>
          <p:nvPr/>
        </p:nvSpPr>
        <p:spPr>
          <a:xfrm>
            <a:off x="749808" y="1536192"/>
            <a:ext cx="6281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情境示意：第一次有效拒绝后，返修执行因内存不足而中断。</a:t>
            </a:r>
            <a:endParaRPr lang="zh-CN" sz="1800"/>
          </a:p>
        </p:txBody>
      </p:sp>
      <p:sp>
        <p:nvSpPr>
          <p:cNvPr id="39" name="rect 39"/>
          <p:cNvSpPr/>
          <p:nvPr/>
        </p:nvSpPr>
        <p:spPr>
          <a:xfrm>
            <a:off x="11960352" y="320040"/>
            <a:ext cx="1938528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12070080" y="384048"/>
            <a:ext cx="1828800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可继续 / D · 恢复机制</a:t>
            </a:r>
            <a:endParaRPr lang="zh-CN" sz="1152"/>
          </a:p>
        </p:txBody>
      </p:sp>
      <p:sp>
        <p:nvSpPr>
          <p:cNvPr id="41" name="line 41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31520" y="7808976"/>
            <a:ext cx="279806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依据：恢复故障窗口；恢复动作；任务资源覆盖</a:t>
            </a:r>
            <a:endParaRPr lang="zh-CN" sz="1008"/>
          </a:p>
        </p:txBody>
      </p:sp>
      <p:sp>
        <p:nvSpPr>
          <p:cNvPr id="43" name="text 43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20 / 36</a:t>
            </a:r>
            <a:endParaRPr lang="zh-CN" sz="1368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可靠性集中在五个“刚好出故障”的窗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21408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31136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路径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2615184" y="2231136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最危险的时刻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7187184" y="2231136"/>
            <a:ext cx="22128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候选设计怎样收住结果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06040"/>
            <a:ext cx="13167360" cy="8321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43200"/>
            <a:ext cx="566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启动</a:t>
            </a:r>
            <a:endParaRPr lang="zh-CN" sz="1800"/>
          </a:p>
        </p:txBody>
      </p:sp>
      <p:sp>
        <p:nvSpPr>
          <p:cNvPr id="9" name="text 9"/>
          <p:cNvSpPr txBox="1"/>
          <p:nvPr/>
        </p:nvSpPr>
        <p:spPr>
          <a:xfrm>
            <a:off x="2615184" y="2743200"/>
            <a:ext cx="323697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进程已创建，DB 尚未记清身份</a:t>
            </a:r>
            <a:endParaRPr lang="zh-CN" sz="1800"/>
          </a:p>
        </p:txBody>
      </p:sp>
      <p:sp>
        <p:nvSpPr>
          <p:cNvPr id="10" name="text 10"/>
          <p:cNvSpPr txBox="1"/>
          <p:nvPr/>
        </p:nvSpPr>
        <p:spPr>
          <a:xfrm>
            <a:off x="7187184" y="2743200"/>
            <a:ext cx="554126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门控 + launch 身份；未知时保留占位，核对原执行。</a:t>
            </a:r>
            <a:endParaRPr lang="zh-CN" sz="1800"/>
          </a:p>
        </p:txBody>
      </p:sp>
      <p:sp>
        <p:nvSpPr>
          <p:cNvPr id="11" name="rect 11"/>
          <p:cNvSpPr/>
          <p:nvPr/>
        </p:nvSpPr>
        <p:spPr>
          <a:xfrm>
            <a:off x="731520" y="3438144"/>
            <a:ext cx="13167360" cy="83210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77824" y="3575304"/>
            <a:ext cx="566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发布</a:t>
            </a:r>
            <a:endParaRPr lang="zh-CN" sz="1800"/>
          </a:p>
        </p:txBody>
      </p:sp>
      <p:sp>
        <p:nvSpPr>
          <p:cNvPr id="13" name="text 13"/>
          <p:cNvSpPr txBox="1"/>
          <p:nvPr/>
        </p:nvSpPr>
        <p:spPr>
          <a:xfrm>
            <a:off x="2615184" y="3575304"/>
            <a:ext cx="357530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文件已写好，Candidate 事务失败</a:t>
            </a:r>
            <a:endParaRPr lang="zh-CN" sz="1800"/>
          </a:p>
        </p:txBody>
      </p:sp>
      <p:sp>
        <p:nvSpPr>
          <p:cNvPr id="14" name="text 14"/>
          <p:cNvSpPr txBox="1"/>
          <p:nvPr/>
        </p:nvSpPr>
        <p:spPr>
          <a:xfrm>
            <a:off x="7187184" y="3575304"/>
            <a:ext cx="538581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先发布内容，后提交引用；按原 publish 操作对账。</a:t>
            </a:r>
            <a:endParaRPr lang="zh-CN" sz="1800"/>
          </a:p>
        </p:txBody>
      </p:sp>
      <p:sp>
        <p:nvSpPr>
          <p:cNvPr id="15" name="rect 15"/>
          <p:cNvSpPr/>
          <p:nvPr/>
        </p:nvSpPr>
        <p:spPr>
          <a:xfrm>
            <a:off x="731520" y="4270248"/>
            <a:ext cx="13167360" cy="8321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4407408"/>
            <a:ext cx="566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判决</a:t>
            </a:r>
            <a:endParaRPr lang="zh-CN" sz="1800"/>
          </a:p>
        </p:txBody>
      </p:sp>
      <p:sp>
        <p:nvSpPr>
          <p:cNvPr id="17" name="text 17"/>
          <p:cNvSpPr txBox="1"/>
          <p:nvPr/>
        </p:nvSpPr>
        <p:spPr>
          <a:xfrm>
            <a:off x="2615184" y="4407408"/>
            <a:ext cx="2624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判决已提交，但响应丢失</a:t>
            </a:r>
            <a:endParaRPr lang="zh-CN" sz="1800"/>
          </a:p>
        </p:txBody>
      </p:sp>
      <p:sp>
        <p:nvSpPr>
          <p:cNvPr id="18" name="text 18"/>
          <p:cNvSpPr txBox="1"/>
          <p:nvPr/>
        </p:nvSpPr>
        <p:spPr>
          <a:xfrm>
            <a:off x="7187184" y="4407408"/>
            <a:ext cx="556869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判决 / 计数 / 终态 / outbox 原子提交；原 key 查回。</a:t>
            </a:r>
            <a:endParaRPr lang="zh-CN" sz="1800"/>
          </a:p>
        </p:txBody>
      </p:sp>
      <p:sp>
        <p:nvSpPr>
          <p:cNvPr id="19" name="rect 19"/>
          <p:cNvSpPr/>
          <p:nvPr/>
        </p:nvSpPr>
        <p:spPr>
          <a:xfrm>
            <a:off x="731520" y="5102352"/>
            <a:ext cx="13167360" cy="83210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77824" y="5239512"/>
            <a:ext cx="566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取消</a:t>
            </a:r>
            <a:endParaRPr lang="zh-CN" sz="1800"/>
          </a:p>
        </p:txBody>
      </p:sp>
      <p:sp>
        <p:nvSpPr>
          <p:cNvPr id="21" name="text 21"/>
          <p:cNvSpPr txBox="1"/>
          <p:nvPr/>
        </p:nvSpPr>
        <p:spPr>
          <a:xfrm>
            <a:off x="2615184" y="5239512"/>
            <a:ext cx="289864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父 PID 消失，后代仍在运行</a:t>
            </a:r>
            <a:endParaRPr lang="zh-CN" sz="1800"/>
          </a:p>
        </p:txBody>
      </p:sp>
      <p:sp>
        <p:nvSpPr>
          <p:cNvPr id="22" name="text 22"/>
          <p:cNvSpPr txBox="1"/>
          <p:nvPr/>
        </p:nvSpPr>
        <p:spPr>
          <a:xfrm>
            <a:off x="7187184" y="5239512"/>
            <a:ext cx="532180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核对整个执行边界闭合后，才 canceled 并释放槽。</a:t>
            </a:r>
            <a:endParaRPr lang="zh-CN" sz="1800"/>
          </a:p>
        </p:txBody>
      </p:sp>
      <p:sp>
        <p:nvSpPr>
          <p:cNvPr id="23" name="rect 23"/>
          <p:cNvSpPr/>
          <p:nvPr/>
        </p:nvSpPr>
        <p:spPr>
          <a:xfrm>
            <a:off x="731520" y="5934456"/>
            <a:ext cx="13167360" cy="8321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7824" y="6071616"/>
            <a:ext cx="566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恢复</a:t>
            </a:r>
            <a:endParaRPr lang="zh-CN" sz="1800"/>
          </a:p>
        </p:txBody>
      </p:sp>
      <p:sp>
        <p:nvSpPr>
          <p:cNvPr id="25" name="text 25"/>
          <p:cNvSpPr txBox="1"/>
          <p:nvPr/>
        </p:nvSpPr>
        <p:spPr>
          <a:xfrm>
            <a:off x="2615184" y="6071616"/>
            <a:ext cx="3538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远端动作可能已发生，本地无回执</a:t>
            </a:r>
            <a:endParaRPr lang="zh-CN" sz="1800"/>
          </a:p>
        </p:txBody>
      </p:sp>
      <p:sp>
        <p:nvSpPr>
          <p:cNvPr id="26" name="text 26"/>
          <p:cNvSpPr txBox="1"/>
          <p:nvPr/>
        </p:nvSpPr>
        <p:spPr>
          <a:xfrm>
            <a:off x="7187184" y="6071616"/>
            <a:ext cx="4910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先查副作用；只对已证明安全的同一操作接续。</a:t>
            </a:r>
            <a:endParaRPr lang="zh-CN" sz="1800"/>
          </a:p>
        </p:txBody>
      </p:sp>
      <p:sp>
        <p:nvSpPr>
          <p:cNvPr id="27" name="rect 27"/>
          <p:cNvSpPr/>
          <p:nvPr/>
        </p:nvSpPr>
        <p:spPr>
          <a:xfrm>
            <a:off x="731520" y="6986016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50976" y="7132320"/>
            <a:ext cx="74797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“未知”是需要保留的事实；把超时当作未执行，会制造重复副作用。</a:t>
            </a:r>
            <a:endParaRPr lang="zh-CN" sz="1872"/>
          </a:p>
        </p:txBody>
      </p:sp>
      <p:sp>
        <p:nvSpPr>
          <p:cNvPr id="29" name="text 29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故障与恢复</a:t>
            </a:r>
            <a:endParaRPr lang="zh-CN" sz="1296"/>
          </a:p>
        </p:txBody>
      </p:sp>
      <p:sp>
        <p:nvSpPr>
          <p:cNvPr id="30" name="text 30"/>
          <p:cNvSpPr txBox="1"/>
          <p:nvPr/>
        </p:nvSpPr>
        <p:spPr>
          <a:xfrm>
            <a:off x="731520" y="850392"/>
            <a:ext cx="8010144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可靠性集中在五个“刚好出故障”的窗口</a:t>
            </a:r>
            <a:endParaRPr lang="zh-CN" sz="3456"/>
          </a:p>
        </p:txBody>
      </p:sp>
      <p:sp>
        <p:nvSpPr>
          <p:cNvPr id="31" name="text 31"/>
          <p:cNvSpPr txBox="1"/>
          <p:nvPr/>
        </p:nvSpPr>
        <p:spPr>
          <a:xfrm>
            <a:off x="749808" y="1536192"/>
            <a:ext cx="6510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先保存意图，再做外部动作；响应丢失时，按原操作核对事实。</a:t>
            </a:r>
            <a:endParaRPr lang="zh-CN" sz="1800"/>
          </a:p>
        </p:txBody>
      </p:sp>
      <p:sp>
        <p:nvSpPr>
          <p:cNvPr id="32" name="rect 32"/>
          <p:cNvSpPr/>
          <p:nvPr/>
        </p:nvSpPr>
        <p:spPr>
          <a:xfrm>
            <a:off x="11649456" y="320040"/>
            <a:ext cx="2249424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11759184" y="384048"/>
            <a:ext cx="2139696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一致性协议 / H · 故障注入</a:t>
            </a:r>
            <a:endParaRPr lang="zh-CN" sz="1152"/>
          </a:p>
        </p:txBody>
      </p:sp>
      <p:sp>
        <p:nvSpPr>
          <p:cNvPr id="34" name="line 34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731520" y="7808976"/>
            <a:ext cx="228600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依据：五条关键路径；幂等与操作结果</a:t>
            </a:r>
            <a:endParaRPr lang="zh-CN" sz="1008"/>
          </a:p>
        </p:txBody>
      </p:sp>
      <p:sp>
        <p:nvSpPr>
          <p:cNvPr id="36" name="text 36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21 / 36</a:t>
            </a:r>
            <a:endParaRPr lang="zh-CN" sz="1368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运行拓扑：把控制余量与执行预算分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2F32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94560"/>
            <a:ext cx="9509760" cy="4434840"/>
          </a:xfrm>
          <a:prstGeom prst="roundRect">
            <a:avLst>
              <a:gd name="adj" fmla="val 4124"/>
            </a:avLst>
          </a:prstGeom>
          <a:solidFill>
            <a:srgbClr val="1D4244"/>
          </a:solidFill>
          <a:ln w="13716">
            <a:solidFill>
              <a:srgbClr val="629988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87552" y="2404872"/>
            <a:ext cx="5376672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S · agentd 常驻服务 / 总预算与停止边界</a:t>
            </a:r>
            <a:endParaRPr lang="zh-CN" sz="2232"/>
          </a:p>
        </p:txBody>
      </p:sp>
      <p:sp>
        <p:nvSpPr>
          <p:cNvPr id="5" name="rect 5"/>
          <p:cNvSpPr/>
          <p:nvPr/>
        </p:nvSpPr>
        <p:spPr>
          <a:xfrm>
            <a:off x="996696" y="2980944"/>
            <a:ext cx="8970264" cy="960120"/>
          </a:xfrm>
          <a:prstGeom prst="roundRect">
            <a:avLst>
              <a:gd name="adj" fmla="val 13333"/>
            </a:avLst>
          </a:prstGeom>
          <a:solidFill>
            <a:srgbClr val="102F32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25296" y="3172968"/>
            <a:ext cx="190195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C · 控制资源组</a:t>
            </a:r>
            <a:endParaRPr lang="zh-CN" sz="2088"/>
          </a:p>
        </p:txBody>
      </p:sp>
      <p:sp>
        <p:nvSpPr>
          <p:cNvPr id="7" name="text 7"/>
          <p:cNvSpPr txBox="1"/>
          <p:nvPr/>
        </p:nvSpPr>
        <p:spPr>
          <a:xfrm>
            <a:off x="1225296" y="3584448"/>
            <a:ext cx="464515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业务 daemon + 固定宿主监督器 + 控制余量</a:t>
            </a:r>
            <a:endParaRPr lang="zh-CN" sz="1800"/>
          </a:p>
        </p:txBody>
      </p:sp>
      <p:sp>
        <p:nvSpPr>
          <p:cNvPr id="8" name="rect 8"/>
          <p:cNvSpPr/>
          <p:nvPr/>
        </p:nvSpPr>
        <p:spPr>
          <a:xfrm>
            <a:off x="996696" y="4297680"/>
            <a:ext cx="2862072" cy="1965960"/>
          </a:xfrm>
          <a:prstGeom prst="roundRect">
            <a:avLst>
              <a:gd name="adj" fmla="val 6512"/>
            </a:avLst>
          </a:prstGeom>
          <a:solidFill>
            <a:srgbClr val="102F32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197864" y="4489704"/>
            <a:ext cx="134416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Worker 1</a:t>
            </a:r>
            <a:endParaRPr lang="zh-CN" sz="2088"/>
          </a:p>
        </p:txBody>
      </p:sp>
      <p:sp>
        <p:nvSpPr>
          <p:cNvPr id="10" name="text 10"/>
          <p:cNvSpPr txBox="1"/>
          <p:nvPr/>
        </p:nvSpPr>
        <p:spPr>
          <a:xfrm>
            <a:off x="1197864" y="4983480"/>
            <a:ext cx="22494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CPU / memory / pids</a:t>
            </a:r>
            <a:endParaRPr lang="zh-CN" sz="1656"/>
          </a:p>
        </p:txBody>
      </p:sp>
      <p:sp>
        <p:nvSpPr>
          <p:cNvPr id="11" name="text 11"/>
          <p:cNvSpPr txBox="1"/>
          <p:nvPr/>
        </p:nvSpPr>
        <p:spPr>
          <a:xfrm>
            <a:off x="1197864" y="5273711"/>
            <a:ext cx="17922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私有工作区与会话</a:t>
            </a:r>
            <a:endParaRPr lang="zh-CN" sz="1656"/>
          </a:p>
        </p:txBody>
      </p:sp>
      <p:sp>
        <p:nvSpPr>
          <p:cNvPr id="12" name="text 12"/>
          <p:cNvSpPr txBox="1"/>
          <p:nvPr/>
        </p:nvSpPr>
        <p:spPr>
          <a:xfrm>
            <a:off x="1197864" y="5563941"/>
            <a:ext cx="191109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本地 MCP / 子进程</a:t>
            </a:r>
            <a:endParaRPr lang="zh-CN" sz="1656"/>
          </a:p>
        </p:txBody>
      </p:sp>
      <p:sp>
        <p:nvSpPr>
          <p:cNvPr id="13" name="rect 13"/>
          <p:cNvSpPr/>
          <p:nvPr/>
        </p:nvSpPr>
        <p:spPr>
          <a:xfrm>
            <a:off x="4050792" y="4297680"/>
            <a:ext cx="2862072" cy="1965960"/>
          </a:xfrm>
          <a:prstGeom prst="roundRect">
            <a:avLst>
              <a:gd name="adj" fmla="val 6512"/>
            </a:avLst>
          </a:prstGeom>
          <a:solidFill>
            <a:srgbClr val="102F32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251960" y="4489704"/>
            <a:ext cx="134416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Worker 2</a:t>
            </a:r>
            <a:endParaRPr lang="zh-CN" sz="2088"/>
          </a:p>
        </p:txBody>
      </p:sp>
      <p:sp>
        <p:nvSpPr>
          <p:cNvPr id="15" name="text 15"/>
          <p:cNvSpPr txBox="1"/>
          <p:nvPr/>
        </p:nvSpPr>
        <p:spPr>
          <a:xfrm>
            <a:off x="4251960" y="4983480"/>
            <a:ext cx="22494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CPU / memory / pids</a:t>
            </a:r>
            <a:endParaRPr lang="zh-CN" sz="1656"/>
          </a:p>
        </p:txBody>
      </p:sp>
      <p:sp>
        <p:nvSpPr>
          <p:cNvPr id="16" name="text 16"/>
          <p:cNvSpPr txBox="1"/>
          <p:nvPr/>
        </p:nvSpPr>
        <p:spPr>
          <a:xfrm>
            <a:off x="4251960" y="5273711"/>
            <a:ext cx="17922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私有工作区与会话</a:t>
            </a:r>
            <a:endParaRPr lang="zh-CN" sz="1656"/>
          </a:p>
        </p:txBody>
      </p:sp>
      <p:sp>
        <p:nvSpPr>
          <p:cNvPr id="17" name="text 17"/>
          <p:cNvSpPr txBox="1"/>
          <p:nvPr/>
        </p:nvSpPr>
        <p:spPr>
          <a:xfrm>
            <a:off x="4251960" y="5563941"/>
            <a:ext cx="191109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本地 MCP / 子进程</a:t>
            </a:r>
            <a:endParaRPr lang="zh-CN" sz="1656"/>
          </a:p>
        </p:txBody>
      </p:sp>
      <p:sp>
        <p:nvSpPr>
          <p:cNvPr id="18" name="rect 18"/>
          <p:cNvSpPr/>
          <p:nvPr/>
        </p:nvSpPr>
        <p:spPr>
          <a:xfrm>
            <a:off x="7104888" y="4297680"/>
            <a:ext cx="2862072" cy="1965960"/>
          </a:xfrm>
          <a:prstGeom prst="roundRect">
            <a:avLst>
              <a:gd name="adj" fmla="val 6512"/>
            </a:avLst>
          </a:prstGeom>
          <a:solidFill>
            <a:srgbClr val="102F32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7306056" y="4489704"/>
            <a:ext cx="1344168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Worker 3</a:t>
            </a:r>
            <a:endParaRPr lang="zh-CN" sz="2088"/>
          </a:p>
        </p:txBody>
      </p:sp>
      <p:sp>
        <p:nvSpPr>
          <p:cNvPr id="20" name="text 20"/>
          <p:cNvSpPr txBox="1"/>
          <p:nvPr/>
        </p:nvSpPr>
        <p:spPr>
          <a:xfrm>
            <a:off x="7306056" y="4983480"/>
            <a:ext cx="22494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CPU / memory / pids</a:t>
            </a:r>
            <a:endParaRPr lang="zh-CN" sz="1656"/>
          </a:p>
        </p:txBody>
      </p:sp>
      <p:sp>
        <p:nvSpPr>
          <p:cNvPr id="21" name="text 21"/>
          <p:cNvSpPr txBox="1"/>
          <p:nvPr/>
        </p:nvSpPr>
        <p:spPr>
          <a:xfrm>
            <a:off x="7306056" y="5273711"/>
            <a:ext cx="17922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私有工作区与会话</a:t>
            </a:r>
            <a:endParaRPr lang="zh-CN" sz="1656"/>
          </a:p>
        </p:txBody>
      </p:sp>
      <p:sp>
        <p:nvSpPr>
          <p:cNvPr id="22" name="text 22"/>
          <p:cNvSpPr txBox="1"/>
          <p:nvPr/>
        </p:nvSpPr>
        <p:spPr>
          <a:xfrm>
            <a:off x="7306056" y="5563941"/>
            <a:ext cx="191109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本地 MCP / 子进程</a:t>
            </a:r>
            <a:endParaRPr lang="zh-CN" sz="1656"/>
          </a:p>
        </p:txBody>
      </p:sp>
      <p:sp>
        <p:nvSpPr>
          <p:cNvPr id="23" name="rect 23"/>
          <p:cNvSpPr/>
          <p:nvPr/>
        </p:nvSpPr>
        <p:spPr>
          <a:xfrm>
            <a:off x="10607040" y="2194560"/>
            <a:ext cx="3291840" cy="2093976"/>
          </a:xfrm>
          <a:prstGeom prst="roundRect">
            <a:avLst>
              <a:gd name="adj" fmla="val 7860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0835640" y="2414016"/>
            <a:ext cx="228600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U · 生命周期执行器</a:t>
            </a:r>
            <a:endParaRPr lang="zh-CN" sz="1944"/>
          </a:p>
        </p:txBody>
      </p:sp>
      <p:sp>
        <p:nvSpPr>
          <p:cNvPr id="25" name="text 25"/>
          <p:cNvSpPr txBox="1"/>
          <p:nvPr/>
        </p:nvSpPr>
        <p:spPr>
          <a:xfrm>
            <a:off x="10835640" y="2926080"/>
            <a:ext cx="103327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独立于 S</a:t>
            </a:r>
            <a:endParaRPr lang="zh-CN" sz="1872"/>
          </a:p>
        </p:txBody>
      </p:sp>
      <p:sp>
        <p:nvSpPr>
          <p:cNvPr id="26" name="text 26"/>
          <p:cNvSpPr txBox="1"/>
          <p:nvPr/>
        </p:nvSpPr>
        <p:spPr>
          <a:xfrm>
            <a:off x="10835640" y="3254167"/>
            <a:ext cx="153619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固定运行环境</a:t>
            </a:r>
            <a:endParaRPr lang="zh-CN" sz="1872"/>
          </a:p>
        </p:txBody>
      </p:sp>
      <p:sp>
        <p:nvSpPr>
          <p:cNvPr id="27" name="text 27"/>
          <p:cNvSpPr txBox="1"/>
          <p:nvPr/>
        </p:nvSpPr>
        <p:spPr>
          <a:xfrm>
            <a:off x="10835640" y="3582253"/>
            <a:ext cx="202996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安装 / 升级 / 卸载</a:t>
            </a:r>
            <a:endParaRPr lang="zh-CN" sz="1872"/>
          </a:p>
        </p:txBody>
      </p:sp>
      <p:sp>
        <p:nvSpPr>
          <p:cNvPr id="28" name="rect 28"/>
          <p:cNvSpPr/>
          <p:nvPr/>
        </p:nvSpPr>
        <p:spPr>
          <a:xfrm>
            <a:off x="10607040" y="4535424"/>
            <a:ext cx="3291840" cy="2093976"/>
          </a:xfrm>
          <a:prstGeom prst="roundRect">
            <a:avLst>
              <a:gd name="adj" fmla="val 7860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10835640" y="4754880"/>
            <a:ext cx="19019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外部进程与服务</a:t>
            </a:r>
            <a:endParaRPr lang="zh-CN" sz="2016"/>
          </a:p>
        </p:txBody>
      </p:sp>
      <p:sp>
        <p:nvSpPr>
          <p:cNvPr id="30" name="text 30"/>
          <p:cNvSpPr txBox="1"/>
          <p:nvPr/>
        </p:nvSpPr>
        <p:spPr>
          <a:xfrm>
            <a:off x="10835640" y="5266944"/>
            <a:ext cx="172821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主线 / reviewer</a:t>
            </a:r>
            <a:endParaRPr lang="zh-CN" sz="1800"/>
          </a:p>
        </p:txBody>
      </p:sp>
      <p:sp>
        <p:nvSpPr>
          <p:cNvPr id="31" name="text 31"/>
          <p:cNvSpPr txBox="1"/>
          <p:nvPr/>
        </p:nvSpPr>
        <p:spPr>
          <a:xfrm>
            <a:off x="10835640" y="5582412"/>
            <a:ext cx="228600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共享 MCP / 远端服务</a:t>
            </a:r>
            <a:endParaRPr lang="zh-CN" sz="1800"/>
          </a:p>
        </p:txBody>
      </p:sp>
      <p:sp>
        <p:nvSpPr>
          <p:cNvPr id="32" name="text 32"/>
          <p:cNvSpPr txBox="1"/>
          <p:nvPr/>
        </p:nvSpPr>
        <p:spPr>
          <a:xfrm>
            <a:off x="10835640" y="5897880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由原所有者管理</a:t>
            </a:r>
            <a:endParaRPr lang="zh-CN" sz="1800"/>
          </a:p>
        </p:txBody>
      </p:sp>
      <p:sp>
        <p:nvSpPr>
          <p:cNvPr id="33" name="text 33"/>
          <p:cNvSpPr txBox="1"/>
          <p:nvPr/>
        </p:nvSpPr>
        <p:spPr>
          <a:xfrm>
            <a:off x="731520" y="6976872"/>
            <a:ext cx="909828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关键实测：一个 worker 超限时，其他任务继续；控制面仍能查询和受理取消。</a:t>
            </a:r>
            <a:endParaRPr lang="zh-CN" sz="2016"/>
          </a:p>
        </p:txBody>
      </p:sp>
      <p:sp>
        <p:nvSpPr>
          <p:cNvPr id="34" name="text 34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AGENTD  /  运行架构</a:t>
            </a:r>
            <a:endParaRPr lang="zh-CN" sz="1296"/>
          </a:p>
        </p:txBody>
      </p:sp>
      <p:sp>
        <p:nvSpPr>
          <p:cNvPr id="35" name="text 35"/>
          <p:cNvSpPr txBox="1"/>
          <p:nvPr/>
        </p:nvSpPr>
        <p:spPr>
          <a:xfrm>
            <a:off x="731520" y="850392"/>
            <a:ext cx="757123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运行拓扑：把控制余量与执行预算分开</a:t>
            </a:r>
            <a:endParaRPr lang="zh-CN" sz="3456"/>
          </a:p>
        </p:txBody>
      </p:sp>
      <p:sp>
        <p:nvSpPr>
          <p:cNvPr id="36" name="text 36"/>
          <p:cNvSpPr txBox="1"/>
          <p:nvPr/>
        </p:nvSpPr>
        <p:spPr>
          <a:xfrm>
            <a:off x="749808" y="1536192"/>
            <a:ext cx="73609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S 是常驻服务边界；C 放控制进程；每次 worker 执行拥有独立资源组。</a:t>
            </a:r>
            <a:endParaRPr lang="zh-CN" sz="1800"/>
          </a:p>
        </p:txBody>
      </p:sp>
      <p:sp>
        <p:nvSpPr>
          <p:cNvPr id="37" name="rect 37"/>
          <p:cNvSpPr/>
          <p:nvPr/>
        </p:nvSpPr>
        <p:spPr>
          <a:xfrm>
            <a:off x="12088368" y="320040"/>
            <a:ext cx="1810512" cy="301752"/>
          </a:xfrm>
          <a:prstGeom prst="roundRect">
            <a:avLst>
              <a:gd name="adj" fmla="val 2424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12198096" y="384048"/>
            <a:ext cx="170078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D · 拓扑 / H · 主机验证</a:t>
            </a:r>
            <a:endParaRPr lang="zh-CN" sz="1152"/>
          </a:p>
        </p:txBody>
      </p:sp>
      <p:sp>
        <p:nvSpPr>
          <p:cNvPr id="39" name="line 39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1D4244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731520" y="7808976"/>
            <a:ext cx="3328416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依据：P / S / C 的关系；进程资源所有权；目标主机探针</a:t>
            </a:r>
            <a:endParaRPr lang="zh-CN" sz="1008"/>
          </a:p>
        </p:txBody>
      </p:sp>
      <p:sp>
        <p:nvSpPr>
          <p:cNvPr id="41" name="text 41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22 / 36</a:t>
            </a:r>
            <a:endParaRPr lang="zh-CN" sz="1368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并行安全还取决于共享写入与配置生效范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94560"/>
            <a:ext cx="6400800" cy="2404872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40487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32304"/>
            <a:ext cx="4645152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共享资源：先声明，再取得全部占用</a:t>
            </a:r>
            <a:endParaRPr lang="zh-CN" sz="2232"/>
          </a:p>
        </p:txBody>
      </p:sp>
      <p:sp>
        <p:nvSpPr>
          <p:cNvPr id="6" name="text 6"/>
          <p:cNvSpPr txBox="1"/>
          <p:nvPr/>
        </p:nvSpPr>
        <p:spPr>
          <a:xfrm>
            <a:off x="960120" y="3008376"/>
            <a:ext cx="34381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优先使用任务独立命名空间。</a:t>
            </a:r>
            <a:endParaRPr lang="zh-CN" sz="2016"/>
          </a:p>
        </p:txBody>
      </p:sp>
      <p:sp>
        <p:nvSpPr>
          <p:cNvPr id="7" name="text 7"/>
          <p:cNvSpPr txBox="1"/>
          <p:nvPr/>
        </p:nvSpPr>
        <p:spPr>
          <a:xfrm>
            <a:off x="960120" y="3382183"/>
            <a:ext cx="34381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共享写入使用明确独占声明。</a:t>
            </a:r>
            <a:endParaRPr lang="zh-CN" sz="2016"/>
          </a:p>
        </p:txBody>
      </p:sp>
      <p:sp>
        <p:nvSpPr>
          <p:cNvPr id="8" name="text 8"/>
          <p:cNvSpPr txBox="1"/>
          <p:nvPr/>
        </p:nvSpPr>
        <p:spPr>
          <a:xfrm>
            <a:off x="960120" y="3755989"/>
            <a:ext cx="3438144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槽位、预算与资源一次取得；</a:t>
            </a:r>
            <a:endParaRPr lang="zh-CN" sz="2016"/>
          </a:p>
        </p:txBody>
      </p:sp>
      <p:sp>
        <p:nvSpPr>
          <p:cNvPr id="9" name="text 9"/>
          <p:cNvSpPr txBox="1"/>
          <p:nvPr/>
        </p:nvSpPr>
        <p:spPr>
          <a:xfrm>
            <a:off x="960120" y="4129796"/>
            <a:ext cx="241401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未知持有继续核对。</a:t>
            </a:r>
            <a:endParaRPr lang="zh-CN" sz="2016"/>
          </a:p>
        </p:txBody>
      </p:sp>
      <p:sp>
        <p:nvSpPr>
          <p:cNvPr id="10" name="rect 10"/>
          <p:cNvSpPr/>
          <p:nvPr/>
        </p:nvSpPr>
        <p:spPr>
          <a:xfrm>
            <a:off x="7351776" y="2194560"/>
            <a:ext cx="6547104" cy="2404872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rect 11"/>
          <p:cNvSpPr/>
          <p:nvPr/>
        </p:nvSpPr>
        <p:spPr>
          <a:xfrm>
            <a:off x="7351776" y="240487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580376" y="2432304"/>
            <a:ext cx="3227832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配置：区分三个生效范围</a:t>
            </a:r>
            <a:endParaRPr lang="zh-CN" sz="2232"/>
          </a:p>
        </p:txBody>
      </p:sp>
      <p:sp>
        <p:nvSpPr>
          <p:cNvPr id="13" name="text 13"/>
          <p:cNvSpPr txBox="1"/>
          <p:nvPr/>
        </p:nvSpPr>
        <p:spPr>
          <a:xfrm>
            <a:off x="7580376" y="3008376"/>
            <a:ext cx="25877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WorkerSlot 管准入；</a:t>
            </a:r>
            <a:endParaRPr lang="zh-CN" sz="2016"/>
          </a:p>
        </p:txBody>
      </p:sp>
      <p:sp>
        <p:nvSpPr>
          <p:cNvPr id="14" name="text 14"/>
          <p:cNvSpPr txBox="1"/>
          <p:nvPr/>
        </p:nvSpPr>
        <p:spPr>
          <a:xfrm>
            <a:off x="7580376" y="3382183"/>
            <a:ext cx="3959352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ExecutionConfig 固定执行内容；</a:t>
            </a:r>
            <a:endParaRPr lang="zh-CN" sz="2016"/>
          </a:p>
        </p:txBody>
      </p:sp>
      <p:sp>
        <p:nvSpPr>
          <p:cNvPr id="15" name="text 15"/>
          <p:cNvSpPr txBox="1"/>
          <p:nvPr/>
        </p:nvSpPr>
        <p:spPr>
          <a:xfrm>
            <a:off x="7580376" y="3755989"/>
            <a:ext cx="395020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任务资源覆盖只作用下一次执行。</a:t>
            </a:r>
            <a:endParaRPr lang="zh-CN" sz="2016"/>
          </a:p>
        </p:txBody>
      </p:sp>
      <p:sp>
        <p:nvSpPr>
          <p:cNvPr id="16" name="rect 16"/>
          <p:cNvSpPr/>
          <p:nvPr/>
        </p:nvSpPr>
        <p:spPr>
          <a:xfrm>
            <a:off x="731520" y="4946904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77824" y="5056632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槽位状态</a:t>
            </a:r>
            <a:endParaRPr lang="zh-CN" sz="1656"/>
          </a:p>
        </p:txBody>
      </p:sp>
      <p:sp>
        <p:nvSpPr>
          <p:cNvPr id="18" name="text 18"/>
          <p:cNvSpPr txBox="1"/>
          <p:nvPr/>
        </p:nvSpPr>
        <p:spPr>
          <a:xfrm>
            <a:off x="3621024" y="5056632"/>
            <a:ext cx="74066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新任务</a:t>
            </a:r>
            <a:endParaRPr lang="zh-CN" sz="1656"/>
          </a:p>
        </p:txBody>
      </p:sp>
      <p:sp>
        <p:nvSpPr>
          <p:cNvPr id="19" name="text 19"/>
          <p:cNvSpPr txBox="1"/>
          <p:nvPr/>
        </p:nvSpPr>
        <p:spPr>
          <a:xfrm>
            <a:off x="7095744" y="5056632"/>
            <a:ext cx="18105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旧任务返修 / 恢复</a:t>
            </a:r>
            <a:endParaRPr lang="zh-CN" sz="1656"/>
          </a:p>
        </p:txBody>
      </p:sp>
      <p:sp>
        <p:nvSpPr>
          <p:cNvPr id="20" name="rect 20"/>
          <p:cNvSpPr/>
          <p:nvPr/>
        </p:nvSpPr>
        <p:spPr>
          <a:xfrm>
            <a:off x="731520" y="5431536"/>
            <a:ext cx="131673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77824" y="5568696"/>
            <a:ext cx="103327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enabled</a:t>
            </a:r>
            <a:endParaRPr lang="zh-CN" sz="1800"/>
          </a:p>
        </p:txBody>
      </p:sp>
      <p:sp>
        <p:nvSpPr>
          <p:cNvPr id="22" name="text 22"/>
          <p:cNvSpPr txBox="1"/>
          <p:nvPr/>
        </p:nvSpPr>
        <p:spPr>
          <a:xfrm>
            <a:off x="3621024" y="5568696"/>
            <a:ext cx="1252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可首次绑定</a:t>
            </a:r>
            <a:endParaRPr lang="zh-CN" sz="1800"/>
          </a:p>
        </p:txBody>
      </p:sp>
      <p:sp>
        <p:nvSpPr>
          <p:cNvPr id="23" name="text 23"/>
          <p:cNvSpPr txBox="1"/>
          <p:nvPr/>
        </p:nvSpPr>
        <p:spPr>
          <a:xfrm>
            <a:off x="7095744" y="5568696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按原配置取得原槽</a:t>
            </a:r>
            <a:endParaRPr lang="zh-CN" sz="1800"/>
          </a:p>
        </p:txBody>
      </p:sp>
      <p:sp>
        <p:nvSpPr>
          <p:cNvPr id="24" name="rect 24"/>
          <p:cNvSpPr/>
          <p:nvPr/>
        </p:nvSpPr>
        <p:spPr>
          <a:xfrm>
            <a:off x="731520" y="6007608"/>
            <a:ext cx="13167360" cy="576072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77824" y="6144768"/>
            <a:ext cx="106984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draining</a:t>
            </a:r>
            <a:endParaRPr lang="zh-CN" sz="1800"/>
          </a:p>
        </p:txBody>
      </p:sp>
      <p:sp>
        <p:nvSpPr>
          <p:cNvPr id="26" name="text 26"/>
          <p:cNvSpPr txBox="1"/>
          <p:nvPr/>
        </p:nvSpPr>
        <p:spPr>
          <a:xfrm>
            <a:off x="3621024" y="6144768"/>
            <a:ext cx="1252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停止新绑定</a:t>
            </a:r>
            <a:endParaRPr lang="zh-CN" sz="1800"/>
          </a:p>
        </p:txBody>
      </p:sp>
      <p:sp>
        <p:nvSpPr>
          <p:cNvPr id="27" name="text 27"/>
          <p:cNvSpPr txBox="1"/>
          <p:nvPr/>
        </p:nvSpPr>
        <p:spPr>
          <a:xfrm>
            <a:off x="7095744" y="6144768"/>
            <a:ext cx="3310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允许旧任务接续，完成后再退役</a:t>
            </a:r>
            <a:endParaRPr lang="zh-CN" sz="1800"/>
          </a:p>
        </p:txBody>
      </p:sp>
      <p:sp>
        <p:nvSpPr>
          <p:cNvPr id="28" name="rect 28"/>
          <p:cNvSpPr/>
          <p:nvPr/>
        </p:nvSpPr>
        <p:spPr>
          <a:xfrm>
            <a:off x="731520" y="6583680"/>
            <a:ext cx="131673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77824" y="6720840"/>
            <a:ext cx="107899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disabled</a:t>
            </a:r>
            <a:endParaRPr lang="zh-CN" sz="1800"/>
          </a:p>
        </p:txBody>
      </p:sp>
      <p:sp>
        <p:nvSpPr>
          <p:cNvPr id="30" name="text 30"/>
          <p:cNvSpPr txBox="1"/>
          <p:nvPr/>
        </p:nvSpPr>
        <p:spPr>
          <a:xfrm>
            <a:off x="3621024" y="6720840"/>
            <a:ext cx="1481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不可首次绑定</a:t>
            </a:r>
            <a:endParaRPr lang="zh-CN" sz="1800"/>
          </a:p>
        </p:txBody>
      </p:sp>
      <p:sp>
        <p:nvSpPr>
          <p:cNvPr id="31" name="text 31"/>
          <p:cNvSpPr txBox="1"/>
          <p:nvPr/>
        </p:nvSpPr>
        <p:spPr>
          <a:xfrm>
            <a:off x="7095744" y="6720840"/>
            <a:ext cx="3767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明确等待，管理员恢复准入后再继续</a:t>
            </a:r>
            <a:endParaRPr lang="zh-CN" sz="1800"/>
          </a:p>
        </p:txBody>
      </p:sp>
      <p:sp>
        <p:nvSpPr>
          <p:cNvPr id="32" name="text 32"/>
          <p:cNvSpPr txBox="1"/>
          <p:nvPr/>
        </p:nvSpPr>
        <p:spPr>
          <a:xfrm>
            <a:off x="731520" y="7324344"/>
            <a:ext cx="7150608" cy="311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8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内部声明协调只保证约定范围；共享外部服务和任意未声明写入仍需项目约束。</a:t>
            </a:r>
            <a:endParaRPr lang="zh-CN" sz="1584"/>
          </a:p>
        </p:txBody>
      </p:sp>
      <p:sp>
        <p:nvSpPr>
          <p:cNvPr id="33" name="text 33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运行架构</a:t>
            </a:r>
            <a:endParaRPr lang="zh-CN" sz="1296"/>
          </a:p>
        </p:txBody>
      </p:sp>
      <p:sp>
        <p:nvSpPr>
          <p:cNvPr id="34" name="text 34"/>
          <p:cNvSpPr txBox="1"/>
          <p:nvPr/>
        </p:nvSpPr>
        <p:spPr>
          <a:xfrm>
            <a:off x="731520" y="850392"/>
            <a:ext cx="8449056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并行安全还取决于共享写入与配置生效范围</a:t>
            </a:r>
            <a:endParaRPr lang="zh-CN" sz="3456"/>
          </a:p>
        </p:txBody>
      </p:sp>
      <p:sp>
        <p:nvSpPr>
          <p:cNvPr id="35" name="text 35"/>
          <p:cNvSpPr txBox="1"/>
          <p:nvPr/>
        </p:nvSpPr>
        <p:spPr>
          <a:xfrm>
            <a:off x="749808" y="1536192"/>
            <a:ext cx="709574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worktree 解决源码目录分离；端口、数据库、缓存仍需要明确约定。</a:t>
            </a:r>
            <a:endParaRPr lang="zh-CN" sz="1800"/>
          </a:p>
        </p:txBody>
      </p:sp>
      <p:sp>
        <p:nvSpPr>
          <p:cNvPr id="36" name="rect 36"/>
          <p:cNvSpPr/>
          <p:nvPr/>
        </p:nvSpPr>
        <p:spPr>
          <a:xfrm>
            <a:off x="11795760" y="320040"/>
            <a:ext cx="210312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11905488" y="384048"/>
            <a:ext cx="199339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共享资源与配置生命周期</a:t>
            </a:r>
            <a:endParaRPr lang="zh-CN" sz="1152"/>
          </a:p>
        </p:txBody>
      </p:sp>
      <p:sp>
        <p:nvSpPr>
          <p:cNvPr id="38" name="line 38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731520" y="7808976"/>
            <a:ext cx="267004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依据：固定配置 / 槽位 / 覆盖；共享资源准入</a:t>
            </a:r>
            <a:endParaRPr lang="zh-CN" sz="1008"/>
          </a:p>
        </p:txBody>
      </p:sp>
      <p:sp>
        <p:nvSpPr>
          <p:cNvPr id="40" name="text 40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23 / 36</a:t>
            </a:r>
            <a:endParaRPr lang="zh-CN" sz="1368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通知是提醒，持久队列才是工作来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258568"/>
            <a:ext cx="13167360" cy="1764792"/>
          </a:xfrm>
          <a:prstGeom prst="roundRect">
            <a:avLst>
              <a:gd name="adj" fmla="val 9326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96696" y="2468880"/>
            <a:ext cx="148132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持久业务链</a:t>
            </a:r>
            <a:endParaRPr lang="zh-CN" sz="2160"/>
          </a:p>
        </p:txBody>
      </p:sp>
      <p:sp>
        <p:nvSpPr>
          <p:cNvPr id="5" name="text 5"/>
          <p:cNvSpPr txBox="1"/>
          <p:nvPr/>
        </p:nvSpPr>
        <p:spPr>
          <a:xfrm>
            <a:off x="996696" y="2971800"/>
            <a:ext cx="9582912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候选 / 终态 / 中断事项  →  outbox + inbox  →  主动查询  →  领取与处理</a:t>
            </a:r>
            <a:endParaRPr lang="zh-CN" sz="2232"/>
          </a:p>
        </p:txBody>
      </p:sp>
      <p:sp>
        <p:nvSpPr>
          <p:cNvPr id="6" name="text 6"/>
          <p:cNvSpPr txBox="1"/>
          <p:nvPr/>
        </p:nvSpPr>
        <p:spPr>
          <a:xfrm>
            <a:off x="996696" y="3511296"/>
            <a:ext cx="6053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队列来自已提交业务事实；任务不因提示发送失败而丢失。</a:t>
            </a:r>
            <a:endParaRPr lang="zh-CN" sz="1800"/>
          </a:p>
        </p:txBody>
      </p:sp>
      <p:sp>
        <p:nvSpPr>
          <p:cNvPr id="7" name="rect 7"/>
          <p:cNvSpPr/>
          <p:nvPr/>
        </p:nvSpPr>
        <p:spPr>
          <a:xfrm>
            <a:off x="731520" y="4361688"/>
            <a:ext cx="13167360" cy="1517904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87552" y="4553712"/>
            <a:ext cx="175564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客户端提醒链</a:t>
            </a:r>
            <a:endParaRPr lang="zh-CN" sz="2160"/>
          </a:p>
        </p:txBody>
      </p:sp>
      <p:sp>
        <p:nvSpPr>
          <p:cNvPr id="9" name="text 9"/>
          <p:cNvSpPr txBox="1"/>
          <p:nvPr/>
        </p:nvSpPr>
        <p:spPr>
          <a:xfrm>
            <a:off x="987552" y="5065776"/>
            <a:ext cx="8083296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发送提示  →  传输回执  →  根线程实际收件  →  调用 next_review</a:t>
            </a:r>
            <a:endParaRPr lang="zh-CN" sz="2088"/>
          </a:p>
        </p:txBody>
      </p:sp>
      <p:sp>
        <p:nvSpPr>
          <p:cNvPr id="10" name="text 10"/>
          <p:cNvSpPr txBox="1"/>
          <p:nvPr/>
        </p:nvSpPr>
        <p:spPr>
          <a:xfrm>
            <a:off x="987552" y="5504688"/>
            <a:ext cx="557784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每一跳都要单独观察，真实支持能力需在目标客户端验证。</a:t>
            </a:r>
            <a:endParaRPr lang="zh-CN" sz="1656"/>
          </a:p>
        </p:txBody>
      </p:sp>
      <p:sp>
        <p:nvSpPr>
          <p:cNvPr id="11" name="rect 11"/>
          <p:cNvSpPr/>
          <p:nvPr/>
        </p:nvSpPr>
        <p:spPr>
          <a:xfrm>
            <a:off x="731520" y="6245352"/>
            <a:ext cx="420624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32688" y="6428232"/>
            <a:ext cx="134416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在线且支持</a:t>
            </a:r>
            <a:endParaRPr lang="zh-CN" sz="1944"/>
          </a:p>
        </p:txBody>
      </p:sp>
      <p:sp>
        <p:nvSpPr>
          <p:cNvPr id="13" name="text 13"/>
          <p:cNvSpPr txBox="1"/>
          <p:nvPr/>
        </p:nvSpPr>
        <p:spPr>
          <a:xfrm>
            <a:off x="932688" y="6867144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提示后读取实时队列</a:t>
            </a:r>
            <a:endParaRPr lang="zh-CN" sz="1728"/>
          </a:p>
        </p:txBody>
      </p:sp>
      <p:sp>
        <p:nvSpPr>
          <p:cNvPr id="14" name="rect 14"/>
          <p:cNvSpPr/>
          <p:nvPr/>
        </p:nvSpPr>
        <p:spPr>
          <a:xfrm>
            <a:off x="5212080" y="6245352"/>
            <a:ext cx="420624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413248" y="6428232"/>
            <a:ext cx="160934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离线 / 已关闭</a:t>
            </a:r>
            <a:endParaRPr lang="zh-CN" sz="1944"/>
          </a:p>
        </p:txBody>
      </p:sp>
      <p:sp>
        <p:nvSpPr>
          <p:cNvPr id="16" name="text 16"/>
          <p:cNvSpPr txBox="1"/>
          <p:nvPr/>
        </p:nvSpPr>
        <p:spPr>
          <a:xfrm>
            <a:off x="5413248" y="6867144"/>
            <a:ext cx="274320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保留事项，恢复后主动查询</a:t>
            </a:r>
            <a:endParaRPr lang="zh-CN" sz="1728"/>
          </a:p>
        </p:txBody>
      </p:sp>
      <p:sp>
        <p:nvSpPr>
          <p:cNvPr id="17" name="rect 17"/>
          <p:cNvSpPr/>
          <p:nvPr/>
        </p:nvSpPr>
        <p:spPr>
          <a:xfrm>
            <a:off x="9692640" y="6245352"/>
            <a:ext cx="420624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9893808" y="6428232"/>
            <a:ext cx="159105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发送结果未知</a:t>
            </a:r>
            <a:endParaRPr lang="zh-CN" sz="1944"/>
          </a:p>
        </p:txBody>
      </p:sp>
      <p:sp>
        <p:nvSpPr>
          <p:cNvPr id="19" name="text 19"/>
          <p:cNvSpPr txBox="1"/>
          <p:nvPr/>
        </p:nvSpPr>
        <p:spPr>
          <a:xfrm>
            <a:off x="9893808" y="6867144"/>
            <a:ext cx="24780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保留 uncertain，先核对</a:t>
            </a:r>
            <a:endParaRPr lang="zh-CN" sz="1728"/>
          </a:p>
        </p:txBody>
      </p:sp>
      <p:sp>
        <p:nvSpPr>
          <p:cNvPr id="20" name="text 20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协作与通知</a:t>
            </a:r>
            <a:endParaRPr lang="zh-CN" sz="1296"/>
          </a:p>
        </p:txBody>
      </p:sp>
      <p:sp>
        <p:nvSpPr>
          <p:cNvPr id="21" name="text 21"/>
          <p:cNvSpPr txBox="1"/>
          <p:nvPr/>
        </p:nvSpPr>
        <p:spPr>
          <a:xfrm>
            <a:off x="731520" y="850392"/>
            <a:ext cx="7132320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通知是提醒，持久队列才是工作来源</a:t>
            </a:r>
            <a:endParaRPr lang="zh-CN" sz="3456"/>
          </a:p>
        </p:txBody>
      </p:sp>
      <p:sp>
        <p:nvSpPr>
          <p:cNvPr id="22" name="text 22"/>
          <p:cNvSpPr txBox="1"/>
          <p:nvPr/>
        </p:nvSpPr>
        <p:spPr>
          <a:xfrm>
            <a:off x="749808" y="1536192"/>
            <a:ext cx="6281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通知失败仍能主动查询；发送、收件、领取和判决分别记录。</a:t>
            </a:r>
            <a:endParaRPr lang="zh-CN" sz="1800"/>
          </a:p>
        </p:txBody>
      </p:sp>
      <p:sp>
        <p:nvSpPr>
          <p:cNvPr id="23" name="rect 23"/>
          <p:cNvSpPr/>
          <p:nvPr/>
        </p:nvSpPr>
        <p:spPr>
          <a:xfrm>
            <a:off x="11484864" y="320040"/>
            <a:ext cx="2414016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1594592" y="384048"/>
            <a:ext cx="2304288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R · 通知目标 / D·H · 客户端路径</a:t>
            </a:r>
            <a:endParaRPr lang="zh-CN" sz="1152"/>
          </a:p>
        </p:txBody>
      </p:sp>
      <p:sp>
        <p:nvSpPr>
          <p:cNvPr id="25" name="line 25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31520" y="7808976"/>
            <a:ext cx="237744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依据：两条通知链路；V0 / V1 通知范围</a:t>
            </a:r>
            <a:endParaRPr lang="zh-CN" sz="1008"/>
          </a:p>
        </p:txBody>
      </p:sp>
      <p:sp>
        <p:nvSpPr>
          <p:cNvPr id="27" name="text 27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24 / 36</a:t>
            </a:r>
            <a:endParaRPr lang="zh-CN" sz="1368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成果能交付，依靠“内容 + 引用 + 保留义务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85416"/>
            <a:ext cx="6400800" cy="2185416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731520" y="239572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60120" y="2423160"/>
            <a:ext cx="358444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SQLite：可事务提交的事实</a:t>
            </a:r>
            <a:endParaRPr lang="zh-CN" sz="2232"/>
          </a:p>
        </p:txBody>
      </p:sp>
      <p:sp>
        <p:nvSpPr>
          <p:cNvPr id="6" name="text 6"/>
          <p:cNvSpPr txBox="1"/>
          <p:nvPr/>
        </p:nvSpPr>
        <p:spPr>
          <a:xfrm>
            <a:off x="960120" y="2999232"/>
            <a:ext cx="4782312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Task / Assignment / Execution / Review</a:t>
            </a:r>
            <a:endParaRPr lang="zh-CN" sz="1944"/>
          </a:p>
        </p:txBody>
      </p:sp>
      <p:sp>
        <p:nvSpPr>
          <p:cNvPr id="7" name="text 7"/>
          <p:cNvSpPr txBox="1"/>
          <p:nvPr/>
        </p:nvSpPr>
        <p:spPr>
          <a:xfrm>
            <a:off x="960120" y="3359688"/>
            <a:ext cx="381304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幂等回执、通知、配置、成果索引</a:t>
            </a:r>
            <a:endParaRPr lang="zh-CN" sz="1944"/>
          </a:p>
        </p:txBody>
      </p:sp>
      <p:sp>
        <p:nvSpPr>
          <p:cNvPr id="8" name="text 8"/>
          <p:cNvSpPr txBox="1"/>
          <p:nvPr/>
        </p:nvSpPr>
        <p:spPr>
          <a:xfrm>
            <a:off x="960120" y="3720145"/>
            <a:ext cx="2825496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统计由这些事实重新计算</a:t>
            </a:r>
            <a:endParaRPr lang="zh-CN" sz="1944"/>
          </a:p>
        </p:txBody>
      </p:sp>
      <p:sp>
        <p:nvSpPr>
          <p:cNvPr id="9" name="rect 9"/>
          <p:cNvSpPr/>
          <p:nvPr/>
        </p:nvSpPr>
        <p:spPr>
          <a:xfrm>
            <a:off x="7351776" y="2185416"/>
            <a:ext cx="6547104" cy="2185416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rect 10"/>
          <p:cNvSpPr/>
          <p:nvPr/>
        </p:nvSpPr>
        <p:spPr>
          <a:xfrm>
            <a:off x="7351776" y="239572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580376" y="2423160"/>
            <a:ext cx="4032504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Git + 文件：可验证的成果正文</a:t>
            </a:r>
            <a:endParaRPr lang="zh-CN" sz="2232"/>
          </a:p>
        </p:txBody>
      </p:sp>
      <p:sp>
        <p:nvSpPr>
          <p:cNvPr id="12" name="text 12"/>
          <p:cNvSpPr txBox="1"/>
          <p:nvPr/>
        </p:nvSpPr>
        <p:spPr>
          <a:xfrm>
            <a:off x="7580376" y="2999232"/>
            <a:ext cx="2560320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commit 与受保护引用</a:t>
            </a:r>
            <a:endParaRPr lang="zh-CN" sz="1944"/>
          </a:p>
        </p:txBody>
      </p:sp>
      <p:sp>
        <p:nvSpPr>
          <p:cNvPr id="13" name="text 13"/>
          <p:cNvSpPr txBox="1"/>
          <p:nvPr/>
        </p:nvSpPr>
        <p:spPr>
          <a:xfrm>
            <a:off x="7580376" y="3359688"/>
            <a:ext cx="3813048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报告、证据、日志、会话、工作区</a:t>
            </a:r>
            <a:endParaRPr lang="zh-CN" sz="1944"/>
          </a:p>
        </p:txBody>
      </p:sp>
      <p:sp>
        <p:nvSpPr>
          <p:cNvPr id="14" name="text 14"/>
          <p:cNvSpPr txBox="1"/>
          <p:nvPr/>
        </p:nvSpPr>
        <p:spPr>
          <a:xfrm>
            <a:off x="7580376" y="3720145"/>
            <a:ext cx="3072384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内容摘要、成员清单与大小</a:t>
            </a:r>
            <a:endParaRPr lang="zh-CN" sz="1944"/>
          </a:p>
        </p:txBody>
      </p:sp>
      <p:sp>
        <p:nvSpPr>
          <p:cNvPr id="15" name="rect 15"/>
          <p:cNvSpPr/>
          <p:nvPr/>
        </p:nvSpPr>
        <p:spPr>
          <a:xfrm>
            <a:off x="731520" y="4800600"/>
            <a:ext cx="310896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32688" y="4983480"/>
            <a:ext cx="65836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发布</a:t>
            </a:r>
            <a:endParaRPr lang="zh-CN" sz="2160"/>
          </a:p>
        </p:txBody>
      </p:sp>
      <p:sp>
        <p:nvSpPr>
          <p:cNvPr id="17" name="text 17"/>
          <p:cNvSpPr txBox="1"/>
          <p:nvPr/>
        </p:nvSpPr>
        <p:spPr>
          <a:xfrm>
            <a:off x="932688" y="5422392"/>
            <a:ext cx="221284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暂存核验 → 持久内容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932688" y="5729630"/>
            <a:ext cx="229514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→ DB 引用与候选生效</a:t>
            </a:r>
            <a:endParaRPr lang="zh-CN" sz="1728"/>
          </a:p>
        </p:txBody>
      </p:sp>
      <p:sp>
        <p:nvSpPr>
          <p:cNvPr id="19" name="rect 19"/>
          <p:cNvSpPr/>
          <p:nvPr/>
        </p:nvSpPr>
        <p:spPr>
          <a:xfrm>
            <a:off x="4069080" y="4800600"/>
            <a:ext cx="310896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270248" y="4983480"/>
            <a:ext cx="65836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保留</a:t>
            </a:r>
            <a:endParaRPr lang="zh-CN" sz="2160"/>
          </a:p>
        </p:txBody>
      </p:sp>
      <p:sp>
        <p:nvSpPr>
          <p:cNvPr id="21" name="text 21"/>
          <p:cNvSpPr txBox="1"/>
          <p:nvPr/>
        </p:nvSpPr>
        <p:spPr>
          <a:xfrm>
            <a:off x="4270248" y="5422392"/>
            <a:ext cx="23591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活动 / 依赖 / 交付 pins</a:t>
            </a:r>
            <a:endParaRPr lang="zh-CN" sz="1728"/>
          </a:p>
        </p:txBody>
      </p:sp>
      <p:sp>
        <p:nvSpPr>
          <p:cNvPr id="22" name="text 22"/>
          <p:cNvSpPr txBox="1"/>
          <p:nvPr/>
        </p:nvSpPr>
        <p:spPr>
          <a:xfrm>
            <a:off x="4270248" y="5729630"/>
            <a:ext cx="201168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+ 传输 ReadGuard</a:t>
            </a:r>
            <a:endParaRPr lang="zh-CN" sz="1728"/>
          </a:p>
        </p:txBody>
      </p:sp>
      <p:sp>
        <p:nvSpPr>
          <p:cNvPr id="23" name="rect 23"/>
          <p:cNvSpPr/>
          <p:nvPr/>
        </p:nvSpPr>
        <p:spPr>
          <a:xfrm>
            <a:off x="7406640" y="4800600"/>
            <a:ext cx="310896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607808" y="4983480"/>
            <a:ext cx="65836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回收</a:t>
            </a:r>
            <a:endParaRPr lang="zh-CN" sz="2160"/>
          </a:p>
        </p:txBody>
      </p:sp>
      <p:sp>
        <p:nvSpPr>
          <p:cNvPr id="25" name="text 25"/>
          <p:cNvSpPr txBox="1"/>
          <p:nvPr/>
        </p:nvSpPr>
        <p:spPr>
          <a:xfrm>
            <a:off x="7607808" y="5422392"/>
            <a:ext cx="16459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到期且义务闭合</a:t>
            </a:r>
            <a:endParaRPr lang="zh-CN" sz="1728"/>
          </a:p>
        </p:txBody>
      </p:sp>
      <p:sp>
        <p:nvSpPr>
          <p:cNvPr id="26" name="text 26"/>
          <p:cNvSpPr txBox="1"/>
          <p:nvPr/>
        </p:nvSpPr>
        <p:spPr>
          <a:xfrm>
            <a:off x="7607808" y="5729630"/>
            <a:ext cx="20848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保留摘要与过期事实</a:t>
            </a:r>
            <a:endParaRPr lang="zh-CN" sz="1728"/>
          </a:p>
        </p:txBody>
      </p:sp>
      <p:sp>
        <p:nvSpPr>
          <p:cNvPr id="27" name="rect 27"/>
          <p:cNvSpPr/>
          <p:nvPr/>
        </p:nvSpPr>
        <p:spPr>
          <a:xfrm>
            <a:off x="10744200" y="4800600"/>
            <a:ext cx="310896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10945368" y="4983480"/>
            <a:ext cx="658368" cy="4251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恢复</a:t>
            </a:r>
            <a:endParaRPr lang="zh-CN" sz="2160"/>
          </a:p>
        </p:txBody>
      </p:sp>
      <p:sp>
        <p:nvSpPr>
          <p:cNvPr id="29" name="text 29"/>
          <p:cNvSpPr txBox="1"/>
          <p:nvPr/>
        </p:nvSpPr>
        <p:spPr>
          <a:xfrm>
            <a:off x="10945368" y="5422392"/>
            <a:ext cx="217627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DB + Git + 文件清单</a:t>
            </a:r>
            <a:endParaRPr lang="zh-CN" sz="1728"/>
          </a:p>
        </p:txBody>
      </p:sp>
      <p:sp>
        <p:nvSpPr>
          <p:cNvPr id="30" name="text 30"/>
          <p:cNvSpPr txBox="1"/>
          <p:nvPr/>
        </p:nvSpPr>
        <p:spPr>
          <a:xfrm>
            <a:off x="10945368" y="5729630"/>
            <a:ext cx="242316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新 epoch 阻止旧写重放</a:t>
            </a:r>
            <a:endParaRPr lang="zh-CN" sz="1728"/>
          </a:p>
        </p:txBody>
      </p:sp>
      <p:sp>
        <p:nvSpPr>
          <p:cNvPr id="31" name="rect 31"/>
          <p:cNvSpPr/>
          <p:nvPr/>
        </p:nvSpPr>
        <p:spPr>
          <a:xfrm>
            <a:off x="731520" y="6821424"/>
            <a:ext cx="13167360" cy="566928"/>
          </a:xfrm>
          <a:prstGeom prst="roundRect">
            <a:avLst>
              <a:gd name="adj" fmla="val 19355"/>
            </a:avLst>
          </a:prstGeom>
          <a:solidFill>
            <a:srgbClr val="D9EBE2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950976" y="6967728"/>
            <a:ext cx="866851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只有索引没有原件，无法完成交付；只有文件没有事务引用，也不等于发布成功。</a:t>
            </a:r>
            <a:endParaRPr lang="zh-CN" sz="1872"/>
          </a:p>
        </p:txBody>
      </p:sp>
      <p:sp>
        <p:nvSpPr>
          <p:cNvPr id="33" name="text 33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数据架构</a:t>
            </a:r>
            <a:endParaRPr lang="zh-CN" sz="1296"/>
          </a:p>
        </p:txBody>
      </p:sp>
      <p:sp>
        <p:nvSpPr>
          <p:cNvPr id="34" name="text 34"/>
          <p:cNvSpPr txBox="1"/>
          <p:nvPr/>
        </p:nvSpPr>
        <p:spPr>
          <a:xfrm>
            <a:off x="731520" y="850392"/>
            <a:ext cx="9198864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成果能交付，依靠“内容 + 引用 + 保留义务”</a:t>
            </a:r>
            <a:endParaRPr lang="zh-CN" sz="3456"/>
          </a:p>
        </p:txBody>
      </p:sp>
      <p:sp>
        <p:nvSpPr>
          <p:cNvPr id="35" name="text 35"/>
          <p:cNvSpPr txBox="1"/>
          <p:nvPr/>
        </p:nvSpPr>
        <p:spPr>
          <a:xfrm>
            <a:off x="749808" y="1536192"/>
            <a:ext cx="789127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SQLite 管事实，Git 与文件管正文；工作区、成果和历史索引各有生命周期。</a:t>
            </a:r>
            <a:endParaRPr lang="zh-CN" sz="1800"/>
          </a:p>
        </p:txBody>
      </p:sp>
      <p:sp>
        <p:nvSpPr>
          <p:cNvPr id="36" name="rect 36"/>
          <p:cNvSpPr/>
          <p:nvPr/>
        </p:nvSpPr>
        <p:spPr>
          <a:xfrm>
            <a:off x="12106656" y="320040"/>
            <a:ext cx="1792224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12216384" y="384048"/>
            <a:ext cx="1682496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存储 / P · 保留期限</a:t>
            </a:r>
            <a:endParaRPr lang="zh-CN" sz="1152"/>
          </a:p>
        </p:txBody>
      </p:sp>
      <p:sp>
        <p:nvSpPr>
          <p:cNvPr id="38" name="line 38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731520" y="7808976"/>
            <a:ext cx="2414016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依据：存储分工；候选发布；保留与备份</a:t>
            </a:r>
            <a:endParaRPr lang="zh-CN" sz="1008"/>
          </a:p>
        </p:txBody>
      </p:sp>
      <p:sp>
        <p:nvSpPr>
          <p:cNvPr id="40" name="text 40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25 / 36</a:t>
            </a:r>
            <a:endParaRPr lang="zh-CN" sz="1368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升级时，负责升级的人必须留在服务之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2F32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48840"/>
            <a:ext cx="13167360" cy="832104"/>
          </a:xfrm>
          <a:prstGeom prst="roundRect">
            <a:avLst>
              <a:gd name="adj" fmla="val 1758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005840" y="2359152"/>
            <a:ext cx="917143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U 始终持有同一 operation_id；操作 journal 在 S 停止时仍可查询和接续。</a:t>
            </a:r>
            <a:endParaRPr lang="zh-CN" sz="2088"/>
          </a:p>
        </p:txBody>
      </p:sp>
      <p:sp>
        <p:nvSpPr>
          <p:cNvPr id="5" name="rect 5"/>
          <p:cNvSpPr/>
          <p:nvPr/>
        </p:nvSpPr>
        <p:spPr>
          <a:xfrm>
            <a:off x="731520" y="3465576"/>
            <a:ext cx="2487168" cy="1773936"/>
          </a:xfrm>
          <a:prstGeom prst="roundRect">
            <a:avLst>
              <a:gd name="adj" fmla="val 8247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914400" y="3666744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1 准备</a:t>
            </a:r>
            <a:endParaRPr lang="zh-CN" sz="2232"/>
          </a:p>
        </p:txBody>
      </p:sp>
      <p:sp>
        <p:nvSpPr>
          <p:cNvPr id="7" name="text 7"/>
          <p:cNvSpPr txBox="1"/>
          <p:nvPr/>
        </p:nvSpPr>
        <p:spPr>
          <a:xfrm>
            <a:off x="914400" y="4187952"/>
            <a:ext cx="1481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独立版本目录</a:t>
            </a:r>
            <a:endParaRPr lang="zh-CN" sz="1800"/>
          </a:p>
        </p:txBody>
      </p:sp>
      <p:sp>
        <p:nvSpPr>
          <p:cNvPr id="8" name="text 8"/>
          <p:cNvSpPr txBox="1"/>
          <p:nvPr/>
        </p:nvSpPr>
        <p:spPr>
          <a:xfrm>
            <a:off x="914400" y="4503420"/>
            <a:ext cx="150876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旧 S 继续运行</a:t>
            </a:r>
            <a:endParaRPr lang="zh-CN" sz="1800"/>
          </a:p>
        </p:txBody>
      </p:sp>
      <p:sp>
        <p:nvSpPr>
          <p:cNvPr id="9" name="line 9"/>
          <p:cNvSpPr/>
          <p:nvPr/>
        </p:nvSpPr>
        <p:spPr>
          <a:xfrm>
            <a:off x="3255264" y="4343400"/>
            <a:ext cx="100584" cy="1"/>
          </a:xfrm>
          <a:prstGeom prst="line">
            <a:avLst/>
          </a:prstGeom>
          <a:noFill/>
          <a:ln w="18288">
            <a:solidFill>
              <a:srgbClr val="F1C887"/>
            </a:solidFill>
          </a:ln>
        </p:spPr>
      </p:sp>
      <p:sp>
        <p:nvSpPr>
          <p:cNvPr id="10" name="poly 10"/>
          <p:cNvSpPr/>
          <p:nvPr/>
        </p:nvSpPr>
        <p:spPr>
          <a:xfrm>
            <a:off x="3257044" y="429567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11" name="rect 11"/>
          <p:cNvSpPr/>
          <p:nvPr/>
        </p:nvSpPr>
        <p:spPr>
          <a:xfrm>
            <a:off x="3401568" y="3465576"/>
            <a:ext cx="2487168" cy="1773936"/>
          </a:xfrm>
          <a:prstGeom prst="roundRect">
            <a:avLst>
              <a:gd name="adj" fmla="val 8247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3584448" y="3666744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2 排空</a:t>
            </a:r>
            <a:endParaRPr lang="zh-CN" sz="2232"/>
          </a:p>
        </p:txBody>
      </p:sp>
      <p:sp>
        <p:nvSpPr>
          <p:cNvPr id="13" name="text 13"/>
          <p:cNvSpPr txBox="1"/>
          <p:nvPr/>
        </p:nvSpPr>
        <p:spPr>
          <a:xfrm>
            <a:off x="3584448" y="4187952"/>
            <a:ext cx="112471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维护 hold</a:t>
            </a:r>
            <a:endParaRPr lang="zh-CN" sz="1800"/>
          </a:p>
        </p:txBody>
      </p:sp>
      <p:sp>
        <p:nvSpPr>
          <p:cNvPr id="14" name="text 14"/>
          <p:cNvSpPr txBox="1"/>
          <p:nvPr/>
        </p:nvSpPr>
        <p:spPr>
          <a:xfrm>
            <a:off x="3584448" y="4503420"/>
            <a:ext cx="1481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核对在途执行</a:t>
            </a:r>
            <a:endParaRPr lang="zh-CN" sz="1800"/>
          </a:p>
        </p:txBody>
      </p:sp>
      <p:sp>
        <p:nvSpPr>
          <p:cNvPr id="15" name="line 15"/>
          <p:cNvSpPr/>
          <p:nvPr/>
        </p:nvSpPr>
        <p:spPr>
          <a:xfrm>
            <a:off x="5925312" y="4343400"/>
            <a:ext cx="100584" cy="1"/>
          </a:xfrm>
          <a:prstGeom prst="line">
            <a:avLst/>
          </a:prstGeom>
          <a:noFill/>
          <a:ln w="18288">
            <a:solidFill>
              <a:srgbClr val="F1C887"/>
            </a:solidFill>
          </a:ln>
        </p:spPr>
      </p:sp>
      <p:sp>
        <p:nvSpPr>
          <p:cNvPr id="16" name="poly 16"/>
          <p:cNvSpPr/>
          <p:nvPr/>
        </p:nvSpPr>
        <p:spPr>
          <a:xfrm>
            <a:off x="5927092" y="429567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17" name="rect 17"/>
          <p:cNvSpPr/>
          <p:nvPr/>
        </p:nvSpPr>
        <p:spPr>
          <a:xfrm>
            <a:off x="6071616" y="3465576"/>
            <a:ext cx="2487168" cy="1773936"/>
          </a:xfrm>
          <a:prstGeom prst="roundRect">
            <a:avLst>
              <a:gd name="adj" fmla="val 8247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254496" y="3666744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3 停机</a:t>
            </a:r>
            <a:endParaRPr lang="zh-CN" sz="2232"/>
          </a:p>
        </p:txBody>
      </p:sp>
      <p:sp>
        <p:nvSpPr>
          <p:cNvPr id="19" name="text 19"/>
          <p:cNvSpPr txBox="1"/>
          <p:nvPr/>
        </p:nvSpPr>
        <p:spPr>
          <a:xfrm>
            <a:off x="6254496" y="4187952"/>
            <a:ext cx="1024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写入屏障</a:t>
            </a:r>
            <a:endParaRPr lang="zh-CN" sz="1800"/>
          </a:p>
        </p:txBody>
      </p:sp>
      <p:sp>
        <p:nvSpPr>
          <p:cNvPr id="20" name="text 20"/>
          <p:cNvSpPr txBox="1"/>
          <p:nvPr/>
        </p:nvSpPr>
        <p:spPr>
          <a:xfrm>
            <a:off x="6254496" y="4503420"/>
            <a:ext cx="128016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证明 S 闭合</a:t>
            </a:r>
            <a:endParaRPr lang="zh-CN" sz="1800"/>
          </a:p>
        </p:txBody>
      </p:sp>
      <p:sp>
        <p:nvSpPr>
          <p:cNvPr id="21" name="line 21"/>
          <p:cNvSpPr/>
          <p:nvPr/>
        </p:nvSpPr>
        <p:spPr>
          <a:xfrm>
            <a:off x="8595360" y="4343400"/>
            <a:ext cx="100584" cy="1"/>
          </a:xfrm>
          <a:prstGeom prst="line">
            <a:avLst/>
          </a:prstGeom>
          <a:noFill/>
          <a:ln w="18288">
            <a:solidFill>
              <a:srgbClr val="F1C887"/>
            </a:solidFill>
          </a:ln>
        </p:spPr>
      </p:sp>
      <p:sp>
        <p:nvSpPr>
          <p:cNvPr id="22" name="poly 22"/>
          <p:cNvSpPr/>
          <p:nvPr/>
        </p:nvSpPr>
        <p:spPr>
          <a:xfrm>
            <a:off x="8597140" y="429567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23" name="rect 23"/>
          <p:cNvSpPr/>
          <p:nvPr/>
        </p:nvSpPr>
        <p:spPr>
          <a:xfrm>
            <a:off x="8741664" y="3465576"/>
            <a:ext cx="2487168" cy="1773936"/>
          </a:xfrm>
          <a:prstGeom prst="roundRect">
            <a:avLst>
              <a:gd name="adj" fmla="val 8247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924544" y="3666744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4 切换</a:t>
            </a:r>
            <a:endParaRPr lang="zh-CN" sz="2232"/>
          </a:p>
        </p:txBody>
      </p:sp>
      <p:sp>
        <p:nvSpPr>
          <p:cNvPr id="25" name="text 25"/>
          <p:cNvSpPr txBox="1"/>
          <p:nvPr/>
        </p:nvSpPr>
        <p:spPr>
          <a:xfrm>
            <a:off x="8924544" y="4187952"/>
            <a:ext cx="155448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离线锁 + 备份</a:t>
            </a:r>
            <a:endParaRPr lang="zh-CN" sz="1800"/>
          </a:p>
        </p:txBody>
      </p:sp>
      <p:sp>
        <p:nvSpPr>
          <p:cNvPr id="26" name="text 26"/>
          <p:cNvSpPr txBox="1"/>
          <p:nvPr/>
        </p:nvSpPr>
        <p:spPr>
          <a:xfrm>
            <a:off x="8924544" y="4503420"/>
            <a:ext cx="1481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受支持的迁移</a:t>
            </a:r>
            <a:endParaRPr lang="zh-CN" sz="1800"/>
          </a:p>
        </p:txBody>
      </p:sp>
      <p:sp>
        <p:nvSpPr>
          <p:cNvPr id="27" name="line 27"/>
          <p:cNvSpPr/>
          <p:nvPr/>
        </p:nvSpPr>
        <p:spPr>
          <a:xfrm>
            <a:off x="11265408" y="4343400"/>
            <a:ext cx="100584" cy="1"/>
          </a:xfrm>
          <a:prstGeom prst="line">
            <a:avLst/>
          </a:prstGeom>
          <a:noFill/>
          <a:ln w="18288">
            <a:solidFill>
              <a:srgbClr val="F1C887"/>
            </a:solidFill>
          </a:ln>
        </p:spPr>
      </p:sp>
      <p:sp>
        <p:nvSpPr>
          <p:cNvPr id="28" name="poly 28"/>
          <p:cNvSpPr/>
          <p:nvPr/>
        </p:nvSpPr>
        <p:spPr>
          <a:xfrm>
            <a:off x="11267188" y="4295672"/>
            <a:ext cx="98804" cy="95456"/>
          </a:xfrm>
          <a:custGeom>
            <a:avLst/>
            <a:gdLst/>
            <a:ahLst/>
            <a:cxnLst/>
            <a:rect l="0" t="0" r="r" b="b"/>
            <a:pathLst>
              <a:path w="98804" h="95456">
                <a:moveTo>
                  <a:pt x="98804" y="47728"/>
                </a:moveTo>
                <a:lnTo>
                  <a:pt x="0" y="95456"/>
                </a:lnTo>
                <a:lnTo>
                  <a:pt x="0" y="0"/>
                </a:lnTo>
                <a:close/>
              </a:path>
            </a:pathLst>
          </a:custGeom>
          <a:solidFill>
            <a:srgbClr val="F1C887"/>
          </a:solidFill>
          <a:ln>
            <a:noFill/>
          </a:ln>
        </p:spPr>
      </p:sp>
      <p:sp>
        <p:nvSpPr>
          <p:cNvPr id="29" name="rect 29"/>
          <p:cNvSpPr/>
          <p:nvPr/>
        </p:nvSpPr>
        <p:spPr>
          <a:xfrm>
            <a:off x="11411712" y="3465576"/>
            <a:ext cx="2487168" cy="1773936"/>
          </a:xfrm>
          <a:prstGeom prst="roundRect">
            <a:avLst>
              <a:gd name="adj" fmla="val 8247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1594592" y="3666744"/>
            <a:ext cx="932688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5 验证</a:t>
            </a:r>
            <a:endParaRPr lang="zh-CN" sz="2232"/>
          </a:p>
        </p:txBody>
      </p:sp>
      <p:sp>
        <p:nvSpPr>
          <p:cNvPr id="31" name="text 31"/>
          <p:cNvSpPr txBox="1"/>
          <p:nvPr/>
        </p:nvSpPr>
        <p:spPr>
          <a:xfrm>
            <a:off x="11594592" y="4187952"/>
            <a:ext cx="1252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新版维护态</a:t>
            </a:r>
            <a:endParaRPr lang="zh-CN" sz="1800"/>
          </a:p>
        </p:txBody>
      </p:sp>
      <p:sp>
        <p:nvSpPr>
          <p:cNvPr id="32" name="text 32"/>
          <p:cNvSpPr txBox="1"/>
          <p:nvPr/>
        </p:nvSpPr>
        <p:spPr>
          <a:xfrm>
            <a:off x="11594592" y="4503420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核对事实与引用</a:t>
            </a:r>
            <a:endParaRPr lang="zh-CN" sz="1800"/>
          </a:p>
        </p:txBody>
      </p:sp>
      <p:sp>
        <p:nvSpPr>
          <p:cNvPr id="33" name="line 33"/>
          <p:cNvSpPr/>
          <p:nvPr/>
        </p:nvSpPr>
        <p:spPr>
          <a:xfrm>
            <a:off x="731520" y="5705856"/>
            <a:ext cx="5340096" cy="1"/>
          </a:xfrm>
          <a:prstGeom prst="line">
            <a:avLst/>
          </a:prstGeom>
          <a:noFill/>
          <a:ln w="36576">
            <a:solidFill>
              <a:srgbClr val="ABC8BE"/>
            </a:solidFill>
          </a:ln>
        </p:spPr>
      </p:sp>
      <p:sp>
        <p:nvSpPr>
          <p:cNvPr id="34" name="line 34"/>
          <p:cNvSpPr/>
          <p:nvPr/>
        </p:nvSpPr>
        <p:spPr>
          <a:xfrm>
            <a:off x="6071616" y="5705856"/>
            <a:ext cx="5084064" cy="1"/>
          </a:xfrm>
          <a:prstGeom prst="line">
            <a:avLst/>
          </a:prstGeom>
          <a:noFill/>
          <a:ln w="36576">
            <a:solidFill>
              <a:srgbClr val="F1C887"/>
            </a:solidFill>
          </a:ln>
        </p:spPr>
      </p:sp>
      <p:sp>
        <p:nvSpPr>
          <p:cNvPr id="35" name="line 35"/>
          <p:cNvSpPr/>
          <p:nvPr/>
        </p:nvSpPr>
        <p:spPr>
          <a:xfrm>
            <a:off x="11155680" y="5705856"/>
            <a:ext cx="2743200" cy="1"/>
          </a:xfrm>
          <a:prstGeom prst="line">
            <a:avLst/>
          </a:prstGeom>
          <a:noFill/>
          <a:ln w="36576">
            <a:solidFill>
              <a:srgbClr val="ABC8BE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31520" y="5925312"/>
            <a:ext cx="186537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旧服务可继续使用</a:t>
            </a:r>
            <a:endParaRPr lang="zh-CN" sz="1728"/>
          </a:p>
        </p:txBody>
      </p:sp>
      <p:sp>
        <p:nvSpPr>
          <p:cNvPr id="37" name="text 37"/>
          <p:cNvSpPr txBox="1"/>
          <p:nvPr/>
        </p:nvSpPr>
        <p:spPr>
          <a:xfrm>
            <a:off x="7964424" y="5925312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受控停机窗口</a:t>
            </a:r>
            <a:endParaRPr lang="zh-CN" sz="1728"/>
          </a:p>
        </p:txBody>
      </p:sp>
      <p:sp>
        <p:nvSpPr>
          <p:cNvPr id="38" name="text 38"/>
          <p:cNvSpPr txBox="1"/>
          <p:nvPr/>
        </p:nvSpPr>
        <p:spPr>
          <a:xfrm>
            <a:off x="12801600" y="5925312"/>
            <a:ext cx="12070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验证后恢复</a:t>
            </a:r>
            <a:endParaRPr lang="zh-CN" sz="1728"/>
          </a:p>
        </p:txBody>
      </p:sp>
      <p:sp>
        <p:nvSpPr>
          <p:cNvPr id="39" name="rect 39"/>
          <p:cNvSpPr/>
          <p:nvPr/>
        </p:nvSpPr>
        <p:spPr>
          <a:xfrm>
            <a:off x="731520" y="6611112"/>
            <a:ext cx="13167360" cy="768096"/>
          </a:xfrm>
          <a:prstGeom prst="roundRect">
            <a:avLst>
              <a:gd name="adj" fmla="val 16667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987552" y="6803136"/>
            <a:ext cx="9491472" cy="382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44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失败保全：保留原版、当前数据、备份与操作记录；回退取决于数据兼容和新增写入。</a:t>
            </a:r>
            <a:endParaRPr lang="zh-CN" sz="1944"/>
          </a:p>
        </p:txBody>
      </p:sp>
      <p:sp>
        <p:nvSpPr>
          <p:cNvPr id="41" name="text 41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AGENTD  /  运行架构</a:t>
            </a:r>
            <a:endParaRPr lang="zh-CN" sz="1296"/>
          </a:p>
        </p:txBody>
      </p:sp>
      <p:sp>
        <p:nvSpPr>
          <p:cNvPr id="42" name="text 42"/>
          <p:cNvSpPr txBox="1"/>
          <p:nvPr/>
        </p:nvSpPr>
        <p:spPr>
          <a:xfrm>
            <a:off x="731520" y="850392"/>
            <a:ext cx="8010144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升级时，负责升级的人必须留在服务之外</a:t>
            </a:r>
            <a:endParaRPr lang="zh-CN" sz="3456"/>
          </a:p>
        </p:txBody>
      </p:sp>
      <p:sp>
        <p:nvSpPr>
          <p:cNvPr id="43" name="text 43"/>
          <p:cNvSpPr txBox="1"/>
          <p:nvPr/>
        </p:nvSpPr>
        <p:spPr>
          <a:xfrm>
            <a:off x="749808" y="1536192"/>
            <a:ext cx="700430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U 管安装、升级、卸载；服务管理器管 S 的日常启动、停止与重启。</a:t>
            </a:r>
            <a:endParaRPr lang="zh-CN" sz="1800"/>
          </a:p>
        </p:txBody>
      </p:sp>
      <p:sp>
        <p:nvSpPr>
          <p:cNvPr id="44" name="rect 44"/>
          <p:cNvSpPr/>
          <p:nvPr/>
        </p:nvSpPr>
        <p:spPr>
          <a:xfrm>
            <a:off x="11768328" y="320040"/>
            <a:ext cx="2130552" cy="301752"/>
          </a:xfrm>
          <a:prstGeom prst="roundRect">
            <a:avLst>
              <a:gd name="adj" fmla="val 24242"/>
            </a:avLst>
          </a:prstGeom>
          <a:solidFill>
            <a:srgbClr val="1D4244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11878056" y="384048"/>
            <a:ext cx="202082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R · U 独立 / D·H · 切换方案</a:t>
            </a:r>
            <a:endParaRPr lang="zh-CN" sz="1152"/>
          </a:p>
        </p:txBody>
      </p:sp>
      <p:sp>
        <p:nvSpPr>
          <p:cNvPr id="46" name="line 46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1D4244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731520" y="7808976"/>
            <a:ext cx="3182112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依据：生命周期要求；升级与锁交接；故障与回退边界</a:t>
            </a:r>
            <a:endParaRPr lang="zh-CN" sz="1008"/>
          </a:p>
        </p:txBody>
      </p:sp>
      <p:sp>
        <p:nvSpPr>
          <p:cNvPr id="48" name="text 48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ABC8BE"/>
                </a:solidFill>
                <a:latin typeface="Microsoft YaHei"/>
                <a:ea typeface="Microsoft YaHei"/>
                <a:cs typeface="Arial"/>
              </a:rPr>
              <a:t xml:space="preserve">26 / 36</a:t>
            </a:r>
            <a:endParaRPr lang="zh-CN" sz="1368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为什么这样做：每个选择都有明确收益与代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30552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40280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选择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3529584" y="2240280"/>
            <a:ext cx="116128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得到的收益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8467344" y="2240280"/>
            <a:ext cx="22311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接受的代价 / 必须验证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15184"/>
            <a:ext cx="1316736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52344"/>
            <a:ext cx="23134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单 daemon + SQLite</a:t>
            </a:r>
            <a:endParaRPr lang="zh-CN" sz="1728"/>
          </a:p>
        </p:txBody>
      </p:sp>
      <p:sp>
        <p:nvSpPr>
          <p:cNvPr id="9" name="text 9"/>
          <p:cNvSpPr txBox="1"/>
          <p:nvPr/>
        </p:nvSpPr>
        <p:spPr>
          <a:xfrm>
            <a:off x="3529584" y="2752344"/>
            <a:ext cx="471830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统一事实；本机部署简单；关键变化可原子提交</a:t>
            </a:r>
            <a:endParaRPr lang="zh-CN" sz="1728"/>
          </a:p>
        </p:txBody>
      </p:sp>
      <p:sp>
        <p:nvSpPr>
          <p:cNvPr id="10" name="text 10"/>
          <p:cNvSpPr txBox="1"/>
          <p:nvPr/>
        </p:nvSpPr>
        <p:spPr>
          <a:xfrm>
            <a:off x="8467344" y="2752344"/>
            <a:ext cx="471830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单机容量有限；慢工作必须有界，保护控制响应</a:t>
            </a:r>
            <a:endParaRPr lang="zh-CN" sz="1728"/>
          </a:p>
        </p:txBody>
      </p:sp>
      <p:sp>
        <p:nvSpPr>
          <p:cNvPr id="11" name="rect 11"/>
          <p:cNvSpPr/>
          <p:nvPr/>
        </p:nvSpPr>
        <p:spPr>
          <a:xfrm>
            <a:off x="731520" y="3401568"/>
            <a:ext cx="13167360" cy="78638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77824" y="3538728"/>
            <a:ext cx="219456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原生 harness 薄适配</a:t>
            </a:r>
            <a:endParaRPr lang="zh-CN" sz="1728"/>
          </a:p>
        </p:txBody>
      </p:sp>
      <p:sp>
        <p:nvSpPr>
          <p:cNvPr id="13" name="text 13"/>
          <p:cNvSpPr txBox="1"/>
          <p:nvPr/>
        </p:nvSpPr>
        <p:spPr>
          <a:xfrm>
            <a:off x="3529584" y="3538728"/>
            <a:ext cx="41605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保留 MCP / subagent / shell 与原生迭代</a:t>
            </a:r>
            <a:endParaRPr lang="zh-CN" sz="1728"/>
          </a:p>
        </p:txBody>
      </p:sp>
      <p:sp>
        <p:nvSpPr>
          <p:cNvPr id="14" name="text 14"/>
          <p:cNvSpPr txBox="1"/>
          <p:nvPr/>
        </p:nvSpPr>
        <p:spPr>
          <a:xfrm>
            <a:off x="8467344" y="3538728"/>
            <a:ext cx="41879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版本、配置、relay 与子进程归属需要实测</a:t>
            </a:r>
            <a:endParaRPr lang="zh-CN" sz="1728"/>
          </a:p>
        </p:txBody>
      </p:sp>
      <p:sp>
        <p:nvSpPr>
          <p:cNvPr id="15" name="rect 15"/>
          <p:cNvSpPr/>
          <p:nvPr/>
        </p:nvSpPr>
        <p:spPr>
          <a:xfrm>
            <a:off x="731520" y="4187952"/>
            <a:ext cx="1316736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4325112"/>
            <a:ext cx="199339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外部独立 reviewer</a:t>
            </a:r>
            <a:endParaRPr lang="zh-CN" sz="1728"/>
          </a:p>
        </p:txBody>
      </p:sp>
      <p:sp>
        <p:nvSpPr>
          <p:cNvPr id="17" name="text 17"/>
          <p:cNvSpPr txBox="1"/>
          <p:nvPr/>
        </p:nvSpPr>
        <p:spPr>
          <a:xfrm>
            <a:off x="3529584" y="4325112"/>
            <a:ext cx="36210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职责清楚；复用已有客户端与独立根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8467344" y="4325112"/>
            <a:ext cx="427939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客户端离线会等待；提示到实际领取需验收</a:t>
            </a:r>
            <a:endParaRPr lang="zh-CN" sz="1728"/>
          </a:p>
        </p:txBody>
      </p:sp>
      <p:sp>
        <p:nvSpPr>
          <p:cNvPr id="19" name="rect 19"/>
          <p:cNvSpPr/>
          <p:nvPr/>
        </p:nvSpPr>
        <p:spPr>
          <a:xfrm>
            <a:off x="731520" y="4974336"/>
            <a:ext cx="13167360" cy="78638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77824" y="5111496"/>
            <a:ext cx="16459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冻结合同与候选</a:t>
            </a:r>
            <a:endParaRPr lang="zh-CN" sz="1728"/>
          </a:p>
        </p:txBody>
      </p:sp>
      <p:sp>
        <p:nvSpPr>
          <p:cNvPr id="21" name="text 21"/>
          <p:cNvSpPr txBox="1"/>
          <p:nvPr/>
        </p:nvSpPr>
        <p:spPr>
          <a:xfrm>
            <a:off x="3529584" y="5111496"/>
            <a:ext cx="427939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返修问题不漂移；证据、判决和统计可追溯</a:t>
            </a:r>
            <a:endParaRPr lang="zh-CN" sz="1728"/>
          </a:p>
        </p:txBody>
      </p:sp>
      <p:sp>
        <p:nvSpPr>
          <p:cNvPr id="22" name="text 22"/>
          <p:cNvSpPr txBox="1"/>
          <p:nvPr/>
        </p:nvSpPr>
        <p:spPr>
          <a:xfrm>
            <a:off x="8467344" y="5111496"/>
            <a:ext cx="427939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需求变化需新任务；引用与保留管理更严格</a:t>
            </a:r>
            <a:endParaRPr lang="zh-CN" sz="1728"/>
          </a:p>
        </p:txBody>
      </p:sp>
      <p:sp>
        <p:nvSpPr>
          <p:cNvPr id="23" name="rect 23"/>
          <p:cNvSpPr/>
          <p:nvPr/>
        </p:nvSpPr>
        <p:spPr>
          <a:xfrm>
            <a:off x="731520" y="5760720"/>
            <a:ext cx="1316736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7824" y="5897880"/>
            <a:ext cx="195681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独立 U + 停机切换</a:t>
            </a:r>
            <a:endParaRPr lang="zh-CN" sz="1728"/>
          </a:p>
        </p:txBody>
      </p:sp>
      <p:sp>
        <p:nvSpPr>
          <p:cNvPr id="25" name="text 25"/>
          <p:cNvSpPr txBox="1"/>
          <p:nvPr/>
        </p:nvSpPr>
        <p:spPr>
          <a:xfrm>
            <a:off x="3529584" y="5897880"/>
            <a:ext cx="337413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S 停止后仍有执行者；操作可接续</a:t>
            </a:r>
            <a:endParaRPr lang="zh-CN" sz="1728"/>
          </a:p>
        </p:txBody>
      </p:sp>
      <p:sp>
        <p:nvSpPr>
          <p:cNvPr id="26" name="text 26"/>
          <p:cNvSpPr txBox="1"/>
          <p:nvPr/>
        </p:nvSpPr>
        <p:spPr>
          <a:xfrm>
            <a:off x="8467344" y="5897880"/>
            <a:ext cx="470001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需要锁与 fence；有停机窗口；回退受数据约束</a:t>
            </a:r>
            <a:endParaRPr lang="zh-CN" sz="1728"/>
          </a:p>
        </p:txBody>
      </p:sp>
      <p:sp>
        <p:nvSpPr>
          <p:cNvPr id="27" name="rect 27"/>
          <p:cNvSpPr/>
          <p:nvPr/>
        </p:nvSpPr>
        <p:spPr>
          <a:xfrm>
            <a:off x="731520" y="6547104"/>
            <a:ext cx="13167360" cy="78638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77824" y="6684264"/>
            <a:ext cx="215798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成熟窗口 + 随机探索</a:t>
            </a:r>
            <a:endParaRPr lang="zh-CN" sz="1728"/>
          </a:p>
        </p:txBody>
      </p:sp>
      <p:sp>
        <p:nvSpPr>
          <p:cNvPr id="29" name="text 29"/>
          <p:cNvSpPr txBox="1"/>
          <p:nvPr/>
        </p:nvSpPr>
        <p:spPr>
          <a:xfrm>
            <a:off x="3529584" y="6684264"/>
            <a:ext cx="449884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未完成任务不从分母消失；新模型有取样机会</a:t>
            </a:r>
            <a:endParaRPr lang="zh-CN" sz="1728"/>
          </a:p>
        </p:txBody>
      </p:sp>
      <p:sp>
        <p:nvSpPr>
          <p:cNvPr id="30" name="text 30"/>
          <p:cNvSpPr txBox="1"/>
          <p:nvPr/>
        </p:nvSpPr>
        <p:spPr>
          <a:xfrm>
            <a:off x="8467344" y="6684264"/>
            <a:ext cx="405993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等待样本成熟；相关表现仍非纯因果能力</a:t>
            </a:r>
            <a:endParaRPr lang="zh-CN" sz="1728"/>
          </a:p>
        </p:txBody>
      </p:sp>
      <p:sp>
        <p:nvSpPr>
          <p:cNvPr id="31" name="text 31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设计取舍</a:t>
            </a:r>
            <a:endParaRPr lang="zh-CN" sz="1296"/>
          </a:p>
        </p:txBody>
      </p:sp>
      <p:sp>
        <p:nvSpPr>
          <p:cNvPr id="32" name="text 32"/>
          <p:cNvSpPr txBox="1"/>
          <p:nvPr/>
        </p:nvSpPr>
        <p:spPr>
          <a:xfrm>
            <a:off x="731520" y="850392"/>
            <a:ext cx="888796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为什么这样做：每个选择都有明确收益与代价</a:t>
            </a:r>
            <a:endParaRPr lang="zh-CN" sz="3456"/>
          </a:p>
        </p:txBody>
      </p:sp>
      <p:sp>
        <p:nvSpPr>
          <p:cNvPr id="33" name="text 33"/>
          <p:cNvSpPr txBox="1"/>
          <p:nvPr/>
        </p:nvSpPr>
        <p:spPr>
          <a:xfrm>
            <a:off x="749808" y="1536192"/>
            <a:ext cx="6510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用足够的机制兑现边界，避免让主线承担运行系统的内部步骤。</a:t>
            </a:r>
            <a:endParaRPr lang="zh-CN" sz="1800"/>
          </a:p>
        </p:txBody>
      </p:sp>
      <p:sp>
        <p:nvSpPr>
          <p:cNvPr id="34" name="rect 34"/>
          <p:cNvSpPr/>
          <p:nvPr/>
        </p:nvSpPr>
        <p:spPr>
          <a:xfrm>
            <a:off x="12819888" y="320040"/>
            <a:ext cx="107899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12929616" y="384048"/>
            <a:ext cx="96926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方案论证</a:t>
            </a:r>
            <a:endParaRPr lang="zh-CN" sz="1152"/>
          </a:p>
        </p:txBody>
      </p:sp>
      <p:sp>
        <p:nvSpPr>
          <p:cNvPr id="36" name="line 36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731520" y="7808976"/>
            <a:ext cx="2286000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依据：设计选择独立论证；模块与事务</a:t>
            </a:r>
            <a:endParaRPr lang="zh-CN" sz="1008"/>
          </a:p>
        </p:txBody>
      </p:sp>
      <p:sp>
        <p:nvSpPr>
          <p:cNvPr id="38" name="text 38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27 / 36</a:t>
            </a:r>
            <a:endParaRPr lang="zh-CN" sz="1368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验收的单位：同一条真实用户旅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48840"/>
            <a:ext cx="13167360" cy="941832"/>
          </a:xfrm>
          <a:prstGeom prst="roundRect">
            <a:avLst>
              <a:gd name="adj" fmla="val 15534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87552" y="2386584"/>
            <a:ext cx="9957816" cy="4393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32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U 安装 → 页面配置 → 主线提交 → 真实 worker → 外部独审 → 实际取回成果</a:t>
            </a:r>
            <a:endParaRPr lang="zh-CN" sz="2232"/>
          </a:p>
        </p:txBody>
      </p:sp>
      <p:sp>
        <p:nvSpPr>
          <p:cNvPr id="5" name="rect 5"/>
          <p:cNvSpPr/>
          <p:nvPr/>
        </p:nvSpPr>
        <p:spPr>
          <a:xfrm>
            <a:off x="731520" y="3383280"/>
            <a:ext cx="4242816" cy="1746504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ect 6"/>
          <p:cNvSpPr/>
          <p:nvPr/>
        </p:nvSpPr>
        <p:spPr>
          <a:xfrm>
            <a:off x="731520" y="359359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60120" y="3621024"/>
            <a:ext cx="113385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终态唯一</a:t>
            </a:r>
            <a:endParaRPr lang="zh-CN" sz="2016"/>
          </a:p>
        </p:txBody>
      </p:sp>
      <p:sp>
        <p:nvSpPr>
          <p:cNvPr id="8" name="text 8"/>
          <p:cNvSpPr txBox="1"/>
          <p:nvPr/>
        </p:nvSpPr>
        <p:spPr>
          <a:xfrm>
            <a:off x="960120" y="4197096"/>
            <a:ext cx="37033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首轮 / 第三轮 PASS；三拒绝停止；</a:t>
            </a:r>
            <a:endParaRPr lang="zh-CN" sz="1800"/>
          </a:p>
        </p:txBody>
      </p:sp>
      <p:sp>
        <p:nvSpPr>
          <p:cNvPr id="9" name="text 9"/>
          <p:cNvSpPr txBox="1"/>
          <p:nvPr/>
        </p:nvSpPr>
        <p:spPr>
          <a:xfrm>
            <a:off x="960120" y="4530852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重复请求不重计。</a:t>
            </a:r>
            <a:endParaRPr lang="zh-CN" sz="1800"/>
          </a:p>
        </p:txBody>
      </p:sp>
      <p:sp>
        <p:nvSpPr>
          <p:cNvPr id="10" name="rect 10"/>
          <p:cNvSpPr/>
          <p:nvPr/>
        </p:nvSpPr>
        <p:spPr>
          <a:xfrm>
            <a:off x="5193792" y="3383280"/>
            <a:ext cx="4242816" cy="1746504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rect 11"/>
          <p:cNvSpPr/>
          <p:nvPr/>
        </p:nvSpPr>
        <p:spPr>
          <a:xfrm>
            <a:off x="5193792" y="359359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422392" y="3621024"/>
            <a:ext cx="113385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真实并行</a:t>
            </a:r>
            <a:endParaRPr lang="zh-CN" sz="2016"/>
          </a:p>
        </p:txBody>
      </p:sp>
      <p:sp>
        <p:nvSpPr>
          <p:cNvPr id="13" name="text 13"/>
          <p:cNvSpPr txBox="1"/>
          <p:nvPr/>
        </p:nvSpPr>
        <p:spPr>
          <a:xfrm>
            <a:off x="5422392" y="4197096"/>
            <a:ext cx="385876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 worker、至少 2 模型；一个超限，</a:t>
            </a:r>
            <a:endParaRPr lang="zh-CN" sz="1800"/>
          </a:p>
        </p:txBody>
      </p:sp>
      <p:sp>
        <p:nvSpPr>
          <p:cNvPr id="14" name="text 14"/>
          <p:cNvSpPr txBox="1"/>
          <p:nvPr/>
        </p:nvSpPr>
        <p:spPr>
          <a:xfrm>
            <a:off x="5422392" y="4530852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其他任务继续。</a:t>
            </a:r>
            <a:endParaRPr lang="zh-CN" sz="1800"/>
          </a:p>
        </p:txBody>
      </p:sp>
      <p:sp>
        <p:nvSpPr>
          <p:cNvPr id="15" name="rect 15"/>
          <p:cNvSpPr/>
          <p:nvPr/>
        </p:nvSpPr>
        <p:spPr>
          <a:xfrm>
            <a:off x="9656064" y="3383280"/>
            <a:ext cx="4242816" cy="1746504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rect 16"/>
          <p:cNvSpPr/>
          <p:nvPr/>
        </p:nvSpPr>
        <p:spPr>
          <a:xfrm>
            <a:off x="9656064" y="3593592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884664" y="3621024"/>
            <a:ext cx="1389888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中断可继续</a:t>
            </a:r>
            <a:endParaRPr lang="zh-CN" sz="2016"/>
          </a:p>
        </p:txBody>
      </p:sp>
      <p:sp>
        <p:nvSpPr>
          <p:cNvPr id="18" name="text 18"/>
          <p:cNvSpPr txBox="1"/>
          <p:nvPr/>
        </p:nvSpPr>
        <p:spPr>
          <a:xfrm>
            <a:off x="9884664" y="4197096"/>
            <a:ext cx="3767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工作区保留；旧执行核清；原会话或</a:t>
            </a:r>
            <a:endParaRPr lang="zh-CN" sz="1800"/>
          </a:p>
        </p:txBody>
      </p:sp>
      <p:sp>
        <p:nvSpPr>
          <p:cNvPr id="19" name="text 19"/>
          <p:cNvSpPr txBox="1"/>
          <p:nvPr/>
        </p:nvSpPr>
        <p:spPr>
          <a:xfrm>
            <a:off x="9884664" y="4530852"/>
            <a:ext cx="1481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新会话接手。</a:t>
            </a:r>
            <a:endParaRPr lang="zh-CN" sz="1800"/>
          </a:p>
        </p:txBody>
      </p:sp>
      <p:sp>
        <p:nvSpPr>
          <p:cNvPr id="20" name="rect 20"/>
          <p:cNvSpPr/>
          <p:nvPr/>
        </p:nvSpPr>
        <p:spPr>
          <a:xfrm>
            <a:off x="731520" y="5340096"/>
            <a:ext cx="4242816" cy="1746504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rect 21"/>
          <p:cNvSpPr/>
          <p:nvPr/>
        </p:nvSpPr>
        <p:spPr>
          <a:xfrm>
            <a:off x="731520" y="555040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127C72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60120" y="5577840"/>
            <a:ext cx="1133856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材料完整</a:t>
            </a:r>
            <a:endParaRPr lang="zh-CN" sz="2016"/>
          </a:p>
        </p:txBody>
      </p:sp>
      <p:sp>
        <p:nvSpPr>
          <p:cNvPr id="23" name="text 23"/>
          <p:cNvSpPr txBox="1"/>
          <p:nvPr/>
        </p:nvSpPr>
        <p:spPr>
          <a:xfrm>
            <a:off x="960120" y="6153912"/>
            <a:ext cx="3767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长中文验收、原始字节、独立副本、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960120" y="6487668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分段证据齐全。</a:t>
            </a:r>
            <a:endParaRPr lang="zh-CN" sz="1800"/>
          </a:p>
        </p:txBody>
      </p:sp>
      <p:sp>
        <p:nvSpPr>
          <p:cNvPr id="25" name="rect 25"/>
          <p:cNvSpPr/>
          <p:nvPr/>
        </p:nvSpPr>
        <p:spPr>
          <a:xfrm>
            <a:off x="5193792" y="5340096"/>
            <a:ext cx="4242816" cy="1746504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rect 26"/>
          <p:cNvSpPr/>
          <p:nvPr/>
        </p:nvSpPr>
        <p:spPr>
          <a:xfrm>
            <a:off x="5193792" y="555040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E76A3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422392" y="5577840"/>
            <a:ext cx="164592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生命周期明确</a:t>
            </a:r>
            <a:endParaRPr lang="zh-CN" sz="2016"/>
          </a:p>
        </p:txBody>
      </p:sp>
      <p:sp>
        <p:nvSpPr>
          <p:cNvPr id="28" name="text 28"/>
          <p:cNvSpPr txBox="1"/>
          <p:nvPr/>
        </p:nvSpPr>
        <p:spPr>
          <a:xfrm>
            <a:off x="5422392" y="6153912"/>
            <a:ext cx="373989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关终端 / 停 S / U 崩溃后按原操作核</a:t>
            </a:r>
            <a:endParaRPr lang="zh-CN" sz="1800"/>
          </a:p>
        </p:txBody>
      </p:sp>
      <p:sp>
        <p:nvSpPr>
          <p:cNvPr id="29" name="text 29"/>
          <p:cNvSpPr txBox="1"/>
          <p:nvPr/>
        </p:nvSpPr>
        <p:spPr>
          <a:xfrm>
            <a:off x="5422392" y="6487668"/>
            <a:ext cx="1024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对接续。</a:t>
            </a:r>
            <a:endParaRPr lang="zh-CN" sz="1800"/>
          </a:p>
        </p:txBody>
      </p:sp>
      <p:sp>
        <p:nvSpPr>
          <p:cNvPr id="30" name="rect 30"/>
          <p:cNvSpPr/>
          <p:nvPr/>
        </p:nvSpPr>
        <p:spPr>
          <a:xfrm>
            <a:off x="9656064" y="5340096"/>
            <a:ext cx="4242816" cy="1746504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rect 31"/>
          <p:cNvSpPr/>
          <p:nvPr/>
        </p:nvSpPr>
        <p:spPr>
          <a:xfrm>
            <a:off x="9656064" y="5550408"/>
            <a:ext cx="45720" cy="338328"/>
          </a:xfrm>
          <a:prstGeom prst="roundRect">
            <a:avLst>
              <a:gd name="adj" fmla="val 40000"/>
            </a:avLst>
          </a:prstGeom>
          <a:solidFill>
            <a:srgbClr val="3C7398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9884664" y="5577840"/>
            <a:ext cx="1645920" cy="3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1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备份真能恢复</a:t>
            </a:r>
            <a:endParaRPr lang="zh-CN" sz="2016"/>
          </a:p>
        </p:txBody>
      </p:sp>
      <p:sp>
        <p:nvSpPr>
          <p:cNvPr id="33" name="text 33"/>
          <p:cNvSpPr txBox="1"/>
          <p:nvPr/>
        </p:nvSpPr>
        <p:spPr>
          <a:xfrm>
            <a:off x="9884664" y="6153912"/>
            <a:ext cx="374904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新目录启动，实际读出 commit、报</a:t>
            </a:r>
            <a:endParaRPr lang="zh-CN" sz="1800"/>
          </a:p>
        </p:txBody>
      </p:sp>
      <p:sp>
        <p:nvSpPr>
          <p:cNvPr id="34" name="text 34"/>
          <p:cNvSpPr txBox="1"/>
          <p:nvPr/>
        </p:nvSpPr>
        <p:spPr>
          <a:xfrm>
            <a:off x="9884664" y="6487668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告和审核证据。</a:t>
            </a:r>
            <a:endParaRPr lang="zh-CN" sz="1800"/>
          </a:p>
        </p:txBody>
      </p:sp>
      <p:sp>
        <p:nvSpPr>
          <p:cNvPr id="35" name="text 35"/>
          <p:cNvSpPr txBox="1"/>
          <p:nvPr/>
        </p:nvSpPr>
        <p:spPr>
          <a:xfrm>
            <a:off x="731520" y="7424928"/>
            <a:ext cx="6629400" cy="2834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结果必须绑定同一候选版本与真实入口；mock、历史通过记录和近似环境单列。</a:t>
            </a:r>
            <a:endParaRPr lang="zh-CN" sz="1440"/>
          </a:p>
        </p:txBody>
      </p:sp>
      <p:sp>
        <p:nvSpPr>
          <p:cNvPr id="36" name="text 36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验证与交付</a:t>
            </a:r>
            <a:endParaRPr lang="zh-CN" sz="1296"/>
          </a:p>
        </p:txBody>
      </p:sp>
      <p:sp>
        <p:nvSpPr>
          <p:cNvPr id="37" name="text 37"/>
          <p:cNvSpPr txBox="1"/>
          <p:nvPr/>
        </p:nvSpPr>
        <p:spPr>
          <a:xfrm>
            <a:off x="731520" y="850392"/>
            <a:ext cx="669340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验收的单位：同一条真实用户旅程</a:t>
            </a:r>
            <a:endParaRPr lang="zh-CN" sz="3456"/>
          </a:p>
        </p:txBody>
      </p:sp>
      <p:sp>
        <p:nvSpPr>
          <p:cNvPr id="38" name="text 38"/>
          <p:cNvSpPr txBox="1"/>
          <p:nvPr/>
        </p:nvSpPr>
        <p:spPr>
          <a:xfrm>
            <a:off x="749808" y="1536192"/>
            <a:ext cx="637336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从安装产物到最终成果，逐层记录 PASS / FAIL / NOT RUN。</a:t>
            </a:r>
            <a:endParaRPr lang="zh-CN" sz="1800"/>
          </a:p>
        </p:txBody>
      </p:sp>
      <p:sp>
        <p:nvSpPr>
          <p:cNvPr id="39" name="rect 39"/>
          <p:cNvSpPr/>
          <p:nvPr/>
        </p:nvSpPr>
        <p:spPr>
          <a:xfrm>
            <a:off x="11795760" y="320040"/>
            <a:ext cx="210312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11905488" y="384048"/>
            <a:ext cx="199339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验收计划 / H · 真实验证</a:t>
            </a:r>
            <a:endParaRPr lang="zh-CN" sz="1152"/>
          </a:p>
        </p:txBody>
      </p:sp>
      <p:sp>
        <p:nvSpPr>
          <p:cNvPr id="41" name="line 41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31520" y="7808976"/>
            <a:ext cx="2724912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依据：验收顺序；工作包；C01–C16 补充验收</a:t>
            </a:r>
            <a:endParaRPr lang="zh-CN" sz="1008"/>
          </a:p>
        </p:txBody>
      </p:sp>
      <p:sp>
        <p:nvSpPr>
          <p:cNvPr id="43" name="text 43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28 / 36</a:t>
            </a:r>
            <a:endParaRPr lang="zh-CN" sz="1368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证明收益，需要同时看速度、等待、用量和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85416"/>
            <a:ext cx="6473952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120" y="2386584"/>
            <a:ext cx="694944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吞吐</a:t>
            </a:r>
            <a:endParaRPr lang="zh-CN" sz="2304"/>
          </a:p>
        </p:txBody>
      </p:sp>
      <p:sp>
        <p:nvSpPr>
          <p:cNvPr id="5" name="text 5"/>
          <p:cNvSpPr txBox="1"/>
          <p:nvPr/>
        </p:nvSpPr>
        <p:spPr>
          <a:xfrm>
            <a:off x="960120" y="2916936"/>
            <a:ext cx="302666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相同任务集的总墙钟时间</a:t>
            </a:r>
            <a:endParaRPr lang="zh-CN" sz="2088"/>
          </a:p>
        </p:txBody>
      </p:sp>
      <p:sp>
        <p:nvSpPr>
          <p:cNvPr id="6" name="text 6"/>
          <p:cNvSpPr txBox="1"/>
          <p:nvPr/>
        </p:nvSpPr>
        <p:spPr>
          <a:xfrm>
            <a:off x="960120" y="3282879"/>
            <a:ext cx="2551176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固定时间内 PASS 数</a:t>
            </a:r>
            <a:endParaRPr lang="zh-CN" sz="2088"/>
          </a:p>
        </p:txBody>
      </p:sp>
      <p:sp>
        <p:nvSpPr>
          <p:cNvPr id="7" name="text 7"/>
          <p:cNvSpPr txBox="1"/>
          <p:nvPr/>
        </p:nvSpPr>
        <p:spPr>
          <a:xfrm>
            <a:off x="960120" y="3794760"/>
            <a:ext cx="4910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输入、验收、资源预算一致；串行基线可比较。</a:t>
            </a:r>
            <a:endParaRPr lang="zh-CN" sz="1800"/>
          </a:p>
        </p:txBody>
      </p:sp>
      <p:sp>
        <p:nvSpPr>
          <p:cNvPr id="8" name="rect 8"/>
          <p:cNvSpPr/>
          <p:nvPr/>
        </p:nvSpPr>
        <p:spPr>
          <a:xfrm>
            <a:off x="7424928" y="2185416"/>
            <a:ext cx="6473952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653528" y="2386584"/>
            <a:ext cx="1280160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交付时延</a:t>
            </a:r>
            <a:endParaRPr lang="zh-CN" sz="2304"/>
          </a:p>
        </p:txBody>
      </p:sp>
      <p:sp>
        <p:nvSpPr>
          <p:cNvPr id="10" name="text 10"/>
          <p:cNvSpPr txBox="1"/>
          <p:nvPr/>
        </p:nvSpPr>
        <p:spPr>
          <a:xfrm>
            <a:off x="7653528" y="2916936"/>
            <a:ext cx="213055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提交 → 审核终态</a:t>
            </a:r>
            <a:endParaRPr lang="zh-CN" sz="2088"/>
          </a:p>
        </p:txBody>
      </p:sp>
      <p:sp>
        <p:nvSpPr>
          <p:cNvPr id="11" name="text 11"/>
          <p:cNvSpPr txBox="1"/>
          <p:nvPr/>
        </p:nvSpPr>
        <p:spPr>
          <a:xfrm>
            <a:off x="7653528" y="3282879"/>
            <a:ext cx="302666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含排队、审核、中断等待</a:t>
            </a:r>
            <a:endParaRPr lang="zh-CN" sz="2088"/>
          </a:p>
        </p:txBody>
      </p:sp>
      <p:sp>
        <p:nvSpPr>
          <p:cNvPr id="12" name="text 12"/>
          <p:cNvSpPr txBox="1"/>
          <p:nvPr/>
        </p:nvSpPr>
        <p:spPr>
          <a:xfrm>
            <a:off x="7653528" y="3794760"/>
            <a:ext cx="4910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成功 / 三轮失败分列；未结束年龄和取消单列。</a:t>
            </a:r>
            <a:endParaRPr lang="zh-CN" sz="1800"/>
          </a:p>
        </p:txBody>
      </p:sp>
      <p:sp>
        <p:nvSpPr>
          <p:cNvPr id="13" name="rect 13"/>
          <p:cNvSpPr/>
          <p:nvPr/>
        </p:nvSpPr>
        <p:spPr>
          <a:xfrm>
            <a:off x="731520" y="4736592"/>
            <a:ext cx="6473952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960120" y="4937760"/>
            <a:ext cx="1280160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已知用量</a:t>
            </a:r>
            <a:endParaRPr lang="zh-CN" sz="2304"/>
          </a:p>
        </p:txBody>
      </p:sp>
      <p:sp>
        <p:nvSpPr>
          <p:cNvPr id="15" name="text 15"/>
          <p:cNvSpPr txBox="1"/>
          <p:nvPr/>
        </p:nvSpPr>
        <p:spPr>
          <a:xfrm>
            <a:off x="960120" y="5468112"/>
            <a:ext cx="3209544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整批尝试与返修的 tokens</a:t>
            </a:r>
            <a:endParaRPr lang="zh-CN" sz="2088"/>
          </a:p>
        </p:txBody>
      </p:sp>
      <p:sp>
        <p:nvSpPr>
          <p:cNvPr id="16" name="text 16"/>
          <p:cNvSpPr txBox="1"/>
          <p:nvPr/>
        </p:nvSpPr>
        <p:spPr>
          <a:xfrm>
            <a:off x="960120" y="5834055"/>
            <a:ext cx="3291840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同时报告角色范围与覆盖率</a:t>
            </a:r>
            <a:endParaRPr lang="zh-CN" sz="2088"/>
          </a:p>
        </p:txBody>
      </p:sp>
      <p:sp>
        <p:nvSpPr>
          <p:cNvPr id="17" name="text 17"/>
          <p:cNvSpPr txBox="1"/>
          <p:nvPr/>
        </p:nvSpPr>
        <p:spPr>
          <a:xfrm>
            <a:off x="960120" y="6345936"/>
            <a:ext cx="5138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缺失为未知；失败消耗保留；token 不等于账单。</a:t>
            </a:r>
            <a:endParaRPr lang="zh-CN" sz="1800"/>
          </a:p>
        </p:txBody>
      </p:sp>
      <p:sp>
        <p:nvSpPr>
          <p:cNvPr id="18" name="rect 18"/>
          <p:cNvSpPr/>
          <p:nvPr/>
        </p:nvSpPr>
        <p:spPr>
          <a:xfrm>
            <a:off x="7424928" y="4736592"/>
            <a:ext cx="6473952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7653528" y="4937760"/>
            <a:ext cx="1280160" cy="453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4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学习增益</a:t>
            </a:r>
            <a:endParaRPr lang="zh-CN" sz="2304"/>
          </a:p>
        </p:txBody>
      </p:sp>
      <p:sp>
        <p:nvSpPr>
          <p:cNvPr id="20" name="text 20"/>
          <p:cNvSpPr txBox="1"/>
          <p:nvPr/>
        </p:nvSpPr>
        <p:spPr>
          <a:xfrm>
            <a:off x="7653528" y="5468112"/>
            <a:ext cx="267919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能力策略 vs 随机对照</a:t>
            </a:r>
            <a:endParaRPr lang="zh-CN" sz="2088"/>
          </a:p>
        </p:txBody>
      </p:sp>
      <p:sp>
        <p:nvSpPr>
          <p:cNvPr id="21" name="text 21"/>
          <p:cNvSpPr txBox="1"/>
          <p:nvPr/>
        </p:nvSpPr>
        <p:spPr>
          <a:xfrm>
            <a:off x="7653528" y="5834055"/>
            <a:ext cx="2496312" cy="4110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8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同难度、同成熟窗口</a:t>
            </a:r>
            <a:endParaRPr lang="zh-CN" sz="2088"/>
          </a:p>
        </p:txBody>
      </p:sp>
      <p:sp>
        <p:nvSpPr>
          <p:cNvPr id="22" name="text 22"/>
          <p:cNvSpPr txBox="1"/>
          <p:nvPr/>
        </p:nvSpPr>
        <p:spPr>
          <a:xfrm>
            <a:off x="7653528" y="6345936"/>
            <a:ext cx="4224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记录初始策略组；样本不足时保留随机。</a:t>
            </a:r>
            <a:endParaRPr lang="zh-CN" sz="1800"/>
          </a:p>
        </p:txBody>
      </p:sp>
      <p:sp>
        <p:nvSpPr>
          <p:cNvPr id="23" name="text 23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验证与交付</a:t>
            </a:r>
            <a:endParaRPr lang="zh-CN" sz="1296"/>
          </a:p>
        </p:txBody>
      </p:sp>
      <p:sp>
        <p:nvSpPr>
          <p:cNvPr id="24" name="text 24"/>
          <p:cNvSpPr txBox="1"/>
          <p:nvPr/>
        </p:nvSpPr>
        <p:spPr>
          <a:xfrm>
            <a:off x="731520" y="850392"/>
            <a:ext cx="9326880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证明收益，需要同时看速度、等待、用量和对照</a:t>
            </a:r>
            <a:endParaRPr lang="zh-CN" sz="3456"/>
          </a:p>
        </p:txBody>
      </p:sp>
      <p:sp>
        <p:nvSpPr>
          <p:cNvPr id="25" name="text 25"/>
          <p:cNvSpPr txBox="1"/>
          <p:nvPr/>
        </p:nvSpPr>
        <p:spPr>
          <a:xfrm>
            <a:off x="749808" y="1536192"/>
            <a:ext cx="6281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机制可运行与产品有效果分别报告；缺失数据明确标为未知。</a:t>
            </a:r>
            <a:endParaRPr lang="zh-CN" sz="1800"/>
          </a:p>
        </p:txBody>
      </p:sp>
      <p:sp>
        <p:nvSpPr>
          <p:cNvPr id="26" name="rect 26"/>
          <p:cNvSpPr/>
          <p:nvPr/>
        </p:nvSpPr>
        <p:spPr>
          <a:xfrm>
            <a:off x="11923776" y="320040"/>
            <a:ext cx="1975104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2033504" y="384048"/>
            <a:ext cx="1865376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指标口径 / 无实测收益</a:t>
            </a:r>
            <a:endParaRPr lang="zh-CN" sz="1152"/>
          </a:p>
        </p:txBody>
      </p:sp>
      <p:sp>
        <p:nvSpPr>
          <p:cNvPr id="28" name="line 28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31520" y="7808976"/>
            <a:ext cx="202996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依据：最小效果指标；队列与对照</a:t>
            </a:r>
            <a:endParaRPr lang="zh-CN" sz="1008"/>
          </a:p>
        </p:txBody>
      </p:sp>
      <p:sp>
        <p:nvSpPr>
          <p:cNvPr id="30" name="text 30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29 / 36</a:t>
            </a:r>
            <a:endParaRPr lang="zh-CN" sz="1368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下一步：把关键未知逐个变成可验收的承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57984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67712"/>
            <a:ext cx="74066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决策包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3163824" y="2267712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需要明确什么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9747504" y="2267712"/>
            <a:ext cx="17922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形成的可评审结果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42616"/>
            <a:ext cx="13167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79776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先定范围</a:t>
            </a:r>
            <a:endParaRPr lang="zh-CN" sz="1872"/>
          </a:p>
        </p:txBody>
      </p:sp>
      <p:sp>
        <p:nvSpPr>
          <p:cNvPr id="9" name="text 9"/>
          <p:cNvSpPr txBox="1"/>
          <p:nvPr/>
        </p:nvSpPr>
        <p:spPr>
          <a:xfrm>
            <a:off x="3163824" y="2779776"/>
            <a:ext cx="571500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首发主机组合；V0 阶段限制；原生工具与客户端矩阵</a:t>
            </a:r>
            <a:endParaRPr lang="zh-CN" sz="1872"/>
          </a:p>
        </p:txBody>
      </p:sp>
      <p:sp>
        <p:nvSpPr>
          <p:cNvPr id="10" name="text 10"/>
          <p:cNvSpPr txBox="1"/>
          <p:nvPr/>
        </p:nvSpPr>
        <p:spPr>
          <a:xfrm>
            <a:off x="9747504" y="2779776"/>
            <a:ext cx="352958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产品范围决定 + SupportProfile</a:t>
            </a:r>
            <a:endParaRPr lang="zh-CN" sz="1872"/>
          </a:p>
        </p:txBody>
      </p:sp>
      <p:sp>
        <p:nvSpPr>
          <p:cNvPr id="11" name="rect 11"/>
          <p:cNvSpPr/>
          <p:nvPr/>
        </p:nvSpPr>
        <p:spPr>
          <a:xfrm>
            <a:off x="731520" y="3483864"/>
            <a:ext cx="13167360" cy="84124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77824" y="3621024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再证假设</a:t>
            </a:r>
            <a:endParaRPr lang="zh-CN" sz="1872"/>
          </a:p>
        </p:txBody>
      </p:sp>
      <p:sp>
        <p:nvSpPr>
          <p:cNvPr id="13" name="text 13"/>
          <p:cNvSpPr txBox="1"/>
          <p:nvPr/>
        </p:nvSpPr>
        <p:spPr>
          <a:xfrm>
            <a:off x="3163824" y="3621024"/>
            <a:ext cx="5349240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资源委派、后代归属、U 独立、通知与长审核路径</a:t>
            </a:r>
            <a:endParaRPr lang="zh-CN" sz="1872"/>
          </a:p>
        </p:txBody>
      </p:sp>
      <p:sp>
        <p:nvSpPr>
          <p:cNvPr id="14" name="text 14"/>
          <p:cNvSpPr txBox="1"/>
          <p:nvPr/>
        </p:nvSpPr>
        <p:spPr>
          <a:xfrm>
            <a:off x="9747504" y="3621024"/>
            <a:ext cx="224942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版本准确的探针证据</a:t>
            </a:r>
            <a:endParaRPr lang="zh-CN" sz="1872"/>
          </a:p>
        </p:txBody>
      </p:sp>
      <p:sp>
        <p:nvSpPr>
          <p:cNvPr id="15" name="rect 15"/>
          <p:cNvSpPr/>
          <p:nvPr/>
        </p:nvSpPr>
        <p:spPr>
          <a:xfrm>
            <a:off x="731520" y="4325112"/>
            <a:ext cx="131673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4462272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冻结合同</a:t>
            </a:r>
            <a:endParaRPr lang="zh-CN" sz="1872"/>
          </a:p>
        </p:txBody>
      </p:sp>
      <p:sp>
        <p:nvSpPr>
          <p:cNvPr id="17" name="text 17"/>
          <p:cNvSpPr txBox="1"/>
          <p:nvPr/>
        </p:nvSpPr>
        <p:spPr>
          <a:xfrm>
            <a:off x="3163824" y="4462272"/>
            <a:ext cx="5961888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API、权限、幂等、资源、大小、租期、恢复与保留参数</a:t>
            </a:r>
            <a:endParaRPr lang="zh-CN" sz="1872"/>
          </a:p>
        </p:txBody>
      </p:sp>
      <p:sp>
        <p:nvSpPr>
          <p:cNvPr id="18" name="text 18"/>
          <p:cNvSpPr txBox="1"/>
          <p:nvPr/>
        </p:nvSpPr>
        <p:spPr>
          <a:xfrm>
            <a:off x="9747504" y="4462272"/>
            <a:ext cx="272491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唯一契约与可运行正反例</a:t>
            </a:r>
            <a:endParaRPr lang="zh-CN" sz="1872"/>
          </a:p>
        </p:txBody>
      </p:sp>
      <p:sp>
        <p:nvSpPr>
          <p:cNvPr id="19" name="rect 19"/>
          <p:cNvSpPr/>
          <p:nvPr/>
        </p:nvSpPr>
        <p:spPr>
          <a:xfrm>
            <a:off x="731520" y="5166360"/>
            <a:ext cx="13167360" cy="84124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77824" y="5303520"/>
            <a:ext cx="106070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交付闭环</a:t>
            </a:r>
            <a:endParaRPr lang="zh-CN" sz="1872"/>
          </a:p>
        </p:txBody>
      </p:sp>
      <p:sp>
        <p:nvSpPr>
          <p:cNvPr id="21" name="text 21"/>
          <p:cNvSpPr txBox="1"/>
          <p:nvPr/>
        </p:nvSpPr>
        <p:spPr>
          <a:xfrm>
            <a:off x="3163824" y="5303520"/>
            <a:ext cx="5925312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配置 → 提交 → 执行 → 独审 → 成果；再验证并行故障</a:t>
            </a:r>
            <a:endParaRPr lang="zh-CN" sz="1872"/>
          </a:p>
        </p:txBody>
      </p:sp>
      <p:sp>
        <p:nvSpPr>
          <p:cNvPr id="22" name="text 22"/>
          <p:cNvSpPr txBox="1"/>
          <p:nvPr/>
        </p:nvSpPr>
        <p:spPr>
          <a:xfrm>
            <a:off x="9747504" y="5303520"/>
            <a:ext cx="2249424" cy="3685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2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真实端到端验收记录</a:t>
            </a:r>
            <a:endParaRPr lang="zh-CN" sz="1872"/>
          </a:p>
        </p:txBody>
      </p:sp>
      <p:sp>
        <p:nvSpPr>
          <p:cNvPr id="23" name="rect 23"/>
          <p:cNvSpPr/>
          <p:nvPr/>
        </p:nvSpPr>
        <p:spPr>
          <a:xfrm>
            <a:off x="731520" y="6025896"/>
            <a:ext cx="13167360" cy="1344168"/>
          </a:xfrm>
          <a:prstGeom prst="roundRect">
            <a:avLst>
              <a:gd name="adj" fmla="val 12245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024128" y="6217920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F1C887"/>
                </a:solidFill>
                <a:latin typeface="Microsoft YaHei"/>
                <a:ea typeface="Microsoft YaHei"/>
                <a:cs typeface="Arial"/>
              </a:rPr>
              <a:t xml:space="preserve">值得兑现的结果</a:t>
            </a:r>
            <a:endParaRPr lang="zh-CN" sz="1800"/>
          </a:p>
        </p:txBody>
      </p:sp>
      <p:sp>
        <p:nvSpPr>
          <p:cNvPr id="25" name="text 25"/>
          <p:cNvSpPr txBox="1"/>
          <p:nvPr/>
        </p:nvSpPr>
        <p:spPr>
          <a:xfrm>
            <a:off x="1024128" y="6665976"/>
            <a:ext cx="9710928" cy="496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20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主线只管提出任务与使用成果，系统把过程推进到一个可信的结论。</a:t>
            </a:r>
            <a:endParaRPr lang="zh-CN" sz="2520"/>
          </a:p>
        </p:txBody>
      </p:sp>
      <p:sp>
        <p:nvSpPr>
          <p:cNvPr id="26" name="text 26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决策与行动</a:t>
            </a:r>
            <a:endParaRPr lang="zh-CN" sz="1296"/>
          </a:p>
        </p:txBody>
      </p:sp>
      <p:sp>
        <p:nvSpPr>
          <p:cNvPr id="27" name="text 27"/>
          <p:cNvSpPr txBox="1"/>
          <p:nvPr/>
        </p:nvSpPr>
        <p:spPr>
          <a:xfrm>
            <a:off x="731520" y="850392"/>
            <a:ext cx="8449056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下一步：把关键未知逐个变成可验收的承诺</a:t>
            </a:r>
            <a:endParaRPr lang="zh-CN" sz="3456"/>
          </a:p>
        </p:txBody>
      </p:sp>
      <p:sp>
        <p:nvSpPr>
          <p:cNvPr id="28" name="text 28"/>
          <p:cNvSpPr txBox="1"/>
          <p:nvPr/>
        </p:nvSpPr>
        <p:spPr>
          <a:xfrm>
            <a:off x="749808" y="1536192"/>
            <a:ext cx="6510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以下是推进顺序建议；没有替项目擅自批准分期、平台或参数。</a:t>
            </a:r>
            <a:endParaRPr lang="zh-CN" sz="1800"/>
          </a:p>
        </p:txBody>
      </p:sp>
      <p:sp>
        <p:nvSpPr>
          <p:cNvPr id="29" name="rect 29"/>
          <p:cNvSpPr/>
          <p:nvPr/>
        </p:nvSpPr>
        <p:spPr>
          <a:xfrm>
            <a:off x="11777472" y="320040"/>
            <a:ext cx="2121408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1887200" y="384048"/>
            <a:ext cx="2011680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D · 推进建议 / P·H · 待闭合</a:t>
            </a:r>
            <a:endParaRPr lang="zh-CN" sz="1152"/>
          </a:p>
        </p:txBody>
      </p:sp>
      <p:sp>
        <p:nvSpPr>
          <p:cNvPr id="31" name="line 31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31520" y="7808976"/>
            <a:ext cx="243230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依据：待定决策；A–E 工作包；决定清单</a:t>
            </a:r>
            <a:endParaRPr lang="zh-CN" sz="1008"/>
          </a:p>
        </p:txBody>
      </p:sp>
      <p:sp>
        <p:nvSpPr>
          <p:cNvPr id="33" name="text 33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30 / 36</a:t>
            </a:r>
            <a:endParaRPr lang="zh-CN" sz="1368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附录：当前到底有什么，哪些仍然未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67128"/>
            <a:ext cx="2487168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14400" y="2295144"/>
            <a:ext cx="448056" cy="751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R</a:t>
            </a:r>
            <a:endParaRPr lang="zh-CN" sz="3816"/>
          </a:p>
        </p:txBody>
      </p:sp>
      <p:sp>
        <p:nvSpPr>
          <p:cNvPr id="5" name="text 5"/>
          <p:cNvSpPr txBox="1"/>
          <p:nvPr/>
        </p:nvSpPr>
        <p:spPr>
          <a:xfrm>
            <a:off x="1536192" y="2496312"/>
            <a:ext cx="12070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已确认要求</a:t>
            </a:r>
            <a:endParaRPr lang="zh-CN" sz="1728"/>
          </a:p>
        </p:txBody>
      </p:sp>
      <p:sp>
        <p:nvSpPr>
          <p:cNvPr id="6" name="rect 6"/>
          <p:cNvSpPr/>
          <p:nvPr/>
        </p:nvSpPr>
        <p:spPr>
          <a:xfrm>
            <a:off x="3401568" y="2167128"/>
            <a:ext cx="2487168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584448" y="2295144"/>
            <a:ext cx="493776" cy="751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16" b="1" dirty="0">
                <a:solidFill>
                  <a:srgbClr val="3C7398"/>
                </a:solidFill>
                <a:latin typeface="Microsoft YaHei"/>
                <a:ea typeface="Microsoft YaHei"/>
                <a:cs typeface="Arial"/>
              </a:rPr>
              <a:t xml:space="preserve">D</a:t>
            </a:r>
            <a:endParaRPr lang="zh-CN" sz="3816"/>
          </a:p>
        </p:txBody>
      </p:sp>
      <p:sp>
        <p:nvSpPr>
          <p:cNvPr id="8" name="text 8"/>
          <p:cNvSpPr txBox="1"/>
          <p:nvPr/>
        </p:nvSpPr>
        <p:spPr>
          <a:xfrm>
            <a:off x="4206240" y="2496312"/>
            <a:ext cx="12070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待评审设计</a:t>
            </a:r>
            <a:endParaRPr lang="zh-CN" sz="1728"/>
          </a:p>
        </p:txBody>
      </p:sp>
      <p:sp>
        <p:nvSpPr>
          <p:cNvPr id="9" name="rect 9"/>
          <p:cNvSpPr/>
          <p:nvPr/>
        </p:nvSpPr>
        <p:spPr>
          <a:xfrm>
            <a:off x="6071616" y="2167128"/>
            <a:ext cx="2487168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254496" y="2295144"/>
            <a:ext cx="512064" cy="751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16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H</a:t>
            </a:r>
            <a:endParaRPr lang="zh-CN" sz="3816"/>
          </a:p>
        </p:txBody>
      </p:sp>
      <p:sp>
        <p:nvSpPr>
          <p:cNvPr id="11" name="text 11"/>
          <p:cNvSpPr txBox="1"/>
          <p:nvPr/>
        </p:nvSpPr>
        <p:spPr>
          <a:xfrm>
            <a:off x="6876288" y="2496312"/>
            <a:ext cx="12070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待验证假设</a:t>
            </a:r>
            <a:endParaRPr lang="zh-CN" sz="1728"/>
          </a:p>
        </p:txBody>
      </p:sp>
      <p:sp>
        <p:nvSpPr>
          <p:cNvPr id="12" name="rect 12"/>
          <p:cNvSpPr/>
          <p:nvPr/>
        </p:nvSpPr>
        <p:spPr>
          <a:xfrm>
            <a:off x="8741664" y="2167128"/>
            <a:ext cx="2487168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924544" y="2295144"/>
            <a:ext cx="429768" cy="751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16" b="1" dirty="0">
                <a:solidFill>
                  <a:srgbClr val="E76A3B"/>
                </a:solidFill>
                <a:latin typeface="Microsoft YaHei"/>
                <a:ea typeface="Microsoft YaHei"/>
                <a:cs typeface="Arial"/>
              </a:rPr>
              <a:t xml:space="preserve">P</a:t>
            </a:r>
            <a:endParaRPr lang="zh-CN" sz="3816"/>
          </a:p>
        </p:txBody>
      </p:sp>
      <p:sp>
        <p:nvSpPr>
          <p:cNvPr id="14" name="text 14"/>
          <p:cNvSpPr txBox="1"/>
          <p:nvPr/>
        </p:nvSpPr>
        <p:spPr>
          <a:xfrm>
            <a:off x="9546336" y="2496312"/>
            <a:ext cx="1207008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待选择参数</a:t>
            </a:r>
            <a:endParaRPr lang="zh-CN" sz="1728"/>
          </a:p>
        </p:txBody>
      </p:sp>
      <p:sp>
        <p:nvSpPr>
          <p:cNvPr id="15" name="rect 15"/>
          <p:cNvSpPr/>
          <p:nvPr/>
        </p:nvSpPr>
        <p:spPr>
          <a:xfrm>
            <a:off x="11411712" y="2167128"/>
            <a:ext cx="2487168" cy="1197864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594592" y="2295144"/>
            <a:ext cx="384048" cy="751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81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</a:t>
            </a:r>
            <a:endParaRPr lang="zh-CN" sz="3816"/>
          </a:p>
        </p:txBody>
      </p:sp>
      <p:sp>
        <p:nvSpPr>
          <p:cNvPr id="17" name="text 17"/>
          <p:cNvSpPr txBox="1"/>
          <p:nvPr/>
        </p:nvSpPr>
        <p:spPr>
          <a:xfrm>
            <a:off x="12216384" y="2496312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有范围的事实</a:t>
            </a:r>
            <a:endParaRPr lang="zh-CN" sz="1728"/>
          </a:p>
        </p:txBody>
      </p:sp>
      <p:sp>
        <p:nvSpPr>
          <p:cNvPr id="18" name="rect 18"/>
          <p:cNvSpPr/>
          <p:nvPr/>
        </p:nvSpPr>
        <p:spPr>
          <a:xfrm>
            <a:off x="731520" y="3739896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77824" y="3849624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检查范围</a:t>
            </a:r>
            <a:endParaRPr lang="zh-CN" sz="1656"/>
          </a:p>
        </p:txBody>
      </p:sp>
      <p:sp>
        <p:nvSpPr>
          <p:cNvPr id="20" name="text 20"/>
          <p:cNvSpPr txBox="1"/>
          <p:nvPr/>
        </p:nvSpPr>
        <p:spPr>
          <a:xfrm>
            <a:off x="4809744" y="3849624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本次结果</a:t>
            </a:r>
            <a:endParaRPr lang="zh-CN" sz="1656"/>
          </a:p>
        </p:txBody>
      </p:sp>
      <p:sp>
        <p:nvSpPr>
          <p:cNvPr id="21" name="text 21"/>
          <p:cNvSpPr txBox="1"/>
          <p:nvPr/>
        </p:nvSpPr>
        <p:spPr>
          <a:xfrm>
            <a:off x="8055864" y="3849624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结论边界</a:t>
            </a:r>
            <a:endParaRPr lang="zh-CN" sz="1656"/>
          </a:p>
        </p:txBody>
      </p:sp>
      <p:sp>
        <p:nvSpPr>
          <p:cNvPr id="22" name="rect 22"/>
          <p:cNvSpPr/>
          <p:nvPr/>
        </p:nvSpPr>
        <p:spPr>
          <a:xfrm>
            <a:off x="731520" y="4224528"/>
            <a:ext cx="131673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77824" y="4361688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契约结构与一致性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4809744" y="4361688"/>
            <a:ext cx="66751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PASS</a:t>
            </a:r>
            <a:endParaRPr lang="zh-CN" sz="1800"/>
          </a:p>
        </p:txBody>
      </p:sp>
      <p:sp>
        <p:nvSpPr>
          <p:cNvPr id="25" name="text 25"/>
          <p:cNvSpPr txBox="1"/>
          <p:nvPr/>
        </p:nvSpPr>
        <p:spPr>
          <a:xfrm>
            <a:off x="8055864" y="4361688"/>
            <a:ext cx="432511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29 操作；153 注册模型；3 份生成物一致</a:t>
            </a:r>
            <a:endParaRPr lang="zh-CN" sz="1800"/>
          </a:p>
        </p:txBody>
      </p:sp>
      <p:sp>
        <p:nvSpPr>
          <p:cNvPr id="26" name="rect 26"/>
          <p:cNvSpPr/>
          <p:nvPr/>
        </p:nvSpPr>
        <p:spPr>
          <a:xfrm>
            <a:off x="731520" y="4928616"/>
            <a:ext cx="13167360" cy="70408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77824" y="5065776"/>
            <a:ext cx="1252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样例与反例</a:t>
            </a:r>
            <a:endParaRPr lang="zh-CN" sz="1800"/>
          </a:p>
        </p:txBody>
      </p:sp>
      <p:sp>
        <p:nvSpPr>
          <p:cNvPr id="28" name="text 28"/>
          <p:cNvSpPr txBox="1"/>
          <p:nvPr/>
        </p:nvSpPr>
        <p:spPr>
          <a:xfrm>
            <a:off x="4809744" y="5065776"/>
            <a:ext cx="66751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PASS</a:t>
            </a:r>
            <a:endParaRPr lang="zh-CN" sz="1800"/>
          </a:p>
        </p:txBody>
      </p:sp>
      <p:sp>
        <p:nvSpPr>
          <p:cNvPr id="29" name="text 29"/>
          <p:cNvSpPr txBox="1"/>
          <p:nvPr/>
        </p:nvSpPr>
        <p:spPr>
          <a:xfrm>
            <a:off x="8055864" y="5065776"/>
            <a:ext cx="336499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8 正例；19 反例；3 组拆分回归</a:t>
            </a:r>
            <a:endParaRPr lang="zh-CN" sz="1800"/>
          </a:p>
        </p:txBody>
      </p:sp>
      <p:sp>
        <p:nvSpPr>
          <p:cNvPr id="30" name="rect 30"/>
          <p:cNvSpPr/>
          <p:nvPr/>
        </p:nvSpPr>
        <p:spPr>
          <a:xfrm>
            <a:off x="731520" y="5632704"/>
            <a:ext cx="131673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77824" y="5769864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原始快照文件摘要</a:t>
            </a:r>
            <a:endParaRPr lang="zh-CN" sz="1800"/>
          </a:p>
        </p:txBody>
      </p:sp>
      <p:sp>
        <p:nvSpPr>
          <p:cNvPr id="32" name="text 32"/>
          <p:cNvSpPr txBox="1"/>
          <p:nvPr/>
        </p:nvSpPr>
        <p:spPr>
          <a:xfrm>
            <a:off x="4809744" y="5769864"/>
            <a:ext cx="128016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32 / 32 OK</a:t>
            </a:r>
            <a:endParaRPr lang="zh-CN" sz="1800"/>
          </a:p>
        </p:txBody>
      </p:sp>
      <p:sp>
        <p:nvSpPr>
          <p:cNvPr id="33" name="text 33"/>
          <p:cNvSpPr txBox="1"/>
          <p:nvPr/>
        </p:nvSpPr>
        <p:spPr>
          <a:xfrm>
            <a:off x="8055864" y="5769864"/>
            <a:ext cx="359359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核对既有 SHA256SUMS 覆盖文件</a:t>
            </a:r>
            <a:endParaRPr lang="zh-CN" sz="1800"/>
          </a:p>
        </p:txBody>
      </p:sp>
      <p:sp>
        <p:nvSpPr>
          <p:cNvPr id="34" name="rect 34"/>
          <p:cNvSpPr/>
          <p:nvPr/>
        </p:nvSpPr>
        <p:spPr>
          <a:xfrm>
            <a:off x="731520" y="6336792"/>
            <a:ext cx="13167360" cy="70408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877824" y="6473952"/>
            <a:ext cx="241401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真实服务 / 模型 / 主机</a:t>
            </a:r>
            <a:endParaRPr lang="zh-CN" sz="1800"/>
          </a:p>
        </p:txBody>
      </p:sp>
      <p:sp>
        <p:nvSpPr>
          <p:cNvPr id="36" name="text 36"/>
          <p:cNvSpPr txBox="1"/>
          <p:nvPr/>
        </p:nvSpPr>
        <p:spPr>
          <a:xfrm>
            <a:off x="4809744" y="6473952"/>
            <a:ext cx="117043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NOT RUN</a:t>
            </a:r>
            <a:endParaRPr lang="zh-CN" sz="1800"/>
          </a:p>
        </p:txBody>
      </p:sp>
      <p:sp>
        <p:nvSpPr>
          <p:cNvPr id="37" name="text 37"/>
          <p:cNvSpPr txBox="1"/>
          <p:nvPr/>
        </p:nvSpPr>
        <p:spPr>
          <a:xfrm>
            <a:off x="8055864" y="6473952"/>
            <a:ext cx="3767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没有新服务实现与真实效果验收证据</a:t>
            </a:r>
            <a:endParaRPr lang="zh-CN" sz="1800"/>
          </a:p>
        </p:txBody>
      </p:sp>
      <p:sp>
        <p:nvSpPr>
          <p:cNvPr id="38" name="text 38"/>
          <p:cNvSpPr txBox="1"/>
          <p:nvPr/>
        </p:nvSpPr>
        <p:spPr>
          <a:xfrm>
            <a:off x="731520" y="7178040"/>
            <a:ext cx="83027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离线可执行设计契约 ≠ 已运行的新产品。每页保留文件依据，详细行号见讲解备注。</a:t>
            </a:r>
            <a:endParaRPr lang="zh-CN" sz="1728"/>
          </a:p>
        </p:txBody>
      </p:sp>
      <p:sp>
        <p:nvSpPr>
          <p:cNvPr id="39" name="text 39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证据与追踪</a:t>
            </a:r>
            <a:endParaRPr lang="zh-CN" sz="1296"/>
          </a:p>
        </p:txBody>
      </p:sp>
      <p:sp>
        <p:nvSpPr>
          <p:cNvPr id="40" name="text 40"/>
          <p:cNvSpPr txBox="1"/>
          <p:nvPr/>
        </p:nvSpPr>
        <p:spPr>
          <a:xfrm>
            <a:off x="731520" y="850392"/>
            <a:ext cx="7571232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附录：当前到底有什么，哪些仍然未知</a:t>
            </a:r>
            <a:endParaRPr lang="zh-CN" sz="3456"/>
          </a:p>
        </p:txBody>
      </p:sp>
      <p:sp>
        <p:nvSpPr>
          <p:cNvPr id="41" name="text 41"/>
          <p:cNvSpPr txBox="1"/>
          <p:nvPr/>
        </p:nvSpPr>
        <p:spPr>
          <a:xfrm>
            <a:off x="749808" y="1536192"/>
            <a:ext cx="7653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报告制作时重新运行了现有离线检查，未运行真实服务、模型或主机验收。</a:t>
            </a:r>
            <a:endParaRPr lang="zh-CN" sz="1800"/>
          </a:p>
        </p:txBody>
      </p:sp>
      <p:sp>
        <p:nvSpPr>
          <p:cNvPr id="42" name="rect 42"/>
          <p:cNvSpPr/>
          <p:nvPr/>
        </p:nvSpPr>
        <p:spPr>
          <a:xfrm>
            <a:off x="11612880" y="320040"/>
            <a:ext cx="228600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11722608" y="384048"/>
            <a:ext cx="217627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F · 本次复核 / R·D·H·P · 状态</a:t>
            </a:r>
            <a:endParaRPr lang="zh-CN" sz="1152"/>
          </a:p>
        </p:txBody>
      </p:sp>
      <p:sp>
        <p:nvSpPr>
          <p:cNvPr id="44" name="line 44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731520" y="7808976"/>
            <a:ext cx="267004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依据：决定状态；校验方法与边界；快照审计</a:t>
            </a:r>
            <a:endParaRPr lang="zh-CN" sz="1008"/>
          </a:p>
        </p:txBody>
      </p:sp>
      <p:sp>
        <p:nvSpPr>
          <p:cNvPr id="46" name="text 46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31 / 36</a:t>
            </a:r>
            <a:endParaRPr lang="zh-CN" sz="1368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附录：需求追踪 F01–F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67128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76856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编号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1792224" y="2276856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需求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4901184" y="227685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设计机制</a:t>
            </a:r>
            <a:endParaRPr lang="zh-CN" sz="1656"/>
          </a:p>
        </p:txBody>
      </p:sp>
      <p:sp>
        <p:nvSpPr>
          <p:cNvPr id="7" name="text 7"/>
          <p:cNvSpPr txBox="1"/>
          <p:nvPr/>
        </p:nvSpPr>
        <p:spPr>
          <a:xfrm>
            <a:off x="10204704" y="227685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关键验收</a:t>
            </a:r>
            <a:endParaRPr lang="zh-CN" sz="1656"/>
          </a:p>
        </p:txBody>
      </p:sp>
      <p:sp>
        <p:nvSpPr>
          <p:cNvPr id="8" name="rect 8"/>
          <p:cNvSpPr/>
          <p:nvPr/>
        </p:nvSpPr>
        <p:spPr>
          <a:xfrm>
            <a:off x="731520" y="2651760"/>
            <a:ext cx="1316736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77824" y="2788920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F01</a:t>
            </a:r>
            <a:endParaRPr lang="zh-CN" sz="1656"/>
          </a:p>
        </p:txBody>
      </p:sp>
      <p:sp>
        <p:nvSpPr>
          <p:cNvPr id="10" name="text 10"/>
          <p:cNvSpPr txBox="1"/>
          <p:nvPr/>
        </p:nvSpPr>
        <p:spPr>
          <a:xfrm>
            <a:off x="1792224" y="2788920"/>
            <a:ext cx="116128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创建与查询</a:t>
            </a:r>
            <a:endParaRPr lang="zh-CN" sz="1656"/>
          </a:p>
        </p:txBody>
      </p:sp>
      <p:sp>
        <p:nvSpPr>
          <p:cNvPr id="11" name="text 11"/>
          <p:cNvSpPr txBox="1"/>
          <p:nvPr/>
        </p:nvSpPr>
        <p:spPr>
          <a:xfrm>
            <a:off x="4901184" y="2788920"/>
            <a:ext cx="36667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TaskSpec + 持久回执 + request_key</a:t>
            </a:r>
            <a:endParaRPr lang="zh-CN" sz="1656"/>
          </a:p>
        </p:txBody>
      </p:sp>
      <p:sp>
        <p:nvSpPr>
          <p:cNvPr id="12" name="text 12"/>
          <p:cNvSpPr txBox="1"/>
          <p:nvPr/>
        </p:nvSpPr>
        <p:spPr>
          <a:xfrm>
            <a:off x="10204704" y="2788920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退出与重发均不丢、不重复</a:t>
            </a:r>
            <a:endParaRPr lang="zh-CN" sz="1656"/>
          </a:p>
        </p:txBody>
      </p:sp>
      <p:sp>
        <p:nvSpPr>
          <p:cNvPr id="13" name="rect 13"/>
          <p:cNvSpPr/>
          <p:nvPr/>
        </p:nvSpPr>
        <p:spPr>
          <a:xfrm>
            <a:off x="731520" y="3172968"/>
            <a:ext cx="13167360" cy="52120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77824" y="3310128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F02</a:t>
            </a:r>
            <a:endParaRPr lang="zh-CN" sz="1656"/>
          </a:p>
        </p:txBody>
      </p:sp>
      <p:sp>
        <p:nvSpPr>
          <p:cNvPr id="15" name="text 15"/>
          <p:cNvSpPr txBox="1"/>
          <p:nvPr/>
        </p:nvSpPr>
        <p:spPr>
          <a:xfrm>
            <a:off x="1792224" y="3310128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自动分配与并行</a:t>
            </a:r>
            <a:endParaRPr lang="zh-CN" sz="1656"/>
          </a:p>
        </p:txBody>
      </p:sp>
      <p:sp>
        <p:nvSpPr>
          <p:cNvPr id="16" name="text 16"/>
          <p:cNvSpPr txBox="1"/>
          <p:nvPr/>
        </p:nvSpPr>
        <p:spPr>
          <a:xfrm>
            <a:off x="4901184" y="3310128"/>
            <a:ext cx="348386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固定池；随机 / 能力偏好；原子准入</a:t>
            </a:r>
            <a:endParaRPr lang="zh-CN" sz="1656"/>
          </a:p>
        </p:txBody>
      </p:sp>
      <p:sp>
        <p:nvSpPr>
          <p:cNvPr id="17" name="text 17"/>
          <p:cNvSpPr txBox="1"/>
          <p:nvPr/>
        </p:nvSpPr>
        <p:spPr>
          <a:xfrm>
            <a:off x="10204704" y="3310128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无模型指定；唯一活动执行</a:t>
            </a:r>
            <a:endParaRPr lang="zh-CN" sz="1656"/>
          </a:p>
        </p:txBody>
      </p:sp>
      <p:sp>
        <p:nvSpPr>
          <p:cNvPr id="18" name="rect 18"/>
          <p:cNvSpPr/>
          <p:nvPr/>
        </p:nvSpPr>
        <p:spPr>
          <a:xfrm>
            <a:off x="731520" y="3694176"/>
            <a:ext cx="1316736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77824" y="3831336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F03</a:t>
            </a:r>
            <a:endParaRPr lang="zh-CN" sz="1656"/>
          </a:p>
        </p:txBody>
      </p:sp>
      <p:sp>
        <p:nvSpPr>
          <p:cNvPr id="20" name="text 20"/>
          <p:cNvSpPr txBox="1"/>
          <p:nvPr/>
        </p:nvSpPr>
        <p:spPr>
          <a:xfrm>
            <a:off x="1792224" y="3831336"/>
            <a:ext cx="12984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原生 worker</a:t>
            </a:r>
            <a:endParaRPr lang="zh-CN" sz="1656"/>
          </a:p>
        </p:txBody>
      </p:sp>
      <p:sp>
        <p:nvSpPr>
          <p:cNvPr id="21" name="text 21"/>
          <p:cNvSpPr txBox="1"/>
          <p:nvPr/>
        </p:nvSpPr>
        <p:spPr>
          <a:xfrm>
            <a:off x="4901184" y="3831336"/>
            <a:ext cx="294436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原生 CLI + 薄适配 + 支持矩阵</a:t>
            </a:r>
            <a:endParaRPr lang="zh-CN" sz="1656"/>
          </a:p>
        </p:txBody>
      </p:sp>
      <p:sp>
        <p:nvSpPr>
          <p:cNvPr id="22" name="text 22"/>
          <p:cNvSpPr txBox="1"/>
          <p:nvPr/>
        </p:nvSpPr>
        <p:spPr>
          <a:xfrm>
            <a:off x="10204704" y="3831336"/>
            <a:ext cx="271576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真实 MCP / subagent 可用</a:t>
            </a:r>
            <a:endParaRPr lang="zh-CN" sz="1656"/>
          </a:p>
        </p:txBody>
      </p:sp>
      <p:sp>
        <p:nvSpPr>
          <p:cNvPr id="23" name="rect 23"/>
          <p:cNvSpPr/>
          <p:nvPr/>
        </p:nvSpPr>
        <p:spPr>
          <a:xfrm>
            <a:off x="731520" y="4215384"/>
            <a:ext cx="13167360" cy="52120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7824" y="4352544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F04</a:t>
            </a:r>
            <a:endParaRPr lang="zh-CN" sz="1656"/>
          </a:p>
        </p:txBody>
      </p:sp>
      <p:sp>
        <p:nvSpPr>
          <p:cNvPr id="25" name="text 25"/>
          <p:cNvSpPr txBox="1"/>
          <p:nvPr/>
        </p:nvSpPr>
        <p:spPr>
          <a:xfrm>
            <a:off x="1792224" y="4352544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独立执行环境</a:t>
            </a:r>
            <a:endParaRPr lang="zh-CN" sz="1656"/>
          </a:p>
        </p:txBody>
      </p:sp>
      <p:sp>
        <p:nvSpPr>
          <p:cNvPr id="26" name="text 26"/>
          <p:cNvSpPr txBox="1"/>
          <p:nvPr/>
        </p:nvSpPr>
        <p:spPr>
          <a:xfrm>
            <a:off x="4901184" y="4352544"/>
            <a:ext cx="384048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私有 worktree / 配置 / 会话 / 临时状态</a:t>
            </a:r>
            <a:endParaRPr lang="zh-CN" sz="1656"/>
          </a:p>
        </p:txBody>
      </p:sp>
      <p:sp>
        <p:nvSpPr>
          <p:cNvPr id="27" name="text 27"/>
          <p:cNvSpPr txBox="1"/>
          <p:nvPr/>
        </p:nvSpPr>
        <p:spPr>
          <a:xfrm>
            <a:off x="10204704" y="4352544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写入不串到模板或其他任务</a:t>
            </a:r>
            <a:endParaRPr lang="zh-CN" sz="1656"/>
          </a:p>
        </p:txBody>
      </p:sp>
      <p:sp>
        <p:nvSpPr>
          <p:cNvPr id="28" name="rect 28"/>
          <p:cNvSpPr/>
          <p:nvPr/>
        </p:nvSpPr>
        <p:spPr>
          <a:xfrm>
            <a:off x="731520" y="4736592"/>
            <a:ext cx="1316736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77824" y="4873752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F05</a:t>
            </a:r>
            <a:endParaRPr lang="zh-CN" sz="1656"/>
          </a:p>
        </p:txBody>
      </p:sp>
      <p:sp>
        <p:nvSpPr>
          <p:cNvPr id="30" name="text 30"/>
          <p:cNvSpPr txBox="1"/>
          <p:nvPr/>
        </p:nvSpPr>
        <p:spPr>
          <a:xfrm>
            <a:off x="1792224" y="4873752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资源保护</a:t>
            </a:r>
            <a:endParaRPr lang="zh-CN" sz="1656"/>
          </a:p>
        </p:txBody>
      </p:sp>
      <p:sp>
        <p:nvSpPr>
          <p:cNvPr id="31" name="text 31"/>
          <p:cNvSpPr txBox="1"/>
          <p:nvPr/>
        </p:nvSpPr>
        <p:spPr>
          <a:xfrm>
            <a:off x="4901184" y="4873752"/>
            <a:ext cx="36393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逐执行 CPU / memory / pids 总预算</a:t>
            </a:r>
            <a:endParaRPr lang="zh-CN" sz="1656"/>
          </a:p>
        </p:txBody>
      </p:sp>
      <p:sp>
        <p:nvSpPr>
          <p:cNvPr id="32" name="text 32"/>
          <p:cNvSpPr txBox="1"/>
          <p:nvPr/>
        </p:nvSpPr>
        <p:spPr>
          <a:xfrm>
            <a:off x="10204704" y="4873752"/>
            <a:ext cx="284378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一个超限，其他任务仍可完成</a:t>
            </a:r>
            <a:endParaRPr lang="zh-CN" sz="1656"/>
          </a:p>
        </p:txBody>
      </p:sp>
      <p:sp>
        <p:nvSpPr>
          <p:cNvPr id="33" name="rect 33"/>
          <p:cNvSpPr/>
          <p:nvPr/>
        </p:nvSpPr>
        <p:spPr>
          <a:xfrm>
            <a:off x="731520" y="5257800"/>
            <a:ext cx="13167360" cy="52120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77824" y="5394960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F06</a:t>
            </a:r>
            <a:endParaRPr lang="zh-CN" sz="1656"/>
          </a:p>
        </p:txBody>
      </p:sp>
      <p:sp>
        <p:nvSpPr>
          <p:cNvPr id="35" name="text 35"/>
          <p:cNvSpPr txBox="1"/>
          <p:nvPr/>
        </p:nvSpPr>
        <p:spPr>
          <a:xfrm>
            <a:off x="1792224" y="5394960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成果保存</a:t>
            </a:r>
            <a:endParaRPr lang="zh-CN" sz="1656"/>
          </a:p>
        </p:txBody>
      </p:sp>
      <p:sp>
        <p:nvSpPr>
          <p:cNvPr id="36" name="text 36"/>
          <p:cNvSpPr txBox="1"/>
          <p:nvPr/>
        </p:nvSpPr>
        <p:spPr>
          <a:xfrm>
            <a:off x="4901184" y="5394960"/>
            <a:ext cx="326440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不可变候选、保留引用与完整清单</a:t>
            </a:r>
            <a:endParaRPr lang="zh-CN" sz="1656"/>
          </a:p>
        </p:txBody>
      </p:sp>
      <p:sp>
        <p:nvSpPr>
          <p:cNvPr id="37" name="text 37"/>
          <p:cNvSpPr txBox="1"/>
          <p:nvPr/>
        </p:nvSpPr>
        <p:spPr>
          <a:xfrm>
            <a:off x="10204704" y="5394960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工作区清理后成果仍可读取</a:t>
            </a:r>
            <a:endParaRPr lang="zh-CN" sz="1656"/>
          </a:p>
        </p:txBody>
      </p:sp>
      <p:sp>
        <p:nvSpPr>
          <p:cNvPr id="38" name="rect 38"/>
          <p:cNvSpPr/>
          <p:nvPr/>
        </p:nvSpPr>
        <p:spPr>
          <a:xfrm>
            <a:off x="731520" y="5779008"/>
            <a:ext cx="1316736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877824" y="5916168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F07</a:t>
            </a:r>
            <a:endParaRPr lang="zh-CN" sz="1656"/>
          </a:p>
        </p:txBody>
      </p:sp>
      <p:sp>
        <p:nvSpPr>
          <p:cNvPr id="40" name="text 40"/>
          <p:cNvSpPr txBox="1"/>
          <p:nvPr/>
        </p:nvSpPr>
        <p:spPr>
          <a:xfrm>
            <a:off x="1792224" y="5916168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独立审核</a:t>
            </a:r>
            <a:endParaRPr lang="zh-CN" sz="1656"/>
          </a:p>
        </p:txBody>
      </p:sp>
      <p:sp>
        <p:nvSpPr>
          <p:cNvPr id="41" name="text 41"/>
          <p:cNvSpPr txBox="1"/>
          <p:nvPr/>
        </p:nvSpPr>
        <p:spPr>
          <a:xfrm>
            <a:off x="4901184" y="5916168"/>
            <a:ext cx="347472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独立副本、有效租约、候选证据绑定</a:t>
            </a:r>
            <a:endParaRPr lang="zh-CN" sz="1656"/>
          </a:p>
        </p:txBody>
      </p:sp>
      <p:sp>
        <p:nvSpPr>
          <p:cNvPr id="42" name="text 42"/>
          <p:cNvSpPr txBox="1"/>
          <p:nvPr/>
        </p:nvSpPr>
        <p:spPr>
          <a:xfrm>
            <a:off x="10204704" y="5916168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自审、过期与错候选均拒绝</a:t>
            </a:r>
            <a:endParaRPr lang="zh-CN" sz="1656"/>
          </a:p>
        </p:txBody>
      </p:sp>
      <p:sp>
        <p:nvSpPr>
          <p:cNvPr id="43" name="rect 43"/>
          <p:cNvSpPr/>
          <p:nvPr/>
        </p:nvSpPr>
        <p:spPr>
          <a:xfrm>
            <a:off x="731520" y="6300216"/>
            <a:ext cx="13167360" cy="52120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877824" y="6437376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F08</a:t>
            </a:r>
            <a:endParaRPr lang="zh-CN" sz="1656"/>
          </a:p>
        </p:txBody>
      </p:sp>
      <p:sp>
        <p:nvSpPr>
          <p:cNvPr id="45" name="text 45"/>
          <p:cNvSpPr txBox="1"/>
          <p:nvPr/>
        </p:nvSpPr>
        <p:spPr>
          <a:xfrm>
            <a:off x="1792224" y="643737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三轮闭环</a:t>
            </a:r>
            <a:endParaRPr lang="zh-CN" sz="1656"/>
          </a:p>
        </p:txBody>
      </p:sp>
      <p:sp>
        <p:nvSpPr>
          <p:cNvPr id="46" name="text 46"/>
          <p:cNvSpPr txBox="1"/>
          <p:nvPr/>
        </p:nvSpPr>
        <p:spPr>
          <a:xfrm>
            <a:off x="4901184" y="6437376"/>
            <a:ext cx="34564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判决 / 次数 / 终态 / outbox 同事务</a:t>
            </a:r>
            <a:endParaRPr lang="zh-CN" sz="1656"/>
          </a:p>
        </p:txBody>
      </p:sp>
      <p:sp>
        <p:nvSpPr>
          <p:cNvPr id="47" name="text 47"/>
          <p:cNvSpPr txBox="1"/>
          <p:nvPr/>
        </p:nvSpPr>
        <p:spPr>
          <a:xfrm>
            <a:off x="10204704" y="6437376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三拒绝结束，不开始第四轮</a:t>
            </a:r>
            <a:endParaRPr lang="zh-CN" sz="1656"/>
          </a:p>
        </p:txBody>
      </p:sp>
      <p:sp>
        <p:nvSpPr>
          <p:cNvPr id="48" name="rect 48"/>
          <p:cNvSpPr/>
          <p:nvPr/>
        </p:nvSpPr>
        <p:spPr>
          <a:xfrm>
            <a:off x="731520" y="6821424"/>
            <a:ext cx="1316736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877824" y="6958584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F09</a:t>
            </a:r>
            <a:endParaRPr lang="zh-CN" sz="1656"/>
          </a:p>
        </p:txBody>
      </p:sp>
      <p:sp>
        <p:nvSpPr>
          <p:cNvPr id="50" name="text 50"/>
          <p:cNvSpPr txBox="1"/>
          <p:nvPr/>
        </p:nvSpPr>
        <p:spPr>
          <a:xfrm>
            <a:off x="1792224" y="6958584"/>
            <a:ext cx="116128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通知与唤醒</a:t>
            </a:r>
            <a:endParaRPr lang="zh-CN" sz="1656"/>
          </a:p>
        </p:txBody>
      </p:sp>
      <p:sp>
        <p:nvSpPr>
          <p:cNvPr id="51" name="text 51"/>
          <p:cNvSpPr txBox="1"/>
          <p:nvPr/>
        </p:nvSpPr>
        <p:spPr>
          <a:xfrm>
            <a:off x="4901184" y="6958584"/>
            <a:ext cx="27066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持久业务队列 + 适配器提示</a:t>
            </a:r>
            <a:endParaRPr lang="zh-CN" sz="1656"/>
          </a:p>
        </p:txBody>
      </p:sp>
      <p:sp>
        <p:nvSpPr>
          <p:cNvPr id="52" name="text 52"/>
          <p:cNvSpPr txBox="1"/>
          <p:nvPr/>
        </p:nvSpPr>
        <p:spPr>
          <a:xfrm>
            <a:off x="10204704" y="6958584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失败可查询；重发不重计分</a:t>
            </a:r>
            <a:endParaRPr lang="zh-CN" sz="1656"/>
          </a:p>
        </p:txBody>
      </p:sp>
      <p:sp>
        <p:nvSpPr>
          <p:cNvPr id="53" name="text 53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证据与追踪</a:t>
            </a:r>
            <a:endParaRPr lang="zh-CN" sz="1296"/>
          </a:p>
        </p:txBody>
      </p:sp>
      <p:sp>
        <p:nvSpPr>
          <p:cNvPr id="54" name="text 54"/>
          <p:cNvSpPr txBox="1"/>
          <p:nvPr/>
        </p:nvSpPr>
        <p:spPr>
          <a:xfrm>
            <a:off x="731520" y="850392"/>
            <a:ext cx="513892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附录：需求追踪 F01–F09</a:t>
            </a:r>
            <a:endParaRPr lang="zh-CN" sz="3456"/>
          </a:p>
        </p:txBody>
      </p:sp>
      <p:sp>
        <p:nvSpPr>
          <p:cNvPr id="55" name="text 55"/>
          <p:cNvSpPr txBox="1"/>
          <p:nvPr/>
        </p:nvSpPr>
        <p:spPr>
          <a:xfrm>
            <a:off x="749808" y="1536192"/>
            <a:ext cx="6739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编号沿用需求基线；机制是候选实现路径，验收要落到真实行为。</a:t>
            </a:r>
            <a:endParaRPr lang="zh-CN" sz="1800"/>
          </a:p>
        </p:txBody>
      </p:sp>
      <p:sp>
        <p:nvSpPr>
          <p:cNvPr id="56" name="rect 56"/>
          <p:cNvSpPr/>
          <p:nvPr/>
        </p:nvSpPr>
        <p:spPr>
          <a:xfrm>
            <a:off x="11887200" y="320040"/>
            <a:ext cx="20116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7" name="text 57"/>
          <p:cNvSpPr txBox="1"/>
          <p:nvPr/>
        </p:nvSpPr>
        <p:spPr>
          <a:xfrm>
            <a:off x="11996928" y="384048"/>
            <a:ext cx="190195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需求 → 设计 → 可观察验收</a:t>
            </a:r>
            <a:endParaRPr lang="zh-CN" sz="1152"/>
          </a:p>
        </p:txBody>
      </p:sp>
      <p:sp>
        <p:nvSpPr>
          <p:cNvPr id="58" name="line 58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731520" y="7808976"/>
            <a:ext cx="2414016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依据：核心需求；对象与交付；补充验收</a:t>
            </a:r>
            <a:endParaRPr lang="zh-CN" sz="1008"/>
          </a:p>
        </p:txBody>
      </p:sp>
      <p:sp>
        <p:nvSpPr>
          <p:cNvPr id="60" name="text 60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32 / 36</a:t>
            </a:r>
            <a:endParaRPr lang="zh-CN" sz="1368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附录：需求追踪 F10–F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67128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76856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编号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1792224" y="2276856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需求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4901184" y="227685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设计机制</a:t>
            </a:r>
            <a:endParaRPr lang="zh-CN" sz="1656"/>
          </a:p>
        </p:txBody>
      </p:sp>
      <p:sp>
        <p:nvSpPr>
          <p:cNvPr id="7" name="text 7"/>
          <p:cNvSpPr txBox="1"/>
          <p:nvPr/>
        </p:nvSpPr>
        <p:spPr>
          <a:xfrm>
            <a:off x="10204704" y="2276856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关键验收</a:t>
            </a:r>
            <a:endParaRPr lang="zh-CN" sz="1656"/>
          </a:p>
        </p:txBody>
      </p:sp>
      <p:sp>
        <p:nvSpPr>
          <p:cNvPr id="8" name="rect 8"/>
          <p:cNvSpPr/>
          <p:nvPr/>
        </p:nvSpPr>
        <p:spPr>
          <a:xfrm>
            <a:off x="731520" y="2651760"/>
            <a:ext cx="13167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77824" y="2788920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F10</a:t>
            </a:r>
            <a:endParaRPr lang="zh-CN" sz="1656"/>
          </a:p>
        </p:txBody>
      </p:sp>
      <p:sp>
        <p:nvSpPr>
          <p:cNvPr id="10" name="text 10"/>
          <p:cNvSpPr txBox="1"/>
          <p:nvPr/>
        </p:nvSpPr>
        <p:spPr>
          <a:xfrm>
            <a:off x="1792224" y="2788920"/>
            <a:ext cx="157276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固定 worker 池</a:t>
            </a:r>
            <a:endParaRPr lang="zh-CN" sz="1656"/>
          </a:p>
        </p:txBody>
      </p:sp>
      <p:sp>
        <p:nvSpPr>
          <p:cNvPr id="11" name="text 11"/>
          <p:cNvSpPr txBox="1"/>
          <p:nvPr/>
        </p:nvSpPr>
        <p:spPr>
          <a:xfrm>
            <a:off x="4901184" y="2788920"/>
            <a:ext cx="38313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可变槽位 + 不可变配置 + 任务资源覆盖</a:t>
            </a:r>
            <a:endParaRPr lang="zh-CN" sz="1656"/>
          </a:p>
        </p:txBody>
      </p:sp>
      <p:sp>
        <p:nvSpPr>
          <p:cNvPr id="12" name="text 12"/>
          <p:cNvSpPr txBox="1"/>
          <p:nvPr/>
        </p:nvSpPr>
        <p:spPr>
          <a:xfrm>
            <a:off x="10204704" y="2788920"/>
            <a:ext cx="22128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更新不热换旧任务模型</a:t>
            </a:r>
            <a:endParaRPr lang="zh-CN" sz="1656"/>
          </a:p>
        </p:txBody>
      </p:sp>
      <p:sp>
        <p:nvSpPr>
          <p:cNvPr id="13" name="rect 13"/>
          <p:cNvSpPr/>
          <p:nvPr/>
        </p:nvSpPr>
        <p:spPr>
          <a:xfrm>
            <a:off x="731520" y="3236976"/>
            <a:ext cx="13167360" cy="585216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77824" y="3374136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F11</a:t>
            </a:r>
            <a:endParaRPr lang="zh-CN" sz="1656"/>
          </a:p>
        </p:txBody>
      </p:sp>
      <p:sp>
        <p:nvSpPr>
          <p:cNvPr id="15" name="text 15"/>
          <p:cNvSpPr txBox="1"/>
          <p:nvPr/>
        </p:nvSpPr>
        <p:spPr>
          <a:xfrm>
            <a:off x="1792224" y="3374136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有界故障恢复</a:t>
            </a:r>
            <a:endParaRPr lang="zh-CN" sz="1656"/>
          </a:p>
        </p:txBody>
      </p:sp>
      <p:sp>
        <p:nvSpPr>
          <p:cNvPr id="16" name="text 16"/>
          <p:cNvSpPr txBox="1"/>
          <p:nvPr/>
        </p:nvSpPr>
        <p:spPr>
          <a:xfrm>
            <a:off x="4901184" y="3374136"/>
            <a:ext cx="384048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固定恢复策略；action_ref；原操作对账</a:t>
            </a:r>
            <a:endParaRPr lang="zh-CN" sz="1656"/>
          </a:p>
        </p:txBody>
      </p:sp>
      <p:sp>
        <p:nvSpPr>
          <p:cNvPr id="17" name="text 17"/>
          <p:cNvSpPr txBox="1"/>
          <p:nvPr/>
        </p:nvSpPr>
        <p:spPr>
          <a:xfrm>
            <a:off x="10204704" y="3374136"/>
            <a:ext cx="284378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耗尽后保留进度，可显式继续</a:t>
            </a:r>
            <a:endParaRPr lang="zh-CN" sz="1656"/>
          </a:p>
        </p:txBody>
      </p:sp>
      <p:sp>
        <p:nvSpPr>
          <p:cNvPr id="18" name="rect 18"/>
          <p:cNvSpPr/>
          <p:nvPr/>
        </p:nvSpPr>
        <p:spPr>
          <a:xfrm>
            <a:off x="731520" y="3822192"/>
            <a:ext cx="13167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77824" y="3959352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F12</a:t>
            </a:r>
            <a:endParaRPr lang="zh-CN" sz="1656"/>
          </a:p>
        </p:txBody>
      </p:sp>
      <p:sp>
        <p:nvSpPr>
          <p:cNvPr id="20" name="text 20"/>
          <p:cNvSpPr txBox="1"/>
          <p:nvPr/>
        </p:nvSpPr>
        <p:spPr>
          <a:xfrm>
            <a:off x="1792224" y="3959352"/>
            <a:ext cx="204825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Dashboard Web UI</a:t>
            </a:r>
            <a:endParaRPr lang="zh-CN" sz="1656"/>
          </a:p>
        </p:txBody>
      </p:sp>
      <p:sp>
        <p:nvSpPr>
          <p:cNvPr id="21" name="text 21"/>
          <p:cNvSpPr txBox="1"/>
          <p:nvPr/>
        </p:nvSpPr>
        <p:spPr>
          <a:xfrm>
            <a:off x="4901184" y="3959352"/>
            <a:ext cx="326440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三个主页面；后台动作与一致快照</a:t>
            </a:r>
            <a:endParaRPr lang="zh-CN" sz="1656"/>
          </a:p>
        </p:txBody>
      </p:sp>
      <p:sp>
        <p:nvSpPr>
          <p:cNvPr id="22" name="text 22"/>
          <p:cNvSpPr txBox="1"/>
          <p:nvPr/>
        </p:nvSpPr>
        <p:spPr>
          <a:xfrm>
            <a:off x="10204704" y="3959352"/>
            <a:ext cx="24414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断线 / 无权 / 空结果分开</a:t>
            </a:r>
            <a:endParaRPr lang="zh-CN" sz="1656"/>
          </a:p>
        </p:txBody>
      </p:sp>
      <p:sp>
        <p:nvSpPr>
          <p:cNvPr id="23" name="rect 23"/>
          <p:cNvSpPr/>
          <p:nvPr/>
        </p:nvSpPr>
        <p:spPr>
          <a:xfrm>
            <a:off x="731520" y="4407408"/>
            <a:ext cx="13167360" cy="585216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7824" y="4544568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F13</a:t>
            </a:r>
            <a:endParaRPr lang="zh-CN" sz="1656"/>
          </a:p>
        </p:txBody>
      </p:sp>
      <p:sp>
        <p:nvSpPr>
          <p:cNvPr id="25" name="text 25"/>
          <p:cNvSpPr txBox="1"/>
          <p:nvPr/>
        </p:nvSpPr>
        <p:spPr>
          <a:xfrm>
            <a:off x="1792224" y="4544568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基本工具复用</a:t>
            </a:r>
            <a:endParaRPr lang="zh-CN" sz="1656"/>
          </a:p>
        </p:txBody>
      </p:sp>
      <p:sp>
        <p:nvSpPr>
          <p:cNvPr id="26" name="text 26"/>
          <p:cNvSpPr txBox="1"/>
          <p:nvPr/>
        </p:nvSpPr>
        <p:spPr>
          <a:xfrm>
            <a:off x="4901184" y="4544568"/>
            <a:ext cx="305409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普通工具成果；主线选共享版本</a:t>
            </a:r>
            <a:endParaRPr lang="zh-CN" sz="1656"/>
          </a:p>
        </p:txBody>
      </p:sp>
      <p:sp>
        <p:nvSpPr>
          <p:cNvPr id="27" name="text 27"/>
          <p:cNvSpPr txBox="1"/>
          <p:nvPr/>
        </p:nvSpPr>
        <p:spPr>
          <a:xfrm>
            <a:off x="10204704" y="4544568"/>
            <a:ext cx="22128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工具可用，版本不串用</a:t>
            </a:r>
            <a:endParaRPr lang="zh-CN" sz="1656"/>
          </a:p>
        </p:txBody>
      </p:sp>
      <p:sp>
        <p:nvSpPr>
          <p:cNvPr id="28" name="rect 28"/>
          <p:cNvSpPr/>
          <p:nvPr/>
        </p:nvSpPr>
        <p:spPr>
          <a:xfrm>
            <a:off x="731520" y="4992624"/>
            <a:ext cx="13167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77824" y="5129784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F14</a:t>
            </a:r>
            <a:endParaRPr lang="zh-CN" sz="1656"/>
          </a:p>
        </p:txBody>
      </p:sp>
      <p:sp>
        <p:nvSpPr>
          <p:cNvPr id="30" name="text 30"/>
          <p:cNvSpPr txBox="1"/>
          <p:nvPr/>
        </p:nvSpPr>
        <p:spPr>
          <a:xfrm>
            <a:off x="1792224" y="5129784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任务依赖</a:t>
            </a:r>
            <a:endParaRPr lang="zh-CN" sz="1656"/>
          </a:p>
        </p:txBody>
      </p:sp>
      <p:sp>
        <p:nvSpPr>
          <p:cNvPr id="31" name="text 31"/>
          <p:cNvSpPr txBox="1"/>
          <p:nvPr/>
        </p:nvSpPr>
        <p:spPr>
          <a:xfrm>
            <a:off x="4901184" y="5129784"/>
            <a:ext cx="331012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固定 ID 的 DAG；两阶段输入冻结</a:t>
            </a:r>
            <a:endParaRPr lang="zh-CN" sz="1656"/>
          </a:p>
        </p:txBody>
      </p:sp>
      <p:sp>
        <p:nvSpPr>
          <p:cNvPr id="32" name="text 32"/>
          <p:cNvSpPr txBox="1"/>
          <p:nvPr/>
        </p:nvSpPr>
        <p:spPr>
          <a:xfrm>
            <a:off x="10204704" y="5129784"/>
            <a:ext cx="22128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上游失败仅使下游等待</a:t>
            </a:r>
            <a:endParaRPr lang="zh-CN" sz="1656"/>
          </a:p>
        </p:txBody>
      </p:sp>
      <p:sp>
        <p:nvSpPr>
          <p:cNvPr id="33" name="rect 33"/>
          <p:cNvSpPr/>
          <p:nvPr/>
        </p:nvSpPr>
        <p:spPr>
          <a:xfrm>
            <a:off x="731520" y="5577840"/>
            <a:ext cx="13167360" cy="585216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77824" y="5715000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F15</a:t>
            </a:r>
            <a:endParaRPr lang="zh-CN" sz="1656"/>
          </a:p>
        </p:txBody>
      </p:sp>
      <p:sp>
        <p:nvSpPr>
          <p:cNvPr id="35" name="text 35"/>
          <p:cNvSpPr txBox="1"/>
          <p:nvPr/>
        </p:nvSpPr>
        <p:spPr>
          <a:xfrm>
            <a:off x="1792224" y="5715000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运行与资源归属</a:t>
            </a:r>
            <a:endParaRPr lang="zh-CN" sz="1656"/>
          </a:p>
        </p:txBody>
      </p:sp>
      <p:sp>
        <p:nvSpPr>
          <p:cNvPr id="36" name="text 36"/>
          <p:cNvSpPr txBox="1"/>
          <p:nvPr/>
        </p:nvSpPr>
        <p:spPr>
          <a:xfrm>
            <a:off x="4901184" y="5715000"/>
            <a:ext cx="29169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S / C / 逐执行资源组；独立 U</a:t>
            </a:r>
            <a:endParaRPr lang="zh-CN" sz="1656"/>
          </a:p>
        </p:txBody>
      </p:sp>
      <p:sp>
        <p:nvSpPr>
          <p:cNvPr id="37" name="text 37"/>
          <p:cNvSpPr txBox="1"/>
          <p:nvPr/>
        </p:nvSpPr>
        <p:spPr>
          <a:xfrm>
            <a:off x="10204704" y="5715000"/>
            <a:ext cx="242316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超限不拖垮控制与升级者</a:t>
            </a:r>
            <a:endParaRPr lang="zh-CN" sz="1656"/>
          </a:p>
        </p:txBody>
      </p:sp>
      <p:sp>
        <p:nvSpPr>
          <p:cNvPr id="38" name="rect 38"/>
          <p:cNvSpPr/>
          <p:nvPr/>
        </p:nvSpPr>
        <p:spPr>
          <a:xfrm>
            <a:off x="731520" y="6163056"/>
            <a:ext cx="131673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877824" y="6300216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F16</a:t>
            </a:r>
            <a:endParaRPr lang="zh-CN" sz="1656"/>
          </a:p>
        </p:txBody>
      </p:sp>
      <p:sp>
        <p:nvSpPr>
          <p:cNvPr id="40" name="text 40"/>
          <p:cNvSpPr txBox="1"/>
          <p:nvPr/>
        </p:nvSpPr>
        <p:spPr>
          <a:xfrm>
            <a:off x="1792224" y="6300216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生命周期接续</a:t>
            </a:r>
            <a:endParaRPr lang="zh-CN" sz="1656"/>
          </a:p>
        </p:txBody>
      </p:sp>
      <p:sp>
        <p:nvSpPr>
          <p:cNvPr id="41" name="text 41"/>
          <p:cNvSpPr txBox="1"/>
          <p:nvPr/>
        </p:nvSpPr>
        <p:spPr>
          <a:xfrm>
            <a:off x="4901184" y="6300216"/>
            <a:ext cx="2724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U + journal + lock / fence</a:t>
            </a:r>
            <a:endParaRPr lang="zh-CN" sz="1656"/>
          </a:p>
        </p:txBody>
      </p:sp>
      <p:sp>
        <p:nvSpPr>
          <p:cNvPr id="42" name="text 42"/>
          <p:cNvSpPr txBox="1"/>
          <p:nvPr/>
        </p:nvSpPr>
        <p:spPr>
          <a:xfrm>
            <a:off x="10204704" y="6300216"/>
            <a:ext cx="20391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停 S 后按原操作继续</a:t>
            </a:r>
            <a:endParaRPr lang="zh-CN" sz="1656"/>
          </a:p>
        </p:txBody>
      </p:sp>
      <p:sp>
        <p:nvSpPr>
          <p:cNvPr id="43" name="rect 43"/>
          <p:cNvSpPr/>
          <p:nvPr/>
        </p:nvSpPr>
        <p:spPr>
          <a:xfrm>
            <a:off x="731520" y="6748272"/>
            <a:ext cx="13167360" cy="585216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877824" y="6885432"/>
            <a:ext cx="4846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F17</a:t>
            </a:r>
            <a:endParaRPr lang="zh-CN" sz="1656"/>
          </a:p>
        </p:txBody>
      </p:sp>
      <p:sp>
        <p:nvSpPr>
          <p:cNvPr id="45" name="text 45"/>
          <p:cNvSpPr txBox="1"/>
          <p:nvPr/>
        </p:nvSpPr>
        <p:spPr>
          <a:xfrm>
            <a:off x="1792224" y="6885432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升级兼容与保全</a:t>
            </a:r>
            <a:endParaRPr lang="zh-CN" sz="1656"/>
          </a:p>
        </p:txBody>
      </p:sp>
      <p:sp>
        <p:nvSpPr>
          <p:cNvPr id="46" name="text 46"/>
          <p:cNvSpPr txBox="1"/>
          <p:nvPr/>
        </p:nvSpPr>
        <p:spPr>
          <a:xfrm>
            <a:off x="4901184" y="6885432"/>
            <a:ext cx="326440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支持窗口；一致备份；维护态验证</a:t>
            </a:r>
            <a:endParaRPr lang="zh-CN" sz="1656"/>
          </a:p>
        </p:txBody>
      </p:sp>
      <p:sp>
        <p:nvSpPr>
          <p:cNvPr id="47" name="text 47"/>
          <p:cNvSpPr txBox="1"/>
          <p:nvPr/>
        </p:nvSpPr>
        <p:spPr>
          <a:xfrm>
            <a:off x="10204704" y="6885432"/>
            <a:ext cx="26334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不兼容拒绝，不覆盖新成果</a:t>
            </a:r>
            <a:endParaRPr lang="zh-CN" sz="1656"/>
          </a:p>
        </p:txBody>
      </p:sp>
      <p:sp>
        <p:nvSpPr>
          <p:cNvPr id="48" name="text 48"/>
          <p:cNvSpPr txBox="1"/>
          <p:nvPr/>
        </p:nvSpPr>
        <p:spPr>
          <a:xfrm>
            <a:off x="731520" y="384048"/>
            <a:ext cx="1911096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证据与追踪</a:t>
            </a:r>
            <a:endParaRPr lang="zh-CN" sz="1296"/>
          </a:p>
        </p:txBody>
      </p:sp>
      <p:sp>
        <p:nvSpPr>
          <p:cNvPr id="49" name="text 49"/>
          <p:cNvSpPr txBox="1"/>
          <p:nvPr/>
        </p:nvSpPr>
        <p:spPr>
          <a:xfrm>
            <a:off x="731520" y="850392"/>
            <a:ext cx="513892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附录：需求追踪 F10–F17</a:t>
            </a:r>
            <a:endParaRPr lang="zh-CN" sz="3456"/>
          </a:p>
        </p:txBody>
      </p:sp>
      <p:sp>
        <p:nvSpPr>
          <p:cNvPr id="50" name="text 50"/>
          <p:cNvSpPr txBox="1"/>
          <p:nvPr/>
        </p:nvSpPr>
        <p:spPr>
          <a:xfrm>
            <a:off x="749808" y="1536192"/>
            <a:ext cx="6053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运行责任、配置版本与升级恢复，都是交付范围的一部分。</a:t>
            </a:r>
            <a:endParaRPr lang="zh-CN" sz="1800"/>
          </a:p>
        </p:txBody>
      </p:sp>
      <p:sp>
        <p:nvSpPr>
          <p:cNvPr id="51" name="rect 51"/>
          <p:cNvSpPr/>
          <p:nvPr/>
        </p:nvSpPr>
        <p:spPr>
          <a:xfrm>
            <a:off x="11887200" y="320040"/>
            <a:ext cx="201168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11996928" y="384048"/>
            <a:ext cx="1901952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需求 → 设计 → 可观察验收</a:t>
            </a:r>
            <a:endParaRPr lang="zh-CN" sz="1152"/>
          </a:p>
        </p:txBody>
      </p:sp>
      <p:sp>
        <p:nvSpPr>
          <p:cNvPr id="53" name="line 53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731520" y="7808976"/>
            <a:ext cx="2798064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依据：核心需求；配置与运行机制；交付与验收</a:t>
            </a:r>
            <a:endParaRPr lang="zh-CN" sz="1008"/>
          </a:p>
        </p:txBody>
      </p:sp>
      <p:sp>
        <p:nvSpPr>
          <p:cNvPr id="55" name="text 55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33 / 36</a:t>
            </a:r>
            <a:endParaRPr lang="zh-CN" sz="1368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附录：这些数值仍是候选，不能静默变成承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48840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58568"/>
            <a:ext cx="53035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参数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4261104" y="2258568"/>
            <a:ext cx="11521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P 建议初值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7735824" y="2258568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选择与使用边界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33472"/>
            <a:ext cx="131673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70632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审核领取租期</a:t>
            </a:r>
            <a:endParaRPr lang="zh-CN" sz="1728"/>
          </a:p>
        </p:txBody>
      </p:sp>
      <p:sp>
        <p:nvSpPr>
          <p:cNvPr id="9" name="text 9"/>
          <p:cNvSpPr txBox="1"/>
          <p:nvPr/>
        </p:nvSpPr>
        <p:spPr>
          <a:xfrm>
            <a:off x="4261104" y="2770632"/>
            <a:ext cx="266090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30 分钟；绝对上限 8 小时</a:t>
            </a:r>
            <a:endParaRPr lang="zh-CN" sz="1728"/>
          </a:p>
        </p:txBody>
      </p:sp>
      <p:sp>
        <p:nvSpPr>
          <p:cNvPr id="10" name="text 10"/>
          <p:cNvSpPr txBox="1"/>
          <p:nvPr/>
        </p:nvSpPr>
        <p:spPr>
          <a:xfrm>
            <a:off x="7735824" y="2770632"/>
            <a:ext cx="461772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自然活动后显式续租；过期不能复活旧 handle</a:t>
            </a:r>
            <a:endParaRPr lang="zh-CN" sz="1728"/>
          </a:p>
        </p:txBody>
      </p:sp>
      <p:sp>
        <p:nvSpPr>
          <p:cNvPr id="11" name="rect 11"/>
          <p:cNvSpPr/>
          <p:nvPr/>
        </p:nvSpPr>
        <p:spPr>
          <a:xfrm>
            <a:off x="731520" y="3236976"/>
            <a:ext cx="13167360" cy="60350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77824" y="3374136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自动执行恢复</a:t>
            </a:r>
            <a:endParaRPr lang="zh-CN" sz="1728"/>
          </a:p>
        </p:txBody>
      </p:sp>
      <p:sp>
        <p:nvSpPr>
          <p:cNvPr id="13" name="text 13"/>
          <p:cNvSpPr txBox="1"/>
          <p:nvPr/>
        </p:nvSpPr>
        <p:spPr>
          <a:xfrm>
            <a:off x="4261104" y="3374136"/>
            <a:ext cx="2139696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V0：0 次；V1：2 次</a:t>
            </a:r>
            <a:endParaRPr lang="zh-CN" sz="1728"/>
          </a:p>
        </p:txBody>
      </p:sp>
      <p:sp>
        <p:nvSpPr>
          <p:cNvPr id="14" name="text 14"/>
          <p:cNvSpPr txBox="1"/>
          <p:nvPr/>
        </p:nvSpPr>
        <p:spPr>
          <a:xfrm>
            <a:off x="7735824" y="3374136"/>
            <a:ext cx="471830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与有效 REJECT 分开；恢复前仍核停止与副作用</a:t>
            </a:r>
            <a:endParaRPr lang="zh-CN" sz="1728"/>
          </a:p>
        </p:txBody>
      </p:sp>
      <p:sp>
        <p:nvSpPr>
          <p:cNvPr id="15" name="rect 15"/>
          <p:cNvSpPr/>
          <p:nvPr/>
        </p:nvSpPr>
        <p:spPr>
          <a:xfrm>
            <a:off x="731520" y="3840480"/>
            <a:ext cx="131673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3977640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候选内容上限</a:t>
            </a:r>
            <a:endParaRPr lang="zh-CN" sz="1728"/>
          </a:p>
        </p:txBody>
      </p:sp>
      <p:sp>
        <p:nvSpPr>
          <p:cNvPr id="17" name="text 17"/>
          <p:cNvSpPr txBox="1"/>
          <p:nvPr/>
        </p:nvSpPr>
        <p:spPr>
          <a:xfrm>
            <a:off x="4261104" y="3977640"/>
            <a:ext cx="31638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成员总量 1 GiB；bundle 2 GiB</a:t>
            </a:r>
            <a:endParaRPr lang="zh-CN" sz="1728"/>
          </a:p>
        </p:txBody>
      </p:sp>
      <p:sp>
        <p:nvSpPr>
          <p:cNvPr id="18" name="text 18"/>
          <p:cNvSpPr txBox="1"/>
          <p:nvPr/>
        </p:nvSpPr>
        <p:spPr>
          <a:xfrm>
            <a:off x="7735824" y="3977640"/>
            <a:ext cx="36210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超限明确处理，不静默截断必要材料</a:t>
            </a:r>
            <a:endParaRPr lang="zh-CN" sz="1728"/>
          </a:p>
        </p:txBody>
      </p:sp>
      <p:sp>
        <p:nvSpPr>
          <p:cNvPr id="19" name="rect 19"/>
          <p:cNvSpPr/>
          <p:nvPr/>
        </p:nvSpPr>
        <p:spPr>
          <a:xfrm>
            <a:off x="731520" y="4443984"/>
            <a:ext cx="13167360" cy="60350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77824" y="4581144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审核证据大小</a:t>
            </a:r>
            <a:endParaRPr lang="zh-CN" sz="1728"/>
          </a:p>
        </p:txBody>
      </p:sp>
      <p:sp>
        <p:nvSpPr>
          <p:cNvPr id="21" name="text 21"/>
          <p:cNvSpPr txBox="1"/>
          <p:nvPr/>
        </p:nvSpPr>
        <p:spPr>
          <a:xfrm>
            <a:off x="4261104" y="4581144"/>
            <a:ext cx="283464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每段 256 KiB；总量 16 MiB</a:t>
            </a:r>
            <a:endParaRPr lang="zh-CN" sz="1728"/>
          </a:p>
        </p:txBody>
      </p:sp>
      <p:sp>
        <p:nvSpPr>
          <p:cNvPr id="22" name="text 22"/>
          <p:cNvSpPr txBox="1"/>
          <p:nvPr/>
        </p:nvSpPr>
        <p:spPr>
          <a:xfrm>
            <a:off x="7735824" y="4581144"/>
            <a:ext cx="36210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分段清单验证顺序、总长度与总摘要</a:t>
            </a:r>
            <a:endParaRPr lang="zh-CN" sz="1728"/>
          </a:p>
        </p:txBody>
      </p:sp>
      <p:sp>
        <p:nvSpPr>
          <p:cNvPr id="23" name="rect 23"/>
          <p:cNvSpPr/>
          <p:nvPr/>
        </p:nvSpPr>
        <p:spPr>
          <a:xfrm>
            <a:off x="731520" y="5047488"/>
            <a:ext cx="131673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7824" y="5184648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最终成果保留</a:t>
            </a:r>
            <a:endParaRPr lang="zh-CN" sz="1728"/>
          </a:p>
        </p:txBody>
      </p:sp>
      <p:sp>
        <p:nvSpPr>
          <p:cNvPr id="25" name="text 25"/>
          <p:cNvSpPr txBox="1"/>
          <p:nvPr/>
        </p:nvSpPr>
        <p:spPr>
          <a:xfrm>
            <a:off x="4261104" y="5184648"/>
            <a:ext cx="6492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90 天</a:t>
            </a:r>
            <a:endParaRPr lang="zh-CN" sz="1728"/>
          </a:p>
        </p:txBody>
      </p:sp>
      <p:sp>
        <p:nvSpPr>
          <p:cNvPr id="26" name="text 26"/>
          <p:cNvSpPr txBox="1"/>
          <p:nvPr/>
        </p:nvSpPr>
        <p:spPr>
          <a:xfrm>
            <a:off x="7735824" y="5184648"/>
            <a:ext cx="430682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未定策略时 retain；有效 pin 保护义务优先</a:t>
            </a:r>
            <a:endParaRPr lang="zh-CN" sz="1728"/>
          </a:p>
        </p:txBody>
      </p:sp>
      <p:sp>
        <p:nvSpPr>
          <p:cNvPr id="27" name="rect 27"/>
          <p:cNvSpPr/>
          <p:nvPr/>
        </p:nvSpPr>
        <p:spPr>
          <a:xfrm>
            <a:off x="731520" y="5650992"/>
            <a:ext cx="13167360" cy="603504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77824" y="5788152"/>
            <a:ext cx="98755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参考主机</a:t>
            </a:r>
            <a:endParaRPr lang="zh-CN" sz="1728"/>
          </a:p>
        </p:txBody>
      </p:sp>
      <p:sp>
        <p:nvSpPr>
          <p:cNvPr id="29" name="text 29"/>
          <p:cNvSpPr txBox="1"/>
          <p:nvPr/>
        </p:nvSpPr>
        <p:spPr>
          <a:xfrm>
            <a:off x="4261104" y="5788152"/>
            <a:ext cx="2651760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8 逻辑 CPU / 32 GiB 内存</a:t>
            </a:r>
            <a:endParaRPr lang="zh-CN" sz="1728"/>
          </a:p>
        </p:txBody>
      </p:sp>
      <p:sp>
        <p:nvSpPr>
          <p:cNvPr id="30" name="text 30"/>
          <p:cNvSpPr txBox="1"/>
          <p:nvPr/>
        </p:nvSpPr>
        <p:spPr>
          <a:xfrm>
            <a:off x="7735824" y="5788152"/>
            <a:ext cx="391363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校准 profile，不能写成已批准最低配置</a:t>
            </a:r>
            <a:endParaRPr lang="zh-CN" sz="1728"/>
          </a:p>
        </p:txBody>
      </p:sp>
      <p:sp>
        <p:nvSpPr>
          <p:cNvPr id="31" name="rect 31"/>
          <p:cNvSpPr/>
          <p:nvPr/>
        </p:nvSpPr>
        <p:spPr>
          <a:xfrm>
            <a:off x="731520" y="6254496"/>
            <a:ext cx="131673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77824" y="6391656"/>
            <a:ext cx="142646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查询响应指标</a:t>
            </a:r>
            <a:endParaRPr lang="zh-CN" sz="1728"/>
          </a:p>
        </p:txBody>
      </p:sp>
      <p:sp>
        <p:nvSpPr>
          <p:cNvPr id="33" name="text 33"/>
          <p:cNvSpPr txBox="1"/>
          <p:nvPr/>
        </p:nvSpPr>
        <p:spPr>
          <a:xfrm>
            <a:off x="4261104" y="6391656"/>
            <a:ext cx="2523744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p95 ≤ 1 秒；p99 ≤ 3 秒</a:t>
            </a:r>
            <a:endParaRPr lang="zh-CN" sz="1728"/>
          </a:p>
        </p:txBody>
      </p:sp>
      <p:sp>
        <p:nvSpPr>
          <p:cNvPr id="34" name="text 34"/>
          <p:cNvSpPr txBox="1"/>
          <p:nvPr/>
        </p:nvSpPr>
        <p:spPr>
          <a:xfrm>
            <a:off x="7735824" y="6391656"/>
            <a:ext cx="4279392" cy="3401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28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明确负载与错误率条件；当前没有实测结果</a:t>
            </a:r>
            <a:endParaRPr lang="zh-CN" sz="1728"/>
          </a:p>
        </p:txBody>
      </p:sp>
      <p:sp>
        <p:nvSpPr>
          <p:cNvPr id="35" name="text 35"/>
          <p:cNvSpPr txBox="1"/>
          <p:nvPr/>
        </p:nvSpPr>
        <p:spPr>
          <a:xfrm>
            <a:off x="731520" y="7123176"/>
            <a:ext cx="811987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另须选择：难度量表、观察窗口 H、最小样本、差异门槛、探索比例与升级支持窗口。</a:t>
            </a:r>
            <a:endParaRPr lang="zh-CN" sz="1656"/>
          </a:p>
        </p:txBody>
      </p:sp>
      <p:sp>
        <p:nvSpPr>
          <p:cNvPr id="36" name="text 36"/>
          <p:cNvSpPr txBox="1"/>
          <p:nvPr/>
        </p:nvSpPr>
        <p:spPr>
          <a:xfrm>
            <a:off x="731520" y="384048"/>
            <a:ext cx="2240280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参数与支持范围</a:t>
            </a:r>
            <a:endParaRPr lang="zh-CN" sz="1296"/>
          </a:p>
        </p:txBody>
      </p:sp>
      <p:sp>
        <p:nvSpPr>
          <p:cNvPr id="37" name="text 37"/>
          <p:cNvSpPr txBox="1"/>
          <p:nvPr/>
        </p:nvSpPr>
        <p:spPr>
          <a:xfrm>
            <a:off x="731520" y="850392"/>
            <a:ext cx="888796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附录：这些数值仍是候选，不能静默变成承诺</a:t>
            </a:r>
            <a:endParaRPr lang="zh-CN" sz="3456"/>
          </a:p>
        </p:txBody>
      </p:sp>
      <p:sp>
        <p:nvSpPr>
          <p:cNvPr id="38" name="text 38"/>
          <p:cNvSpPr txBox="1"/>
          <p:nvPr/>
        </p:nvSpPr>
        <p:spPr>
          <a:xfrm>
            <a:off x="749808" y="1536192"/>
            <a:ext cx="599846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首发 Linux / WSL2 组合待选择；每个主机组合单独验证。</a:t>
            </a:r>
            <a:endParaRPr lang="zh-CN" sz="1800"/>
          </a:p>
        </p:txBody>
      </p:sp>
      <p:sp>
        <p:nvSpPr>
          <p:cNvPr id="39" name="rect 39"/>
          <p:cNvSpPr/>
          <p:nvPr/>
        </p:nvSpPr>
        <p:spPr>
          <a:xfrm>
            <a:off x="11814048" y="320040"/>
            <a:ext cx="208483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11923776" y="384048"/>
            <a:ext cx="197510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P · 建议初值 / H · 目标环境</a:t>
            </a:r>
            <a:endParaRPr lang="zh-CN" sz="1152"/>
          </a:p>
        </p:txBody>
      </p:sp>
      <p:sp>
        <p:nvSpPr>
          <p:cNvPr id="41" name="line 41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31520" y="7808976"/>
            <a:ext cx="395020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依据：DRAFT_PARAMETERS；保留策略候选；参考 profile 与负载</a:t>
            </a:r>
            <a:endParaRPr lang="zh-CN" sz="1008"/>
          </a:p>
        </p:txBody>
      </p:sp>
      <p:sp>
        <p:nvSpPr>
          <p:cNvPr id="43" name="text 43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34 / 36</a:t>
            </a:r>
            <a:endParaRPr lang="zh-CN" sz="1368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附录：历史问题给出风险线索，验证仍要重新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48840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58568"/>
            <a:ext cx="179222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旧记录说明的风险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4809744" y="2258568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对新设计的启示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9381744" y="2258568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对应验收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33472"/>
            <a:ext cx="1316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70632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审核目标曾被裁至</a:t>
            </a:r>
            <a:endParaRPr lang="zh-CN" sz="1800"/>
          </a:p>
        </p:txBody>
      </p:sp>
      <p:sp>
        <p:nvSpPr>
          <p:cNvPr id="9" name="text 9"/>
          <p:cNvSpPr txBox="1"/>
          <p:nvPr/>
        </p:nvSpPr>
        <p:spPr>
          <a:xfrm>
            <a:off x="877824" y="3060954"/>
            <a:ext cx="117957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4096 字节</a:t>
            </a:r>
            <a:endParaRPr lang="zh-CN" sz="1800"/>
          </a:p>
        </p:txBody>
      </p:sp>
      <p:sp>
        <p:nvSpPr>
          <p:cNvPr id="10" name="text 10"/>
          <p:cNvSpPr txBox="1"/>
          <p:nvPr/>
        </p:nvSpPr>
        <p:spPr>
          <a:xfrm>
            <a:off x="4809744" y="2770632"/>
            <a:ext cx="2624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目标、验收、候选、证据</a:t>
            </a:r>
            <a:endParaRPr lang="zh-CN" sz="1800"/>
          </a:p>
        </p:txBody>
      </p:sp>
      <p:sp>
        <p:nvSpPr>
          <p:cNvPr id="11" name="text 11"/>
          <p:cNvSpPr txBox="1"/>
          <p:nvPr/>
        </p:nvSpPr>
        <p:spPr>
          <a:xfrm>
            <a:off x="4809744" y="3060954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都需要完整可读</a:t>
            </a:r>
            <a:endParaRPr lang="zh-CN" sz="1800"/>
          </a:p>
        </p:txBody>
      </p:sp>
      <p:sp>
        <p:nvSpPr>
          <p:cNvPr id="12" name="text 12"/>
          <p:cNvSpPr txBox="1"/>
          <p:nvPr/>
        </p:nvSpPr>
        <p:spPr>
          <a:xfrm>
            <a:off x="9381744" y="2770632"/>
            <a:ext cx="2395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长中文目标的最后一句</a:t>
            </a:r>
            <a:endParaRPr lang="zh-CN" sz="1800"/>
          </a:p>
        </p:txBody>
      </p:sp>
      <p:sp>
        <p:nvSpPr>
          <p:cNvPr id="13" name="text 13"/>
          <p:cNvSpPr txBox="1"/>
          <p:nvPr/>
        </p:nvSpPr>
        <p:spPr>
          <a:xfrm>
            <a:off x="9381744" y="3060954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仍决定实际验收</a:t>
            </a:r>
            <a:endParaRPr lang="zh-CN" sz="1800"/>
          </a:p>
        </p:txBody>
      </p:sp>
      <p:sp>
        <p:nvSpPr>
          <p:cNvPr id="14" name="rect 14"/>
          <p:cNvSpPr/>
          <p:nvPr/>
        </p:nvSpPr>
        <p:spPr>
          <a:xfrm>
            <a:off x="731520" y="3547872"/>
            <a:ext cx="13167360" cy="914400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77824" y="3685032"/>
            <a:ext cx="2167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候选准备时查询超时</a:t>
            </a:r>
            <a:endParaRPr lang="zh-CN" sz="1800"/>
          </a:p>
        </p:txBody>
      </p:sp>
      <p:sp>
        <p:nvSpPr>
          <p:cNvPr id="16" name="text 16"/>
          <p:cNvSpPr txBox="1"/>
          <p:nvPr/>
        </p:nvSpPr>
        <p:spPr>
          <a:xfrm>
            <a:off x="877824" y="3975354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控制进程仍然存活</a:t>
            </a:r>
            <a:endParaRPr lang="zh-CN" sz="1800"/>
          </a:p>
        </p:txBody>
      </p:sp>
      <p:sp>
        <p:nvSpPr>
          <p:cNvPr id="17" name="text 17"/>
          <p:cNvSpPr txBox="1"/>
          <p:nvPr/>
        </p:nvSpPr>
        <p:spPr>
          <a:xfrm>
            <a:off x="4809744" y="3685032"/>
            <a:ext cx="254203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复制、hash、Git、解析</a:t>
            </a:r>
            <a:endParaRPr lang="zh-CN" sz="1800"/>
          </a:p>
        </p:txBody>
      </p:sp>
      <p:sp>
        <p:nvSpPr>
          <p:cNvPr id="18" name="text 18"/>
          <p:cNvSpPr txBox="1"/>
          <p:nvPr/>
        </p:nvSpPr>
        <p:spPr>
          <a:xfrm>
            <a:off x="4809744" y="3975354"/>
            <a:ext cx="240487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有界并避开 HTTP 阻塞</a:t>
            </a:r>
            <a:endParaRPr lang="zh-CN" sz="1800"/>
          </a:p>
        </p:txBody>
      </p:sp>
      <p:sp>
        <p:nvSpPr>
          <p:cNvPr id="19" name="text 19"/>
          <p:cNvSpPr txBox="1"/>
          <p:nvPr/>
        </p:nvSpPr>
        <p:spPr>
          <a:xfrm>
            <a:off x="9381744" y="3685032"/>
            <a:ext cx="2167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放慢候选准备，仍可</a:t>
            </a:r>
            <a:endParaRPr lang="zh-CN" sz="1800"/>
          </a:p>
        </p:txBody>
      </p:sp>
      <p:sp>
        <p:nvSpPr>
          <p:cNvPr id="20" name="text 20"/>
          <p:cNvSpPr txBox="1"/>
          <p:nvPr/>
        </p:nvSpPr>
        <p:spPr>
          <a:xfrm>
            <a:off x="9381744" y="3975354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查询与受理取消</a:t>
            </a:r>
            <a:endParaRPr lang="zh-CN" sz="1800"/>
          </a:p>
        </p:txBody>
      </p:sp>
      <p:sp>
        <p:nvSpPr>
          <p:cNvPr id="21" name="rect 21"/>
          <p:cNvSpPr/>
          <p:nvPr/>
        </p:nvSpPr>
        <p:spPr>
          <a:xfrm>
            <a:off x="731520" y="4462272"/>
            <a:ext cx="1316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77824" y="4599432"/>
            <a:ext cx="2167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合成原生探针可运行</a:t>
            </a:r>
            <a:endParaRPr lang="zh-CN" sz="1800"/>
          </a:p>
        </p:txBody>
      </p:sp>
      <p:sp>
        <p:nvSpPr>
          <p:cNvPr id="23" name="text 23"/>
          <p:cNvSpPr txBox="1"/>
          <p:nvPr/>
        </p:nvSpPr>
        <p:spPr>
          <a:xfrm>
            <a:off x="877824" y="4889754"/>
            <a:ext cx="19385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项目配置却有缺项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4809744" y="4599432"/>
            <a:ext cx="2395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工具可见、配置加载、</a:t>
            </a:r>
            <a:endParaRPr lang="zh-CN" sz="1800"/>
          </a:p>
        </p:txBody>
      </p:sp>
      <p:sp>
        <p:nvSpPr>
          <p:cNvPr id="25" name="text 25"/>
          <p:cNvSpPr txBox="1"/>
          <p:nvPr/>
        </p:nvSpPr>
        <p:spPr>
          <a:xfrm>
            <a:off x="4809744" y="4889754"/>
            <a:ext cx="2852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授权可用与产物取得分开核</a:t>
            </a:r>
            <a:endParaRPr lang="zh-CN" sz="1800"/>
          </a:p>
        </p:txBody>
      </p:sp>
      <p:sp>
        <p:nvSpPr>
          <p:cNvPr id="26" name="text 26"/>
          <p:cNvSpPr txBox="1"/>
          <p:nvPr/>
        </p:nvSpPr>
        <p:spPr>
          <a:xfrm>
            <a:off x="9381744" y="4599432"/>
            <a:ext cx="214884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在实际 worker 环境</a:t>
            </a:r>
            <a:endParaRPr lang="zh-CN" sz="1800"/>
          </a:p>
        </p:txBody>
      </p:sp>
      <p:sp>
        <p:nvSpPr>
          <p:cNvPr id="27" name="text 27"/>
          <p:cNvSpPr txBox="1"/>
          <p:nvPr/>
        </p:nvSpPr>
        <p:spPr>
          <a:xfrm>
            <a:off x="9381744" y="4889754"/>
            <a:ext cx="284378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使用所需 MCP / subagent</a:t>
            </a:r>
            <a:endParaRPr lang="zh-CN" sz="1800"/>
          </a:p>
        </p:txBody>
      </p:sp>
      <p:sp>
        <p:nvSpPr>
          <p:cNvPr id="28" name="rect 28"/>
          <p:cNvSpPr/>
          <p:nvPr/>
        </p:nvSpPr>
        <p:spPr>
          <a:xfrm>
            <a:off x="731520" y="5376672"/>
            <a:ext cx="13167360" cy="914400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77824" y="5513832"/>
            <a:ext cx="263347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真实入口 / 生成配置失败</a:t>
            </a:r>
            <a:endParaRPr lang="zh-CN" sz="1800"/>
          </a:p>
        </p:txBody>
      </p:sp>
      <p:sp>
        <p:nvSpPr>
          <p:cNvPr id="30" name="text 30"/>
          <p:cNvSpPr txBox="1"/>
          <p:nvPr/>
        </p:nvSpPr>
        <p:spPr>
          <a:xfrm>
            <a:off x="877824" y="5804154"/>
            <a:ext cx="2395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组件检查曾绕过该路径</a:t>
            </a:r>
            <a:endParaRPr lang="zh-CN" sz="1800"/>
          </a:p>
        </p:txBody>
      </p:sp>
      <p:sp>
        <p:nvSpPr>
          <p:cNvPr id="31" name="text 31"/>
          <p:cNvSpPr txBox="1"/>
          <p:nvPr/>
        </p:nvSpPr>
        <p:spPr>
          <a:xfrm>
            <a:off x="4809744" y="5513832"/>
            <a:ext cx="2624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独立发布目录、生成配置</a:t>
            </a:r>
            <a:endParaRPr lang="zh-CN" sz="1800"/>
          </a:p>
        </p:txBody>
      </p:sp>
      <p:sp>
        <p:nvSpPr>
          <p:cNvPr id="32" name="text 32"/>
          <p:cNvSpPr txBox="1"/>
          <p:nvPr/>
        </p:nvSpPr>
        <p:spPr>
          <a:xfrm>
            <a:off x="4809744" y="5804154"/>
            <a:ext cx="2404872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和真实 CLI 组成同一链</a:t>
            </a:r>
            <a:endParaRPr lang="zh-CN" sz="1800"/>
          </a:p>
        </p:txBody>
      </p:sp>
      <p:sp>
        <p:nvSpPr>
          <p:cNvPr id="33" name="text 33"/>
          <p:cNvSpPr txBox="1"/>
          <p:nvPr/>
        </p:nvSpPr>
        <p:spPr>
          <a:xfrm>
            <a:off x="9381744" y="5513832"/>
            <a:ext cx="2395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让原开发路径不可访问</a:t>
            </a:r>
            <a:endParaRPr lang="zh-CN" sz="1800"/>
          </a:p>
        </p:txBody>
      </p:sp>
      <p:sp>
        <p:nvSpPr>
          <p:cNvPr id="34" name="text 34"/>
          <p:cNvSpPr txBox="1"/>
          <p:nvPr/>
        </p:nvSpPr>
        <p:spPr>
          <a:xfrm>
            <a:off x="9381744" y="5804154"/>
            <a:ext cx="14813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仍能跑通任务</a:t>
            </a:r>
            <a:endParaRPr lang="zh-CN" sz="1800"/>
          </a:p>
        </p:txBody>
      </p:sp>
      <p:sp>
        <p:nvSpPr>
          <p:cNvPr id="35" name="rect 35"/>
          <p:cNvSpPr/>
          <p:nvPr/>
        </p:nvSpPr>
        <p:spPr>
          <a:xfrm>
            <a:off x="731520" y="6291072"/>
            <a:ext cx="13167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877824" y="6428232"/>
            <a:ext cx="23957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指南与程序对旧库转换</a:t>
            </a:r>
            <a:endParaRPr lang="zh-CN" sz="1800"/>
          </a:p>
        </p:txBody>
      </p:sp>
      <p:sp>
        <p:nvSpPr>
          <p:cNvPr id="37" name="text 37"/>
          <p:cNvSpPr txBox="1"/>
          <p:nvPr/>
        </p:nvSpPr>
        <p:spPr>
          <a:xfrm>
            <a:off x="877824" y="6718554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给出了不同承诺</a:t>
            </a:r>
            <a:endParaRPr lang="zh-CN" sz="1800"/>
          </a:p>
        </p:txBody>
      </p:sp>
      <p:sp>
        <p:nvSpPr>
          <p:cNvPr id="38" name="text 38"/>
          <p:cNvSpPr txBox="1"/>
          <p:nvPr/>
        </p:nvSpPr>
        <p:spPr>
          <a:xfrm>
            <a:off x="4809744" y="6428232"/>
            <a:ext cx="2167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唯一权威来源；明确</a:t>
            </a:r>
            <a:endParaRPr lang="zh-CN" sz="1800"/>
          </a:p>
        </p:txBody>
      </p:sp>
      <p:sp>
        <p:nvSpPr>
          <p:cNvPr id="39" name="text 39"/>
          <p:cNvSpPr txBox="1"/>
          <p:nvPr/>
        </p:nvSpPr>
        <p:spPr>
          <a:xfrm>
            <a:off x="4809744" y="6718554"/>
            <a:ext cx="2167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支持版本与拒绝行为</a:t>
            </a:r>
            <a:endParaRPr lang="zh-CN" sz="1800"/>
          </a:p>
        </p:txBody>
      </p:sp>
      <p:sp>
        <p:nvSpPr>
          <p:cNvPr id="40" name="text 40"/>
          <p:cNvSpPr txBox="1"/>
          <p:nvPr/>
        </p:nvSpPr>
        <p:spPr>
          <a:xfrm>
            <a:off x="9381744" y="6428232"/>
            <a:ext cx="2167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不支持版本在写库前</a:t>
            </a:r>
            <a:endParaRPr lang="zh-CN" sz="1800"/>
          </a:p>
        </p:txBody>
      </p:sp>
      <p:sp>
        <p:nvSpPr>
          <p:cNvPr id="41" name="text 41"/>
          <p:cNvSpPr txBox="1"/>
          <p:nvPr/>
        </p:nvSpPr>
        <p:spPr>
          <a:xfrm>
            <a:off x="9381744" y="6718554"/>
            <a:ext cx="1709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拒绝并保留数据</a:t>
            </a:r>
            <a:endParaRPr lang="zh-CN" sz="1800"/>
          </a:p>
        </p:txBody>
      </p:sp>
      <p:sp>
        <p:nvSpPr>
          <p:cNvPr id="42" name="text 42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历史证据</a:t>
            </a:r>
            <a:endParaRPr lang="zh-CN" sz="1296"/>
          </a:p>
        </p:txBody>
      </p:sp>
      <p:sp>
        <p:nvSpPr>
          <p:cNvPr id="43" name="text 43"/>
          <p:cNvSpPr txBox="1"/>
          <p:nvPr/>
        </p:nvSpPr>
        <p:spPr>
          <a:xfrm>
            <a:off x="731520" y="850392"/>
            <a:ext cx="9326880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附录：历史问题给出风险线索，验证仍要重新做</a:t>
            </a:r>
            <a:endParaRPr lang="zh-CN" sz="3456"/>
          </a:p>
        </p:txBody>
      </p:sp>
      <p:sp>
        <p:nvSpPr>
          <p:cNvPr id="44" name="text 44"/>
          <p:cNvSpPr txBox="1"/>
          <p:nvPr/>
        </p:nvSpPr>
        <p:spPr>
          <a:xfrm>
            <a:off x="749808" y="1536192"/>
            <a:ext cx="67391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以下为项目专题对旧版本记录的归纳；本报告没有重跑历史实验。</a:t>
            </a:r>
            <a:endParaRPr lang="zh-CN" sz="1800"/>
          </a:p>
        </p:txBody>
      </p:sp>
      <p:sp>
        <p:nvSpPr>
          <p:cNvPr id="45" name="rect 45"/>
          <p:cNvSpPr/>
          <p:nvPr/>
        </p:nvSpPr>
        <p:spPr>
          <a:xfrm>
            <a:off x="11832336" y="320040"/>
            <a:ext cx="2066544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11942064" y="384048"/>
            <a:ext cx="1956816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F · 旧范围事实 / D · 新门槛</a:t>
            </a:r>
            <a:endParaRPr lang="zh-CN" sz="1152"/>
          </a:p>
        </p:txBody>
      </p:sp>
      <p:sp>
        <p:nvSpPr>
          <p:cNvPr id="47" name="line 47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731520" y="7808976"/>
            <a:ext cx="2633472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依据：旧问题与版本范围；P0 / P1 复查教训</a:t>
            </a:r>
            <a:endParaRPr lang="zh-CN" sz="1008"/>
          </a:p>
        </p:txBody>
      </p:sp>
      <p:sp>
        <p:nvSpPr>
          <p:cNvPr id="49" name="text 49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35 / 36</a:t>
            </a:r>
            <a:endParaRPr lang="zh-CN" sz="1368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按问题返回文件，继续评审与实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3EC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731520" y="2139696"/>
            <a:ext cx="13167360" cy="484632"/>
          </a:xfrm>
          <a:prstGeom prst="roundRect">
            <a:avLst>
              <a:gd name="adj" fmla="val 16981"/>
            </a:avLst>
          </a:prstGeom>
          <a:solidFill>
            <a:srgbClr val="173331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77824" y="2249424"/>
            <a:ext cx="95097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阅读入口</a:t>
            </a:r>
            <a:endParaRPr lang="zh-CN" sz="1656"/>
          </a:p>
        </p:txBody>
      </p:sp>
      <p:sp>
        <p:nvSpPr>
          <p:cNvPr id="5" name="text 5"/>
          <p:cNvSpPr txBox="1"/>
          <p:nvPr/>
        </p:nvSpPr>
        <p:spPr>
          <a:xfrm>
            <a:off x="4352544" y="2249424"/>
            <a:ext cx="116128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回答的问题</a:t>
            </a:r>
            <a:endParaRPr lang="zh-CN" sz="1656"/>
          </a:p>
        </p:txBody>
      </p:sp>
      <p:sp>
        <p:nvSpPr>
          <p:cNvPr id="6" name="text 6"/>
          <p:cNvSpPr txBox="1"/>
          <p:nvPr/>
        </p:nvSpPr>
        <p:spPr>
          <a:xfrm>
            <a:off x="10113264" y="2249424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FFFFFF"/>
                </a:solidFill>
                <a:latin typeface="Microsoft YaHei"/>
                <a:ea typeface="Microsoft YaHei"/>
                <a:cs typeface="Arial"/>
              </a:rPr>
              <a:t xml:space="preserve">本报告对应页</a:t>
            </a:r>
            <a:endParaRPr lang="zh-CN" sz="1656"/>
          </a:p>
        </p:txBody>
      </p:sp>
      <p:sp>
        <p:nvSpPr>
          <p:cNvPr id="7" name="rect 7"/>
          <p:cNvSpPr/>
          <p:nvPr/>
        </p:nvSpPr>
        <p:spPr>
          <a:xfrm>
            <a:off x="731520" y="2624328"/>
            <a:ext cx="13167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7824" y="2761488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产品需求基线</a:t>
            </a:r>
            <a:endParaRPr lang="zh-CN" sz="1656"/>
          </a:p>
        </p:txBody>
      </p:sp>
      <p:sp>
        <p:nvSpPr>
          <p:cNvPr id="9" name="text 9"/>
          <p:cNvSpPr txBox="1"/>
          <p:nvPr/>
        </p:nvSpPr>
        <p:spPr>
          <a:xfrm>
            <a:off x="4352544" y="2761488"/>
            <a:ext cx="431596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目标、角色、成功标准、版本范围、统计口径</a:t>
            </a:r>
            <a:endParaRPr lang="zh-CN" sz="1656"/>
          </a:p>
        </p:txBody>
      </p:sp>
      <p:sp>
        <p:nvSpPr>
          <p:cNvPr id="10" name="text 10"/>
          <p:cNvSpPr txBox="1"/>
          <p:nvPr/>
        </p:nvSpPr>
        <p:spPr>
          <a:xfrm>
            <a:off x="10113264" y="2761488"/>
            <a:ext cx="287121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02–04 / 06 / 08 / 12–13 / 29</a:t>
            </a:r>
            <a:endParaRPr lang="zh-CN" sz="1656"/>
          </a:p>
        </p:txBody>
      </p:sp>
      <p:sp>
        <p:nvSpPr>
          <p:cNvPr id="11" name="rect 11"/>
          <p:cNvSpPr/>
          <p:nvPr/>
        </p:nvSpPr>
        <p:spPr>
          <a:xfrm>
            <a:off x="731520" y="3191256"/>
            <a:ext cx="13167360" cy="56692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77824" y="3328416"/>
            <a:ext cx="137160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软件架构总览</a:t>
            </a:r>
            <a:endParaRPr lang="zh-CN" sz="1656"/>
          </a:p>
        </p:txBody>
      </p:sp>
      <p:sp>
        <p:nvSpPr>
          <p:cNvPr id="13" name="text 13"/>
          <p:cNvSpPr txBox="1"/>
          <p:nvPr/>
        </p:nvSpPr>
        <p:spPr>
          <a:xfrm>
            <a:off x="4352544" y="3328416"/>
            <a:ext cx="305409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系统组成、模块职责、文档权威</a:t>
            </a:r>
            <a:endParaRPr lang="zh-CN" sz="1656"/>
          </a:p>
        </p:txBody>
      </p:sp>
      <p:sp>
        <p:nvSpPr>
          <p:cNvPr id="14" name="text 14"/>
          <p:cNvSpPr txBox="1"/>
          <p:nvPr/>
        </p:nvSpPr>
        <p:spPr>
          <a:xfrm>
            <a:off x="10113264" y="3328416"/>
            <a:ext cx="11521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05 / 14–15</a:t>
            </a:r>
            <a:endParaRPr lang="zh-CN" sz="1656"/>
          </a:p>
        </p:txBody>
      </p:sp>
      <p:sp>
        <p:nvSpPr>
          <p:cNvPr id="15" name="rect 15"/>
          <p:cNvSpPr/>
          <p:nvPr/>
        </p:nvSpPr>
        <p:spPr>
          <a:xfrm>
            <a:off x="731520" y="3758184"/>
            <a:ext cx="13167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77824" y="3895344"/>
            <a:ext cx="20025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任务与独立审核协议</a:t>
            </a:r>
            <a:endParaRPr lang="zh-CN" sz="1656"/>
          </a:p>
        </p:txBody>
      </p:sp>
      <p:sp>
        <p:nvSpPr>
          <p:cNvPr id="17" name="text 17"/>
          <p:cNvSpPr txBox="1"/>
          <p:nvPr/>
        </p:nvSpPr>
        <p:spPr>
          <a:xfrm>
            <a:off x="4352544" y="3895344"/>
            <a:ext cx="305409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状态、输入、交付、独审、通知</a:t>
            </a:r>
            <a:endParaRPr lang="zh-CN" sz="1656"/>
          </a:p>
        </p:txBody>
      </p:sp>
      <p:sp>
        <p:nvSpPr>
          <p:cNvPr id="18" name="text 18"/>
          <p:cNvSpPr txBox="1"/>
          <p:nvPr/>
        </p:nvSpPr>
        <p:spPr>
          <a:xfrm>
            <a:off x="10113264" y="3895344"/>
            <a:ext cx="241401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07 / 09–12 / 18–19 / 24</a:t>
            </a:r>
            <a:endParaRPr lang="zh-CN" sz="1656"/>
          </a:p>
        </p:txBody>
      </p:sp>
      <p:sp>
        <p:nvSpPr>
          <p:cNvPr id="19" name="rect 19"/>
          <p:cNvSpPr/>
          <p:nvPr/>
        </p:nvSpPr>
        <p:spPr>
          <a:xfrm>
            <a:off x="731520" y="4325112"/>
            <a:ext cx="13167360" cy="56692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77824" y="4462272"/>
            <a:ext cx="20025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运行边界与生命周期</a:t>
            </a:r>
            <a:endParaRPr lang="zh-CN" sz="1656"/>
          </a:p>
        </p:txBody>
      </p:sp>
      <p:sp>
        <p:nvSpPr>
          <p:cNvPr id="21" name="text 21"/>
          <p:cNvSpPr txBox="1"/>
          <p:nvPr/>
        </p:nvSpPr>
        <p:spPr>
          <a:xfrm>
            <a:off x="4352544" y="4462272"/>
            <a:ext cx="341985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资源归属、固定配置、共享资源、U</a:t>
            </a:r>
            <a:endParaRPr lang="zh-CN" sz="1656"/>
          </a:p>
        </p:txBody>
      </p:sp>
      <p:sp>
        <p:nvSpPr>
          <p:cNvPr id="22" name="text 22"/>
          <p:cNvSpPr txBox="1"/>
          <p:nvPr/>
        </p:nvSpPr>
        <p:spPr>
          <a:xfrm>
            <a:off x="10113264" y="4462272"/>
            <a:ext cx="16093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20 / 22–23 / 26</a:t>
            </a:r>
            <a:endParaRPr lang="zh-CN" sz="1656"/>
          </a:p>
        </p:txBody>
      </p:sp>
      <p:sp>
        <p:nvSpPr>
          <p:cNvPr id="23" name="rect 23"/>
          <p:cNvSpPr/>
          <p:nvPr/>
        </p:nvSpPr>
        <p:spPr>
          <a:xfrm>
            <a:off x="731520" y="4892040"/>
            <a:ext cx="13167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77824" y="5029200"/>
            <a:ext cx="200253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事务恢复与成果存储</a:t>
            </a:r>
            <a:endParaRPr lang="zh-CN" sz="1656"/>
          </a:p>
        </p:txBody>
      </p:sp>
      <p:sp>
        <p:nvSpPr>
          <p:cNvPr id="25" name="text 25"/>
          <p:cNvSpPr txBox="1"/>
          <p:nvPr/>
        </p:nvSpPr>
        <p:spPr>
          <a:xfrm>
            <a:off x="4352544" y="5029200"/>
            <a:ext cx="347472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并发不变量、故障窗口、保留、备份</a:t>
            </a:r>
            <a:endParaRPr lang="zh-CN" sz="1656"/>
          </a:p>
        </p:txBody>
      </p:sp>
      <p:sp>
        <p:nvSpPr>
          <p:cNvPr id="26" name="text 26"/>
          <p:cNvSpPr txBox="1"/>
          <p:nvPr/>
        </p:nvSpPr>
        <p:spPr>
          <a:xfrm>
            <a:off x="10113264" y="5029200"/>
            <a:ext cx="16093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10 / 20–21 / 25</a:t>
            </a:r>
            <a:endParaRPr lang="zh-CN" sz="1656"/>
          </a:p>
        </p:txBody>
      </p:sp>
      <p:sp>
        <p:nvSpPr>
          <p:cNvPr id="27" name="rect 27"/>
          <p:cNvSpPr/>
          <p:nvPr/>
        </p:nvSpPr>
        <p:spPr>
          <a:xfrm>
            <a:off x="731520" y="5458968"/>
            <a:ext cx="13167360" cy="56692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77824" y="5596128"/>
            <a:ext cx="158191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接入与接口行为</a:t>
            </a:r>
            <a:endParaRPr lang="zh-CN" sz="1656"/>
          </a:p>
        </p:txBody>
      </p:sp>
      <p:sp>
        <p:nvSpPr>
          <p:cNvPr id="29" name="text 29"/>
          <p:cNvSpPr txBox="1"/>
          <p:nvPr/>
        </p:nvSpPr>
        <p:spPr>
          <a:xfrm>
            <a:off x="4352544" y="5596128"/>
            <a:ext cx="3584448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权限、凭据、HTTP、页面与管理动作</a:t>
            </a:r>
            <a:endParaRPr lang="zh-CN" sz="1656"/>
          </a:p>
        </p:txBody>
      </p:sp>
      <p:sp>
        <p:nvSpPr>
          <p:cNvPr id="30" name="text 30"/>
          <p:cNvSpPr txBox="1"/>
          <p:nvPr/>
        </p:nvSpPr>
        <p:spPr>
          <a:xfrm>
            <a:off x="10113264" y="5596128"/>
            <a:ext cx="6949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15–17</a:t>
            </a:r>
            <a:endParaRPr lang="zh-CN" sz="1656"/>
          </a:p>
        </p:txBody>
      </p:sp>
      <p:sp>
        <p:nvSpPr>
          <p:cNvPr id="31" name="rect 31"/>
          <p:cNvSpPr/>
          <p:nvPr/>
        </p:nvSpPr>
        <p:spPr>
          <a:xfrm>
            <a:off x="731520" y="6025896"/>
            <a:ext cx="13167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877824" y="6163056"/>
            <a:ext cx="22951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验收计划 + 决策与证据</a:t>
            </a:r>
            <a:endParaRPr lang="zh-CN" sz="1656"/>
          </a:p>
        </p:txBody>
      </p:sp>
      <p:sp>
        <p:nvSpPr>
          <p:cNvPr id="33" name="text 33"/>
          <p:cNvSpPr txBox="1"/>
          <p:nvPr/>
        </p:nvSpPr>
        <p:spPr>
          <a:xfrm>
            <a:off x="4352544" y="6163056"/>
            <a:ext cx="36850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如何分批交付、历史依据、待闭合事项</a:t>
            </a:r>
            <a:endParaRPr lang="zh-CN" sz="1656"/>
          </a:p>
        </p:txBody>
      </p:sp>
      <p:sp>
        <p:nvSpPr>
          <p:cNvPr id="34" name="text 34"/>
          <p:cNvSpPr txBox="1"/>
          <p:nvPr/>
        </p:nvSpPr>
        <p:spPr>
          <a:xfrm>
            <a:off x="10113264" y="6163056"/>
            <a:ext cx="1499616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27–30 / 34–35</a:t>
            </a:r>
            <a:endParaRPr lang="zh-CN" sz="1656"/>
          </a:p>
        </p:txBody>
      </p:sp>
      <p:sp>
        <p:nvSpPr>
          <p:cNvPr id="35" name="rect 35"/>
          <p:cNvSpPr/>
          <p:nvPr/>
        </p:nvSpPr>
        <p:spPr>
          <a:xfrm>
            <a:off x="731520" y="6592824"/>
            <a:ext cx="13167360" cy="566928"/>
          </a:xfrm>
          <a:prstGeom prst="rect">
            <a:avLst/>
          </a:prstGeom>
          <a:solidFill>
            <a:srgbClr val="EAEDE5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877824" y="6729984"/>
            <a:ext cx="2697480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specs/agentd_v1 + audit</a:t>
            </a:r>
            <a:endParaRPr lang="zh-CN" sz="1656"/>
          </a:p>
        </p:txBody>
      </p:sp>
      <p:sp>
        <p:nvSpPr>
          <p:cNvPr id="37" name="text 37"/>
          <p:cNvSpPr txBox="1"/>
          <p:nvPr/>
        </p:nvSpPr>
        <p:spPr>
          <a:xfrm>
            <a:off x="4352544" y="6729984"/>
            <a:ext cx="3685032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字段、路由、生成物、样例、离线证据</a:t>
            </a:r>
            <a:endParaRPr lang="zh-CN" sz="1656"/>
          </a:p>
        </p:txBody>
      </p:sp>
      <p:sp>
        <p:nvSpPr>
          <p:cNvPr id="38" name="text 38"/>
          <p:cNvSpPr txBox="1"/>
          <p:nvPr/>
        </p:nvSpPr>
        <p:spPr>
          <a:xfrm>
            <a:off x="10113264" y="6729984"/>
            <a:ext cx="115214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15 / 31–34</a:t>
            </a:r>
            <a:endParaRPr lang="zh-CN" sz="1656"/>
          </a:p>
        </p:txBody>
      </p:sp>
      <p:sp>
        <p:nvSpPr>
          <p:cNvPr id="39" name="text 39"/>
          <p:cNvSpPr txBox="1"/>
          <p:nvPr/>
        </p:nvSpPr>
        <p:spPr>
          <a:xfrm>
            <a:off x="731520" y="7296912"/>
            <a:ext cx="8101584" cy="32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6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报告示意不替代协议；实现变化应同步需求影响、所属专题、契约生成物与验收证据。</a:t>
            </a:r>
            <a:endParaRPr lang="zh-CN" sz="1656"/>
          </a:p>
        </p:txBody>
      </p:sp>
      <p:sp>
        <p:nvSpPr>
          <p:cNvPr id="40" name="text 40"/>
          <p:cNvSpPr txBox="1"/>
          <p:nvPr/>
        </p:nvSpPr>
        <p:spPr>
          <a:xfrm>
            <a:off x="731520" y="384048"/>
            <a:ext cx="1746504" cy="255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6" b="1" dirty="0">
                <a:solidFill>
                  <a:srgbClr val="127C72"/>
                </a:solidFill>
                <a:latin typeface="Microsoft YaHei"/>
                <a:ea typeface="Microsoft YaHei"/>
                <a:cs typeface="Arial"/>
              </a:rPr>
              <a:t xml:space="preserve">AGENTD  /  来源导航</a:t>
            </a:r>
            <a:endParaRPr lang="zh-CN" sz="1296"/>
          </a:p>
        </p:txBody>
      </p:sp>
      <p:sp>
        <p:nvSpPr>
          <p:cNvPr id="41" name="text 41"/>
          <p:cNvSpPr txBox="1"/>
          <p:nvPr/>
        </p:nvSpPr>
        <p:spPr>
          <a:xfrm>
            <a:off x="731520" y="850392"/>
            <a:ext cx="6693408" cy="680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56" b="1" dirty="0">
                <a:solidFill>
                  <a:srgbClr val="173331"/>
                </a:solidFill>
                <a:latin typeface="Microsoft YaHei"/>
                <a:ea typeface="Microsoft YaHei"/>
                <a:cs typeface="Arial"/>
              </a:rPr>
              <a:t xml:space="preserve">按问题返回文件，继续评审与实施</a:t>
            </a:r>
            <a:endParaRPr lang="zh-CN" sz="3456"/>
          </a:p>
        </p:txBody>
      </p:sp>
      <p:sp>
        <p:nvSpPr>
          <p:cNvPr id="42" name="text 42"/>
          <p:cNvSpPr txBox="1"/>
          <p:nvPr/>
        </p:nvSpPr>
        <p:spPr>
          <a:xfrm>
            <a:off x="749808" y="1536192"/>
            <a:ext cx="74249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每页的备注和离线讲解稿都保留具体来源；字段和路由以契约源码为准。</a:t>
            </a:r>
            <a:endParaRPr lang="zh-CN" sz="1800"/>
          </a:p>
        </p:txBody>
      </p:sp>
      <p:sp>
        <p:nvSpPr>
          <p:cNvPr id="43" name="rect 43"/>
          <p:cNvSpPr/>
          <p:nvPr/>
        </p:nvSpPr>
        <p:spPr>
          <a:xfrm>
            <a:off x="11448288" y="320040"/>
            <a:ext cx="2450592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1558016" y="384048"/>
            <a:ext cx="2340864" cy="2267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2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报告依据 · 项目快照 2026-10-28</a:t>
            </a:r>
            <a:endParaRPr lang="zh-CN" sz="1152"/>
          </a:p>
        </p:txBody>
      </p:sp>
      <p:sp>
        <p:nvSpPr>
          <p:cNvPr id="45" name="line 45"/>
          <p:cNvSpPr/>
          <p:nvPr/>
        </p:nvSpPr>
        <p:spPr>
          <a:xfrm>
            <a:off x="731520" y="7653528"/>
            <a:ext cx="13167360" cy="1"/>
          </a:xfrm>
          <a:prstGeom prst="line">
            <a:avLst/>
          </a:prstGeom>
          <a:noFill/>
          <a:ln w="9144">
            <a:solidFill>
              <a:srgbClr val="D6DED6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731520" y="7808976"/>
            <a:ext cx="3493008" cy="198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8" b="0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依据：需求基线；架构总览；任务与独审 等 9 份，详见备注</a:t>
            </a:r>
            <a:endParaRPr lang="zh-CN" sz="1008"/>
          </a:p>
        </p:txBody>
      </p:sp>
      <p:sp>
        <p:nvSpPr>
          <p:cNvPr id="47" name="text 47"/>
          <p:cNvSpPr txBox="1"/>
          <p:nvPr/>
        </p:nvSpPr>
        <p:spPr>
          <a:xfrm>
            <a:off x="13267944" y="7781544"/>
            <a:ext cx="740664" cy="269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68" b="1" dirty="0">
                <a:solidFill>
                  <a:srgbClr val="647874"/>
                </a:solidFill>
                <a:latin typeface="Microsoft YaHei"/>
                <a:ea typeface="Microsoft YaHei"/>
                <a:cs typeface="Arial"/>
              </a:rPr>
              <a:t xml:space="preserve">36 / 36</a:t>
            </a:r>
            <a:endParaRPr lang="zh-CN" sz="136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d">
  <a:themeElements>
    <a:clrScheme name="Agentd">
      <a:dk1>
        <a:srgbClr val="173331"/>
      </a:dk1>
      <a:lt1>
        <a:srgbClr val="FFFFFF"/>
      </a:lt1>
      <a:dk2>
        <a:srgbClr val="102F32"/>
      </a:dk2>
      <a:lt2>
        <a:srgbClr val="F5F3EC"/>
      </a:lt2>
      <a:accent1>
        <a:srgbClr val="127C72"/>
      </a:accent1>
      <a:accent2>
        <a:srgbClr val="E76A3B"/>
      </a:accent2>
      <a:accent3>
        <a:srgbClr val="3C7398"/>
      </a:accent3>
      <a:accent4>
        <a:srgbClr val="B84F49"/>
      </a:accent4>
      <a:accent5>
        <a:srgbClr val="F1C887"/>
      </a:accent5>
      <a:accent6>
        <a:srgbClr val="ABC8BE"/>
      </a:accent6>
      <a:hlink>
        <a:srgbClr val="127C72"/>
      </a:hlink>
      <a:folHlink>
        <a:srgbClr val="3C7398"/>
      </a:folHlink>
    </a:clrScheme>
    <a:fontScheme name="Agentd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Agent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agentd architecture report</Application>
  <PresentationFormat>On-screen Show (16:9)</PresentationFormat>
  <Slides>36</Slides>
  <Notes>36</Notes>
</Properties>
</file>